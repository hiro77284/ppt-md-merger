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4"/>
  </p:notesMasterIdLst>
  <p:sldIdLst>
    <p:sldId id="1788" r:id="rId2"/>
    <p:sldId id="1782" r:id="rId3"/>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FF"/>
    <a:srgbClr val="CCECFF"/>
    <a:srgbClr val="99FFCC"/>
    <a:srgbClr val="FFFF00"/>
    <a:srgbClr val="FF6347"/>
    <a:srgbClr val="FF9933"/>
    <a:srgbClr val="CC66FF"/>
    <a:srgbClr val="E34234"/>
    <a:srgbClr val="292929"/>
    <a:srgbClr val="FF7F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76287" autoAdjust="0"/>
  </p:normalViewPr>
  <p:slideViewPr>
    <p:cSldViewPr>
      <p:cViewPr varScale="1">
        <p:scale>
          <a:sx n="107" d="100"/>
          <a:sy n="107" d="100"/>
        </p:scale>
        <p:origin x="600" y="90"/>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2026/5/24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extracted/figures/&lt;__BASEFILENAME__&gt;_slide&lt;__SLIDENUM__&gt;_fig.png</a:t>
            </a:r>
          </a:p>
          <a:p>
            <a:endParaRPr lang="en-US"/>
          </a:p>
          <a:p>
            <a:r>
              <a:rPr lang="en-US"/>
              <a:t>===BLOCK===</a:t>
            </a:r>
          </a:p>
          <a:p>
            <a:r>
              <a:rPr lang="en-US"/>
              <a:t>{{BLOCK:IMAGE}}</a:t>
            </a:r>
          </a:p>
          <a:p>
            <a:endParaRPr lang="en-US"/>
          </a:p>
          <a:p>
            <a:r>
              <a:rPr lang="en-US"/>
              <a:t>export-image-mode: slide_with_rectpct</a:t>
            </a:r>
          </a:p>
          <a:p>
            <a:r>
              <a:rPr lang="en-US"/>
              <a:t>export-image-target: keyvisual</a:t>
            </a:r>
          </a:p>
          <a:p>
            <a:r>
              <a:rPr lang="en-US"/>
              <a:t>export-image: extracted/figures/&lt;__BASEFILENAME__&gt;_keyvisual.png</a:t>
            </a:r>
          </a:p>
          <a:p>
            <a:endParaRPr/>
          </a:p>
          <a:p>
            <a:r>
              <a:t>===BLOCK===</a:t>
            </a:r>
          </a:p>
          <a:p>
            <a:r>
              <a:t>{{BLOCK:MD:LONG}}</a:t>
            </a:r>
          </a:p>
          <a:p>
            <a:endParaRPr/>
          </a:p>
          <a:p>
            <a:r>
              <a:t>export-note: extracted/&lt;__BASEFILENAME__&gt;_slide&lt;__SLIDENUM__&gt;_md.md</a:t>
            </a:r>
          </a:p>
          <a:p>
            <a:r>
              <a:t>{{#id:section:&lt;__BASEFILENAME__&gt;:slide&lt;__SLIDENUM__&gt;}}</a:t>
            </a:r>
          </a:p>
          <a:p>
            <a:r>
              <a:t>## &lt;__TITLE__&gt;</a:t>
            </a:r>
          </a:p>
          <a:p>
            <a:endParaRPr/>
          </a:p>
          <a:p>
            <a:r>
              <a:t>結合pptx上でソースpptxを特定したい場合があります。その場合はソースpptxのファイル名やスライド番号、スライドタイトルに置換される特殊定数を使うことにより可能です。</a:t>
            </a:r>
          </a:p>
          <a:p>
            <a:endParaRPr/>
          </a:p>
          <a:p>
            <a:r>
              <a:t>スライド上および note の下記の記述（特殊定数）はそれぞれ該当する情報に置換されます。</a:t>
            </a:r>
          </a:p>
          <a:p>
            <a:endParaRPr/>
          </a:p>
          <a:p>
            <a:r>
              <a:t>この置換は変数定義とは無関係です。同一のテキスト文言を異なる意図で使わないようにご注意ください（強制置換されます）。</a:t>
            </a:r>
          </a:p>
          <a:p>
            <a:endParaRPr/>
          </a:p>
          <a:p>
            <a:endParaRPr/>
          </a:p>
          <a:p>
            <a:r>
              <a:t>```{=latex}</a:t>
            </a:r>
          </a:p>
          <a:p>
            <a:r>
              <a:t>\par\vspace{1\baselineskip}</a:t>
            </a:r>
          </a:p>
          <a:p>
            <a:r>
              <a:t>\begin{center}</a:t>
            </a:r>
          </a:p>
          <a:p>
            <a:r>
              <a:t>```</a:t>
            </a:r>
          </a:p>
          <a:p>
            <a:endParaRPr/>
          </a:p>
          <a:p>
            <a:r>
              <a:t>![](figures/&lt;__BASEFILENAME__&gt;_slide&lt;__SLIDENUM__&gt;_fig.png){ width=95% }</a:t>
            </a:r>
          </a:p>
          <a:p>
            <a:endParaRPr lang="en-US"/>
          </a:p>
          <a:p>
            <a:r>
              <a:rPr lang="en-US"/>
              <a:t>![](figures/&lt;__BASEFILENAME__&gt;_keyvisual.png){ width=95% }</a:t>
            </a:r>
          </a:p>
          <a:p>
            <a:endParaRPr/>
          </a:p>
          <a:p>
            <a:r>
              <a:t>```{=latex}</a:t>
            </a:r>
          </a:p>
          <a:p>
            <a:r>
              <a:t>\end{center}</a:t>
            </a:r>
          </a:p>
          <a:p>
            <a:r>
              <a:t>\par\vspace{1\baselineskip}</a:t>
            </a:r>
          </a:p>
          <a:p>
            <a:r>
              <a:t>```</a:t>
            </a:r>
            <a:endParaRPr lang="en-US"/>
          </a:p>
          <a:p>
            <a:endParaRPr lang="en-US"/>
          </a:p>
          <a:p>
            <a:endParaRPr lang="en-US"/>
          </a:p>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28396127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19317753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exportrange">
            <a:extLst>
              <a:ext uri="{FF2B5EF4-FFF2-40B4-BE49-F238E27FC236}">
                <a16:creationId xmlns:a16="http://schemas.microsoft.com/office/drawing/2014/main" id="{8462E5EB-73EE-E5B6-567C-10F69DA90F1C}"/>
              </a:ext>
            </a:extLst>
          </p:cNvPr>
          <p:cNvSpPr/>
          <p:nvPr/>
        </p:nvSpPr>
        <p:spPr bwMode="auto">
          <a:xfrm>
            <a:off x="623392" y="954920"/>
            <a:ext cx="10824782" cy="1858118"/>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keyvisual">
            <a:extLst>
              <a:ext uri="{FF2B5EF4-FFF2-40B4-BE49-F238E27FC236}">
                <a16:creationId xmlns:a16="http://schemas.microsoft.com/office/drawing/2014/main" id="{F19920DB-C718-A1C6-D667-1FD6C90DED0E}"/>
              </a:ext>
            </a:extLst>
          </p:cNvPr>
          <p:cNvSpPr/>
          <p:nvPr/>
        </p:nvSpPr>
        <p:spPr bwMode="auto">
          <a:xfrm>
            <a:off x="739026" y="2904486"/>
            <a:ext cx="10420746" cy="354885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TITLE</a:t>
            </a:r>
            <a:r>
              <a:rPr kumimoji="1" lang="ja-JP" altLang="en-US"/>
              <a:t>、</a:t>
            </a:r>
            <a:r>
              <a:rPr kumimoji="1" lang="en-US" altLang="ja-JP"/>
              <a:t>FILENAME</a:t>
            </a:r>
            <a:r>
              <a:rPr kumimoji="1" lang="ja-JP" altLang="en-US"/>
              <a:t>置換</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title_filename_recipe.yaml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250256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600" kern="0">
                <a:latin typeface="BIZ UDPゴシック" panose="020B0400000000000000" pitchFamily="50" charset="-128"/>
                <a:ea typeface="BIZ UDPゴシック" panose="020B0400000000000000" pitchFamily="50" charset="-128"/>
              </a:rPr>
              <a:t>スライド中の特殊定数を置換する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&lt;__FILENAME__&gt;</a:t>
            </a:r>
            <a:endParaRPr lang="ja-JP" altLang="en-US" sz="1400">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ja-JP" altLang="en-US"/>
              <a:t>特殊定数</a:t>
            </a:r>
            <a:endParaRPr lang="en-US" altLang="ja-JP"/>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20" name="テキスト ボックス 19">
            <a:extLst>
              <a:ext uri="{FF2B5EF4-FFF2-40B4-BE49-F238E27FC236}">
                <a16:creationId xmlns:a16="http://schemas.microsoft.com/office/drawing/2014/main" id="{FFE381D9-F00C-E5BA-3584-ABDCA945B09F}"/>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21" name="テキスト ボックス 20">
            <a:extLst>
              <a:ext uri="{FF2B5EF4-FFF2-40B4-BE49-F238E27FC236}">
                <a16:creationId xmlns:a16="http://schemas.microsoft.com/office/drawing/2014/main" id="{12491889-C51E-5A48-83B2-129353663E72}"/>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pm11_title_filename</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4" name="テキスト ボックス 3">
            <a:extLst>
              <a:ext uri="{FF2B5EF4-FFF2-40B4-BE49-F238E27FC236}">
                <a16:creationId xmlns:a16="http://schemas.microsoft.com/office/drawing/2014/main" id="{E7488A7F-548F-73BD-018C-9867074418D8}"/>
              </a:ext>
            </a:extLst>
          </p:cNvPr>
          <p:cNvSpPr txBox="1"/>
          <p:nvPr/>
        </p:nvSpPr>
        <p:spPr bwMode="auto">
          <a:xfrm>
            <a:off x="739026" y="3010936"/>
            <a:ext cx="1054155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スライド上および </a:t>
            </a:r>
            <a:r>
              <a:rPr kumimoji="1" lang="en-US" altLang="ja-JP" kern="0">
                <a:latin typeface="BIZ UDPゴシック" panose="020B0400000000000000" pitchFamily="50" charset="-128"/>
                <a:ea typeface="BIZ UDPゴシック" panose="020B0400000000000000" pitchFamily="50" charset="-128"/>
              </a:rPr>
              <a:t>note </a:t>
            </a:r>
            <a:r>
              <a:rPr kumimoji="1" lang="ja-JP" altLang="en-US" kern="0">
                <a:latin typeface="BIZ UDPゴシック" panose="020B0400000000000000" pitchFamily="50" charset="-128"/>
                <a:ea typeface="BIZ UDPゴシック" panose="020B0400000000000000" pitchFamily="50" charset="-128"/>
              </a:rPr>
              <a:t>の下記の</a:t>
            </a:r>
            <a:r>
              <a:rPr lang="ja-JP" altLang="en-US" kern="0">
                <a:latin typeface="BIZ UDPゴシック" panose="020B0400000000000000" pitchFamily="50" charset="-128"/>
                <a:ea typeface="BIZ UDPゴシック" panose="020B0400000000000000" pitchFamily="50" charset="-128"/>
              </a:rPr>
              <a:t>記述（特殊定数）</a:t>
            </a:r>
            <a:r>
              <a:rPr kumimoji="1" lang="ja-JP" altLang="en-US" kern="0">
                <a:latin typeface="BIZ UDPゴシック" panose="020B0400000000000000" pitchFamily="50" charset="-128"/>
                <a:ea typeface="BIZ UDPゴシック" panose="020B0400000000000000" pitchFamily="50" charset="-128"/>
              </a:rPr>
              <a:t>はそれぞれ該当する情報に置換されます。</a:t>
            </a:r>
            <a:endParaRPr kumimoji="1" lang="en-US" altLang="ja-JP" kern="0">
              <a:latin typeface="BIZ UDPゴシック" panose="020B0400000000000000" pitchFamily="50" charset="-128"/>
              <a:ea typeface="BIZ UDPゴシック" panose="020B0400000000000000" pitchFamily="50" charset="-128"/>
            </a:endParaRPr>
          </a:p>
        </p:txBody>
      </p:sp>
      <p:graphicFrame>
        <p:nvGraphicFramePr>
          <p:cNvPr id="5" name="表 4">
            <a:extLst>
              <a:ext uri="{FF2B5EF4-FFF2-40B4-BE49-F238E27FC236}">
                <a16:creationId xmlns:a16="http://schemas.microsoft.com/office/drawing/2014/main" id="{678F86ED-5178-3B1F-E531-99CDB421056D}"/>
              </a:ext>
            </a:extLst>
          </p:cNvPr>
          <p:cNvGraphicFramePr>
            <a:graphicFrameLocks noGrp="1"/>
          </p:cNvGraphicFramePr>
          <p:nvPr>
            <p:extLst>
              <p:ext uri="{D42A27DB-BD31-4B8C-83A1-F6EECF244321}">
                <p14:modId xmlns:p14="http://schemas.microsoft.com/office/powerpoint/2010/main" val="146354747"/>
              </p:ext>
            </p:extLst>
          </p:nvPr>
        </p:nvGraphicFramePr>
        <p:xfrm>
          <a:off x="1847528" y="3592572"/>
          <a:ext cx="8128000" cy="2265260"/>
        </p:xfrm>
        <a:graphic>
          <a:graphicData uri="http://schemas.openxmlformats.org/drawingml/2006/table">
            <a:tbl>
              <a:tblPr firstRow="1" bandRow="1">
                <a:tableStyleId>{5940675A-B579-460E-94D1-54222C63F5DA}</a:tableStyleId>
              </a:tblPr>
              <a:tblGrid>
                <a:gridCol w="4064000">
                  <a:extLst>
                    <a:ext uri="{9D8B030D-6E8A-4147-A177-3AD203B41FA5}">
                      <a16:colId xmlns:a16="http://schemas.microsoft.com/office/drawing/2014/main" val="3489670388"/>
                    </a:ext>
                  </a:extLst>
                </a:gridCol>
                <a:gridCol w="4064000">
                  <a:extLst>
                    <a:ext uri="{9D8B030D-6E8A-4147-A177-3AD203B41FA5}">
                      <a16:colId xmlns:a16="http://schemas.microsoft.com/office/drawing/2014/main" val="1618597918"/>
                    </a:ext>
                  </a:extLst>
                </a:gridCol>
              </a:tblGrid>
              <a:tr h="453052">
                <a:tc>
                  <a:txBody>
                    <a:bodyPr/>
                    <a:lstStyle/>
                    <a:p>
                      <a:pPr algn="ctr"/>
                      <a:r>
                        <a:rPr kumimoji="1" lang="ja-JP" altLang="en-US">
                          <a:latin typeface="BIZ UDPゴシック" panose="020B0400000000000000" pitchFamily="50" charset="-128"/>
                          <a:ea typeface="BIZ UDPゴシック" panose="020B0400000000000000" pitchFamily="50" charset="-128"/>
                        </a:rPr>
                        <a:t>特殊定数</a:t>
                      </a:r>
                    </a:p>
                  </a:txBody>
                  <a:tcPr>
                    <a:solidFill>
                      <a:schemeClr val="accent3">
                        <a:lumMod val="40000"/>
                        <a:lumOff val="60000"/>
                      </a:schemeClr>
                    </a:solidFill>
                  </a:tcPr>
                </a:tc>
                <a:tc>
                  <a:txBody>
                    <a:bodyPr/>
                    <a:lstStyle/>
                    <a:p>
                      <a:pPr algn="ctr"/>
                      <a:r>
                        <a:rPr kumimoji="1" lang="ja-JP" altLang="en-US">
                          <a:latin typeface="BIZ UDPゴシック" panose="020B0400000000000000" pitchFamily="50" charset="-128"/>
                          <a:ea typeface="BIZ UDPゴシック" panose="020B0400000000000000" pitchFamily="50" charset="-128"/>
                        </a:rPr>
                        <a:t>置換文字列</a:t>
                      </a:r>
                    </a:p>
                  </a:txBody>
                  <a:tcPr>
                    <a:solidFill>
                      <a:schemeClr val="accent3">
                        <a:lumMod val="40000"/>
                        <a:lumOff val="60000"/>
                      </a:schemeClr>
                    </a:solidFill>
                  </a:tcPr>
                </a:tc>
                <a:extLst>
                  <a:ext uri="{0D108BD9-81ED-4DB2-BD59-A6C34878D82A}">
                    <a16:rowId xmlns:a16="http://schemas.microsoft.com/office/drawing/2014/main" val="543819335"/>
                  </a:ext>
                </a:extLst>
              </a:tr>
              <a:tr h="453052">
                <a:tc>
                  <a:txBody>
                    <a:bodyPr/>
                    <a:lstStyle/>
                    <a:p>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r>
                        <a:rPr kumimoji="1" lang="en-US" altLang="ja-JP">
                          <a:latin typeface="BIZ UDPゴシック" panose="020B0400000000000000" pitchFamily="50" charset="-128"/>
                          <a:ea typeface="BIZ UDPゴシック" panose="020B0400000000000000" pitchFamily="50" charset="-128"/>
                        </a:rPr>
                        <a:t> PPTX</a:t>
                      </a:r>
                      <a:r>
                        <a:rPr kumimoji="1" lang="ja-JP" altLang="en-US">
                          <a:latin typeface="BIZ UDPゴシック" panose="020B0400000000000000" pitchFamily="50" charset="-128"/>
                          <a:ea typeface="BIZ UDPゴシック" panose="020B0400000000000000" pitchFamily="50" charset="-128"/>
                        </a:rPr>
                        <a:t>ファイル名（拡張子つき）</a:t>
                      </a:r>
                    </a:p>
                  </a:txBody>
                  <a:tcPr/>
                </a:tc>
                <a:extLst>
                  <a:ext uri="{0D108BD9-81ED-4DB2-BD59-A6C34878D82A}">
                    <a16:rowId xmlns:a16="http://schemas.microsoft.com/office/drawing/2014/main" val="1635175032"/>
                  </a:ext>
                </a:extLst>
              </a:tr>
              <a:tr h="453052">
                <a:tc>
                  <a:txBody>
                    <a:bodyPr/>
                    <a:lstStyle/>
                    <a:p>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a:latin typeface="BIZ UDPゴシック" panose="020B0400000000000000" pitchFamily="50" charset="-128"/>
                          <a:ea typeface="BIZ UDPゴシック" panose="020B0400000000000000" pitchFamily="50" charset="-128"/>
                        </a:rPr>
                        <a:t> PPTX</a:t>
                      </a:r>
                      <a:r>
                        <a:rPr kumimoji="1" lang="ja-JP" altLang="en-US">
                          <a:latin typeface="BIZ UDPゴシック" panose="020B0400000000000000" pitchFamily="50" charset="-128"/>
                          <a:ea typeface="BIZ UDPゴシック" panose="020B0400000000000000" pitchFamily="50" charset="-128"/>
                        </a:rPr>
                        <a:t>ファイル名（拡張子なし）</a:t>
                      </a:r>
                    </a:p>
                  </a:txBody>
                  <a:tcPr/>
                </a:tc>
                <a:extLst>
                  <a:ext uri="{0D108BD9-81ED-4DB2-BD59-A6C34878D82A}">
                    <a16:rowId xmlns:a16="http://schemas.microsoft.com/office/drawing/2014/main" val="4131196116"/>
                  </a:ext>
                </a:extLst>
              </a:tr>
              <a:tr h="453052">
                <a:tc>
                  <a:txBody>
                    <a:bodyPr/>
                    <a:lstStyle/>
                    <a:p>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r>
                        <a:rPr kumimoji="1" lang="en-US" altLang="ja-JP">
                          <a:latin typeface="BIZ UDPゴシック" panose="020B0400000000000000" pitchFamily="50" charset="-128"/>
                          <a:ea typeface="BIZ UDPゴシック" panose="020B0400000000000000" pitchFamily="50" charset="-128"/>
                        </a:rPr>
                        <a:t> </a:t>
                      </a:r>
                      <a:r>
                        <a:rPr kumimoji="1" lang="ja-JP" altLang="en-US">
                          <a:latin typeface="BIZ UDPゴシック" panose="020B0400000000000000" pitchFamily="50" charset="-128"/>
                          <a:ea typeface="BIZ UDPゴシック" panose="020B0400000000000000" pitchFamily="50" charset="-128"/>
                        </a:rPr>
                        <a:t>スライドのタイトル文字列</a:t>
                      </a:r>
                    </a:p>
                  </a:txBody>
                  <a:tcPr/>
                </a:tc>
                <a:extLst>
                  <a:ext uri="{0D108BD9-81ED-4DB2-BD59-A6C34878D82A}">
                    <a16:rowId xmlns:a16="http://schemas.microsoft.com/office/drawing/2014/main" val="3467792000"/>
                  </a:ext>
                </a:extLst>
              </a:tr>
              <a:tr h="453052">
                <a:tc>
                  <a:txBody>
                    <a:bodyPr/>
                    <a:lstStyle/>
                    <a:p>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a:latin typeface="BIZ UDPゴシック" panose="020B0400000000000000" pitchFamily="50" charset="-128"/>
                          <a:ea typeface="BIZ UDPゴシック" panose="020B0400000000000000" pitchFamily="50" charset="-128"/>
                        </a:rPr>
                        <a:t> </a:t>
                      </a:r>
                      <a:r>
                        <a:rPr kumimoji="1" lang="ja-JP" altLang="en-US">
                          <a:latin typeface="BIZ UDPゴシック" panose="020B0400000000000000" pitchFamily="50" charset="-128"/>
                          <a:ea typeface="BIZ UDPゴシック" panose="020B0400000000000000" pitchFamily="50" charset="-128"/>
                        </a:rPr>
                        <a:t>スライド番号（１オリジン）</a:t>
                      </a:r>
                    </a:p>
                  </a:txBody>
                  <a:tcPr/>
                </a:tc>
                <a:extLst>
                  <a:ext uri="{0D108BD9-81ED-4DB2-BD59-A6C34878D82A}">
                    <a16:rowId xmlns:a16="http://schemas.microsoft.com/office/drawing/2014/main" val="3082152584"/>
                  </a:ext>
                </a:extLst>
              </a:tr>
            </a:tbl>
          </a:graphicData>
        </a:graphic>
      </p:graphicFrame>
      <p:pic>
        <p:nvPicPr>
          <p:cNvPr id="7" name="図 6">
            <a:extLst>
              <a:ext uri="{FF2B5EF4-FFF2-40B4-BE49-F238E27FC236}">
                <a16:creationId xmlns:a16="http://schemas.microsoft.com/office/drawing/2014/main" id="{9EBCBFC2-96EC-9D37-004B-1A47A83F7719}"/>
              </a:ext>
            </a:extLst>
          </p:cNvPr>
          <p:cNvPicPr>
            <a:picLocks noChangeAspect="1"/>
          </p:cNvPicPr>
          <p:nvPr/>
        </p:nvPicPr>
        <p:blipFill>
          <a:blip r:embed="rId3"/>
          <a:stretch>
            <a:fillRect/>
          </a:stretch>
        </p:blipFill>
        <p:spPr>
          <a:xfrm>
            <a:off x="1919536" y="4531552"/>
            <a:ext cx="2450804" cy="493819"/>
          </a:xfrm>
          <a:prstGeom prst="rect">
            <a:avLst/>
          </a:prstGeom>
        </p:spPr>
      </p:pic>
      <p:pic>
        <p:nvPicPr>
          <p:cNvPr id="9" name="図 8">
            <a:extLst>
              <a:ext uri="{FF2B5EF4-FFF2-40B4-BE49-F238E27FC236}">
                <a16:creationId xmlns:a16="http://schemas.microsoft.com/office/drawing/2014/main" id="{98F4F138-DFF4-473B-AE49-15ECBA3673E4}"/>
              </a:ext>
            </a:extLst>
          </p:cNvPr>
          <p:cNvPicPr>
            <a:picLocks noChangeAspect="1"/>
          </p:cNvPicPr>
          <p:nvPr/>
        </p:nvPicPr>
        <p:blipFill>
          <a:blip r:embed="rId4"/>
          <a:stretch>
            <a:fillRect/>
          </a:stretch>
        </p:blipFill>
        <p:spPr>
          <a:xfrm>
            <a:off x="1919536" y="4087004"/>
            <a:ext cx="1969179" cy="493819"/>
          </a:xfrm>
          <a:prstGeom prst="rect">
            <a:avLst/>
          </a:prstGeom>
        </p:spPr>
      </p:pic>
      <p:pic>
        <p:nvPicPr>
          <p:cNvPr id="11" name="図 10">
            <a:extLst>
              <a:ext uri="{FF2B5EF4-FFF2-40B4-BE49-F238E27FC236}">
                <a16:creationId xmlns:a16="http://schemas.microsoft.com/office/drawing/2014/main" id="{556A617C-8B5A-BBA9-B06E-653C77B50C8F}"/>
              </a:ext>
            </a:extLst>
          </p:cNvPr>
          <p:cNvPicPr>
            <a:picLocks noChangeAspect="1"/>
          </p:cNvPicPr>
          <p:nvPr/>
        </p:nvPicPr>
        <p:blipFill>
          <a:blip r:embed="rId5"/>
          <a:stretch>
            <a:fillRect/>
          </a:stretch>
        </p:blipFill>
        <p:spPr>
          <a:xfrm>
            <a:off x="1909446" y="4962404"/>
            <a:ext cx="1603387" cy="493819"/>
          </a:xfrm>
          <a:prstGeom prst="rect">
            <a:avLst/>
          </a:prstGeom>
        </p:spPr>
      </p:pic>
      <p:sp>
        <p:nvSpPr>
          <p:cNvPr id="13" name="テキスト ボックス 12">
            <a:extLst>
              <a:ext uri="{FF2B5EF4-FFF2-40B4-BE49-F238E27FC236}">
                <a16:creationId xmlns:a16="http://schemas.microsoft.com/office/drawing/2014/main" id="{01542E70-8473-5C79-2487-12CFE97D4EAB}"/>
              </a:ext>
            </a:extLst>
          </p:cNvPr>
          <p:cNvSpPr txBox="1"/>
          <p:nvPr/>
        </p:nvSpPr>
        <p:spPr bwMode="auto">
          <a:xfrm>
            <a:off x="739026" y="5979260"/>
            <a:ext cx="1054155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この置換は変数定義とは無関係に行われます。</a:t>
            </a:r>
            <a:endParaRPr kumimoji="1" lang="en-US" altLang="ja-JP" kern="0">
              <a:latin typeface="BIZ UDPゴシック" panose="020B0400000000000000" pitchFamily="50" charset="-128"/>
              <a:ea typeface="BIZ UDPゴシック" panose="020B0400000000000000" pitchFamily="50" charset="-128"/>
            </a:endParaRPr>
          </a:p>
        </p:txBody>
      </p:sp>
      <p:pic>
        <p:nvPicPr>
          <p:cNvPr id="8" name="図 7">
            <a:extLst>
              <a:ext uri="{FF2B5EF4-FFF2-40B4-BE49-F238E27FC236}">
                <a16:creationId xmlns:a16="http://schemas.microsoft.com/office/drawing/2014/main" id="{F8020E26-C1F6-9CFB-6988-2060EE9DB4F6}"/>
              </a:ext>
            </a:extLst>
          </p:cNvPr>
          <p:cNvPicPr>
            <a:picLocks noChangeAspect="1"/>
          </p:cNvPicPr>
          <p:nvPr/>
        </p:nvPicPr>
        <p:blipFill>
          <a:blip r:embed="rId6"/>
          <a:stretch>
            <a:fillRect/>
          </a:stretch>
        </p:blipFill>
        <p:spPr>
          <a:xfrm>
            <a:off x="1894573" y="5455461"/>
            <a:ext cx="1969179" cy="493819"/>
          </a:xfrm>
          <a:prstGeom prst="rect">
            <a:avLst/>
          </a:prstGeom>
        </p:spPr>
      </p:pic>
    </p:spTree>
    <p:extLst>
      <p:ext uri="{BB962C8B-B14F-4D97-AF65-F5344CB8AC3E}">
        <p14:creationId xmlns:p14="http://schemas.microsoft.com/office/powerpoint/2010/main" val="11654283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TITLE</a:t>
            </a:r>
            <a:r>
              <a:rPr lang="ja-JP" altLang="en-US"/>
              <a:t>、</a:t>
            </a:r>
            <a:r>
              <a:rPr lang="en-US" altLang="ja-JP"/>
              <a:t>FILENAME</a:t>
            </a:r>
            <a:r>
              <a:rPr lang="ja-JP" altLang="en-US"/>
              <a:t>置換 サンプル</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正方形/長方形 4">
            <a:extLst>
              <a:ext uri="{FF2B5EF4-FFF2-40B4-BE49-F238E27FC236}">
                <a16:creationId xmlns:a16="http://schemas.microsoft.com/office/drawing/2014/main" id="{4103787F-3CF1-2F28-D518-0F115CE10C2C}"/>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&lt;__FILENAME__&gt;</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0E7AF14D-83D6-1AA4-8FB1-BA1DB7387659}"/>
              </a:ext>
            </a:extLst>
          </p:cNvPr>
          <p:cNvSpPr txBox="1"/>
          <p:nvPr/>
        </p:nvSpPr>
        <p:spPr bwMode="auto">
          <a:xfrm>
            <a:off x="739026" y="1196752"/>
            <a:ext cx="1054155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下記の記述はそれぞれ該当する情報に置換されます</a:t>
            </a:r>
            <a:endParaRPr kumimoji="1" lang="en-US" altLang="ja-JP" kern="0">
              <a:latin typeface="BIZ UDPゴシック" panose="020B0400000000000000" pitchFamily="50" charset="-128"/>
              <a:ea typeface="BIZ UDPゴシック" panose="020B0400000000000000" pitchFamily="50" charset="-128"/>
            </a:endParaRPr>
          </a:p>
        </p:txBody>
      </p:sp>
      <p:graphicFrame>
        <p:nvGraphicFramePr>
          <p:cNvPr id="10" name="表 9">
            <a:extLst>
              <a:ext uri="{FF2B5EF4-FFF2-40B4-BE49-F238E27FC236}">
                <a16:creationId xmlns:a16="http://schemas.microsoft.com/office/drawing/2014/main" id="{337CFAB0-09BC-19BF-43FC-65F89D179B09}"/>
              </a:ext>
            </a:extLst>
          </p:cNvPr>
          <p:cNvGraphicFramePr>
            <a:graphicFrameLocks noGrp="1"/>
          </p:cNvGraphicFramePr>
          <p:nvPr>
            <p:extLst>
              <p:ext uri="{D42A27DB-BD31-4B8C-83A1-F6EECF244321}">
                <p14:modId xmlns:p14="http://schemas.microsoft.com/office/powerpoint/2010/main" val="3812710926"/>
              </p:ext>
            </p:extLst>
          </p:nvPr>
        </p:nvGraphicFramePr>
        <p:xfrm>
          <a:off x="1847528" y="2031614"/>
          <a:ext cx="8128000" cy="2265260"/>
        </p:xfrm>
        <a:graphic>
          <a:graphicData uri="http://schemas.openxmlformats.org/drawingml/2006/table">
            <a:tbl>
              <a:tblPr firstRow="1" bandRow="1">
                <a:tableStyleId>{5940675A-B579-460E-94D1-54222C63F5DA}</a:tableStyleId>
              </a:tblPr>
              <a:tblGrid>
                <a:gridCol w="4064000">
                  <a:extLst>
                    <a:ext uri="{9D8B030D-6E8A-4147-A177-3AD203B41FA5}">
                      <a16:colId xmlns:a16="http://schemas.microsoft.com/office/drawing/2014/main" val="3489670388"/>
                    </a:ext>
                  </a:extLst>
                </a:gridCol>
                <a:gridCol w="4064000">
                  <a:extLst>
                    <a:ext uri="{9D8B030D-6E8A-4147-A177-3AD203B41FA5}">
                      <a16:colId xmlns:a16="http://schemas.microsoft.com/office/drawing/2014/main" val="1618597918"/>
                    </a:ext>
                  </a:extLst>
                </a:gridCol>
              </a:tblGrid>
              <a:tr h="453052">
                <a:tc>
                  <a:txBody>
                    <a:bodyPr/>
                    <a:lstStyle/>
                    <a:p>
                      <a:pPr algn="ctr"/>
                      <a:r>
                        <a:rPr kumimoji="1" lang="ja-JP" altLang="en-US">
                          <a:latin typeface="BIZ UDPゴシック" panose="020B0400000000000000" pitchFamily="50" charset="-128"/>
                          <a:ea typeface="BIZ UDPゴシック" panose="020B0400000000000000" pitchFamily="50" charset="-128"/>
                        </a:rPr>
                        <a:t>特殊定数</a:t>
                      </a:r>
                    </a:p>
                  </a:txBody>
                  <a:tcPr>
                    <a:solidFill>
                      <a:schemeClr val="accent3">
                        <a:lumMod val="40000"/>
                        <a:lumOff val="60000"/>
                      </a:schemeClr>
                    </a:solidFill>
                  </a:tcPr>
                </a:tc>
                <a:tc>
                  <a:txBody>
                    <a:bodyPr/>
                    <a:lstStyle/>
                    <a:p>
                      <a:pPr algn="ctr"/>
                      <a:r>
                        <a:rPr kumimoji="1" lang="ja-JP" altLang="en-US">
                          <a:latin typeface="BIZ UDPゴシック" panose="020B0400000000000000" pitchFamily="50" charset="-128"/>
                          <a:ea typeface="BIZ UDPゴシック" panose="020B0400000000000000" pitchFamily="50" charset="-128"/>
                        </a:rPr>
                        <a:t>置換文字列</a:t>
                      </a:r>
                    </a:p>
                  </a:txBody>
                  <a:tcPr>
                    <a:solidFill>
                      <a:schemeClr val="accent3">
                        <a:lumMod val="40000"/>
                        <a:lumOff val="60000"/>
                      </a:schemeClr>
                    </a:solidFill>
                  </a:tcPr>
                </a:tc>
                <a:extLst>
                  <a:ext uri="{0D108BD9-81ED-4DB2-BD59-A6C34878D82A}">
                    <a16:rowId xmlns:a16="http://schemas.microsoft.com/office/drawing/2014/main" val="543819335"/>
                  </a:ext>
                </a:extLst>
              </a:tr>
              <a:tr h="453052">
                <a:tc>
                  <a:txBody>
                    <a:bodyPr/>
                    <a:lstStyle/>
                    <a:p>
                      <a:r>
                        <a:rPr kumimoji="1" lang="en-US" altLang="ja-JP">
                          <a:latin typeface="Moralerspace Xenon HW" panose="020B0509020203020207" pitchFamily="49" charset="-128"/>
                          <a:ea typeface="Moralerspace Xenon HW" panose="020B0509020203020207" pitchFamily="49" charset="-128"/>
                          <a:cs typeface="Moralerspace Xenon HW" panose="020B0509020203020207" pitchFamily="49" charset="-128"/>
                        </a:rPr>
                        <a:t> &lt;__FILENAME__&gt;</a:t>
                      </a:r>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r>
                        <a:rPr kumimoji="1" lang="en-US" altLang="ja-JP">
                          <a:latin typeface="BIZ UDPゴシック" panose="020B0400000000000000" pitchFamily="50" charset="-128"/>
                          <a:ea typeface="BIZ UDPゴシック" panose="020B0400000000000000" pitchFamily="50" charset="-128"/>
                        </a:rPr>
                        <a:t> PPTX</a:t>
                      </a:r>
                      <a:r>
                        <a:rPr kumimoji="1" lang="ja-JP" altLang="en-US">
                          <a:latin typeface="BIZ UDPゴシック" panose="020B0400000000000000" pitchFamily="50" charset="-128"/>
                          <a:ea typeface="BIZ UDPゴシック" panose="020B0400000000000000" pitchFamily="50" charset="-128"/>
                        </a:rPr>
                        <a:t>ファイル名（拡張子つき）</a:t>
                      </a:r>
                    </a:p>
                  </a:txBody>
                  <a:tcPr/>
                </a:tc>
                <a:extLst>
                  <a:ext uri="{0D108BD9-81ED-4DB2-BD59-A6C34878D82A}">
                    <a16:rowId xmlns:a16="http://schemas.microsoft.com/office/drawing/2014/main" val="719639112"/>
                  </a:ext>
                </a:extLst>
              </a:tr>
              <a:tr h="453052">
                <a:tc>
                  <a:txBody>
                    <a:bodyPr/>
                    <a:lstStyle/>
                    <a:p>
                      <a:r>
                        <a:rPr kumimoji="1" lang="en-US" altLang="ja-JP">
                          <a:latin typeface="Moralerspace Xenon HW" panose="020B0509020203020207" pitchFamily="49" charset="-128"/>
                          <a:ea typeface="Moralerspace Xenon HW" panose="020B0509020203020207" pitchFamily="49" charset="-128"/>
                          <a:cs typeface="Moralerspace Xenon HW" panose="020B0509020203020207" pitchFamily="49" charset="-128"/>
                        </a:rPr>
                        <a:t> &lt;__BASEFILENAME__&gt;</a:t>
                      </a:r>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a:latin typeface="BIZ UDPゴシック" panose="020B0400000000000000" pitchFamily="50" charset="-128"/>
                          <a:ea typeface="BIZ UDPゴシック" panose="020B0400000000000000" pitchFamily="50" charset="-128"/>
                        </a:rPr>
                        <a:t> PPTX</a:t>
                      </a:r>
                      <a:r>
                        <a:rPr kumimoji="1" lang="ja-JP" altLang="en-US">
                          <a:latin typeface="BIZ UDPゴシック" panose="020B0400000000000000" pitchFamily="50" charset="-128"/>
                          <a:ea typeface="BIZ UDPゴシック" panose="020B0400000000000000" pitchFamily="50" charset="-128"/>
                        </a:rPr>
                        <a:t>ファイル名（拡張子なし）</a:t>
                      </a:r>
                    </a:p>
                  </a:txBody>
                  <a:tcPr/>
                </a:tc>
                <a:extLst>
                  <a:ext uri="{0D108BD9-81ED-4DB2-BD59-A6C34878D82A}">
                    <a16:rowId xmlns:a16="http://schemas.microsoft.com/office/drawing/2014/main" val="3526653833"/>
                  </a:ext>
                </a:extLst>
              </a:tr>
              <a:tr h="453052">
                <a:tc>
                  <a:txBody>
                    <a:bodyPr/>
                    <a:lstStyle/>
                    <a:p>
                      <a:r>
                        <a:rPr kumimoji="1" lang="en-US" altLang="ja-JP">
                          <a:latin typeface="Moralerspace Xenon HW" panose="020B0509020203020207" pitchFamily="49" charset="-128"/>
                          <a:ea typeface="Moralerspace Xenon HW" panose="020B0509020203020207" pitchFamily="49" charset="-128"/>
                          <a:cs typeface="Moralerspace Xenon HW" panose="020B0509020203020207" pitchFamily="49" charset="-128"/>
                        </a:rPr>
                        <a:t> &lt;__TITLE__&gt;</a:t>
                      </a:r>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r>
                        <a:rPr kumimoji="1" lang="en-US" altLang="ja-JP">
                          <a:latin typeface="BIZ UDPゴシック" panose="020B0400000000000000" pitchFamily="50" charset="-128"/>
                          <a:ea typeface="BIZ UDPゴシック" panose="020B0400000000000000" pitchFamily="50" charset="-128"/>
                        </a:rPr>
                        <a:t> </a:t>
                      </a:r>
                      <a:r>
                        <a:rPr kumimoji="1" lang="ja-JP" altLang="en-US">
                          <a:latin typeface="BIZ UDPゴシック" panose="020B0400000000000000" pitchFamily="50" charset="-128"/>
                          <a:ea typeface="BIZ UDPゴシック" panose="020B0400000000000000" pitchFamily="50" charset="-128"/>
                        </a:rPr>
                        <a:t>スライドのタイトル文字列</a:t>
                      </a:r>
                    </a:p>
                  </a:txBody>
                  <a:tcPr/>
                </a:tc>
                <a:extLst>
                  <a:ext uri="{0D108BD9-81ED-4DB2-BD59-A6C34878D82A}">
                    <a16:rowId xmlns:a16="http://schemas.microsoft.com/office/drawing/2014/main" val="2291922688"/>
                  </a:ext>
                </a:extLst>
              </a:tr>
              <a:tr h="453052">
                <a:tc>
                  <a:txBody>
                    <a:bodyPr/>
                    <a:lstStyle/>
                    <a:p>
                      <a:r>
                        <a:rPr kumimoji="1" lang="en-US" altLang="ja-JP">
                          <a:latin typeface="Moralerspace Xenon HW" panose="020B0509020203020207" pitchFamily="49" charset="-128"/>
                          <a:ea typeface="Moralerspace Xenon HW" panose="020B0509020203020207" pitchFamily="49" charset="-128"/>
                          <a:cs typeface="Moralerspace Xenon HW" panose="020B0509020203020207" pitchFamily="49" charset="-128"/>
                        </a:rPr>
                        <a:t> &lt;__SLIDENUM__&gt;</a:t>
                      </a:r>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a:latin typeface="BIZ UDPゴシック" panose="020B0400000000000000" pitchFamily="50" charset="-128"/>
                          <a:ea typeface="BIZ UDPゴシック" panose="020B0400000000000000" pitchFamily="50" charset="-128"/>
                        </a:rPr>
                        <a:t> </a:t>
                      </a:r>
                      <a:r>
                        <a:rPr kumimoji="1" lang="ja-JP" altLang="en-US">
                          <a:latin typeface="BIZ UDPゴシック" panose="020B0400000000000000" pitchFamily="50" charset="-128"/>
                          <a:ea typeface="BIZ UDPゴシック" panose="020B0400000000000000" pitchFamily="50" charset="-128"/>
                        </a:rPr>
                        <a:t>スライド番号（１オリジン）</a:t>
                      </a:r>
                    </a:p>
                  </a:txBody>
                  <a:tcPr/>
                </a:tc>
                <a:extLst>
                  <a:ext uri="{0D108BD9-81ED-4DB2-BD59-A6C34878D82A}">
                    <a16:rowId xmlns:a16="http://schemas.microsoft.com/office/drawing/2014/main" val="228353795"/>
                  </a:ext>
                </a:extLst>
              </a:tr>
            </a:tbl>
          </a:graphicData>
        </a:graphic>
      </p:graphicFrame>
    </p:spTree>
    <p:extLst>
      <p:ext uri="{BB962C8B-B14F-4D97-AF65-F5344CB8AC3E}">
        <p14:creationId xmlns:p14="http://schemas.microsoft.com/office/powerpoint/2010/main" val="936270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30125</TotalTime>
  <Words>380</Words>
  <Application>Microsoft Office PowerPoint</Application>
  <PresentationFormat>ワイド画面</PresentationFormat>
  <Paragraphs>81</Paragraphs>
  <Slides>2</Slides>
  <Notes>2</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2</vt:i4>
      </vt:variant>
    </vt:vector>
  </HeadingPairs>
  <TitlesOfParts>
    <vt:vector size="9" baseType="lpstr">
      <vt:lpstr>BIZ UDPゴシック</vt:lpstr>
      <vt:lpstr>FOT-UD丸ゴ_ラージ Pr6 M</vt:lpstr>
      <vt:lpstr>Moralerspace Xenon HW</vt:lpstr>
      <vt:lpstr>Arial</vt:lpstr>
      <vt:lpstr>Garamond</vt:lpstr>
      <vt:lpstr>Wingdings</vt:lpstr>
      <vt:lpstr>Edge</vt:lpstr>
      <vt:lpstr>TITLE、FILENAME置換</vt:lpstr>
      <vt:lpstr>TITLE、FILENAME置換 サンプル</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
  <cp:revision>4058</cp:revision>
  <dcterms:modified xsi:type="dcterms:W3CDTF">2026-05-24T03:25:07Z</dcterms:modified>
</cp:coreProperties>
</file>