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5"/>
  </p:notesMasterIdLst>
  <p:sldIdLst>
    <p:sldId id="1788" r:id="rId2"/>
    <p:sldId id="1787" r:id="rId3"/>
    <p:sldId id="1789" r:id="rId4"/>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CC"/>
    <a:srgbClr val="FFCCFF"/>
    <a:srgbClr val="CCECFF"/>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451" autoAdjust="0"/>
  </p:normalViewPr>
  <p:slideViewPr>
    <p:cSldViewPr>
      <p:cViewPr varScale="1">
        <p:scale>
          <a:sx n="97" d="100"/>
          <a:sy n="97" d="100"/>
        </p:scale>
        <p:origin x="174"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rPr lang="en-US"/>
              <a:t>===BLOCK===</a:t>
            </a:r>
          </a:p>
          <a:p>
            <a:r>
              <a:rPr lang="en-US"/>
              <a:t>{{BLOCK:IMAGE}}</a:t>
            </a:r>
          </a:p>
          <a:p>
            <a:endParaRPr lang="en-US"/>
          </a:p>
          <a:p>
            <a:r>
              <a:rPr lang="en-US"/>
              <a:t>export-image-mode: slide_with_rectpct</a:t>
            </a:r>
          </a:p>
          <a:p>
            <a:r>
              <a:rPr lang="en-US"/>
              <a:t>export-image-target: keyvisual</a:t>
            </a:r>
          </a:p>
          <a:p>
            <a:r>
              <a:rPr lang="en-US"/>
              <a:t>export-image: extracted/figures/&lt;__BASEFILENAME__&gt;_keyvisual.png</a:t>
            </a:r>
          </a:p>
          <a:p>
            <a:endParaRPr lang="en-US"/>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そこで、MEMO/TEMPマーカーです。 #MEMO# または #TEMP# という文字列を含むシェイプは deletecsp に関係なく必ず削除されます。</a:t>
            </a:r>
          </a:p>
          <a:p>
            <a:endParaRPr/>
          </a:p>
          <a:p>
            <a:r>
              <a:t>MEMO、TEMP の動作は同じです。</a:t>
            </a:r>
          </a:p>
          <a:p>
            <a:endParaRPr/>
          </a:p>
          <a:p>
            <a:r>
              <a:t>結合指示書への記入は不要です。</a:t>
            </a:r>
          </a:p>
          <a:p>
            <a:endParaRPr/>
          </a:p>
          <a:p>
            <a:endParaRPr/>
          </a:p>
          <a:p>
            <a:r>
              <a:t>```{=latex}</a:t>
            </a:r>
          </a:p>
          <a:p>
            <a:r>
              <a:t>\par\vspace{1\baselineskip}</a:t>
            </a:r>
          </a:p>
          <a:p>
            <a:r>
              <a:t>\begin{center}</a:t>
            </a:r>
          </a:p>
          <a:p>
            <a:r>
              <a:t>```</a:t>
            </a:r>
          </a:p>
          <a:p>
            <a:endParaRPr/>
          </a:p>
          <a:p>
            <a:r>
              <a:t>![](figures/&lt;__BASEFILENAME__&gt;_slide&lt;__SLIDENUM__&gt;_fig.png){ width=95% }</a:t>
            </a:r>
            <a:endParaRPr lang="en-US"/>
          </a:p>
          <a:p>
            <a:endParaRPr lang="en-US"/>
          </a:p>
          <a:p>
            <a:r>
              <a:rPr lang="en-US"/>
              <a:t>![](figures/&lt;__BASEFILENAME__&gt;_keyvisual.png){ width=90% }</a:t>
            </a:r>
          </a:p>
          <a:p>
            <a:endParaRP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906129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下記の 「シェイプ」は無条件で消去されます。画像は残ります。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26408944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テーブルセルに MEMO, TEMPマーカーがある場合は、テーブルごと消去されます。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5516667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exportrange">
            <a:extLst>
              <a:ext uri="{FF2B5EF4-FFF2-40B4-BE49-F238E27FC236}">
                <a16:creationId xmlns:a16="http://schemas.microsoft.com/office/drawing/2014/main" id="{582D25F4-9BD9-F5E5-58F6-7D366BBB835C}"/>
              </a:ext>
            </a:extLst>
          </p:cNvPr>
          <p:cNvSpPr/>
          <p:nvPr/>
        </p:nvSpPr>
        <p:spPr bwMode="auto">
          <a:xfrm>
            <a:off x="623392" y="915304"/>
            <a:ext cx="10657184" cy="281369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D68B3CA3-4042-6DC7-3FBA-8D170CB0FA85}"/>
              </a:ext>
            </a:extLst>
          </p:cNvPr>
          <p:cNvSpPr/>
          <p:nvPr/>
        </p:nvSpPr>
        <p:spPr bwMode="auto">
          <a:xfrm>
            <a:off x="1035727" y="3784399"/>
            <a:ext cx="10028826" cy="285228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ja-JP" altLang="en-US"/>
              <a:t>作業用のメモを書く</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memo_temp_recipe.yaml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ファイル中の一部のシェイプ</a:t>
            </a:r>
            <a:r>
              <a:rPr kumimoji="1" lang="en-US" altLang="ja-JP" sz="1600" kern="0">
                <a:latin typeface="BIZ UDPゴシック" panose="020B0400000000000000" pitchFamily="50" charset="-128"/>
                <a:ea typeface="BIZ UDPゴシック" panose="020B0400000000000000" pitchFamily="50" charset="-128"/>
              </a:rPr>
              <a:t>(</a:t>
            </a:r>
            <a:r>
              <a:rPr kumimoji="1" lang="ja-JP" altLang="en-US" sz="1600" kern="0">
                <a:latin typeface="BIZ UDPゴシック" panose="020B0400000000000000" pitchFamily="50" charset="-128"/>
                <a:ea typeface="BIZ UDPゴシック" panose="020B0400000000000000" pitchFamily="50" charset="-128"/>
              </a:rPr>
              <a:t>図形）を無条件に一括消去する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&lt;__FILENAME__&gt;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"memo", "temp"</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pm10_memo_temp</a:t>
            </a:r>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2780928"/>
            <a:ext cx="1070914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1800" kern="0">
                <a:latin typeface="BIZ UDPゴシック" panose="020B0400000000000000" pitchFamily="50" charset="-128"/>
                <a:ea typeface="BIZ UDPゴシック" panose="020B0400000000000000" pitchFamily="50" charset="-128"/>
              </a:rPr>
              <a:t>MEMO</a:t>
            </a:r>
            <a:r>
              <a:rPr kumimoji="1" lang="ja-JP" altLang="en-US" sz="1800" kern="0">
                <a:latin typeface="BIZ UDPゴシック" panose="020B0400000000000000" pitchFamily="50" charset="-128"/>
                <a:ea typeface="BIZ UDPゴシック" panose="020B0400000000000000" pitchFamily="50" charset="-128"/>
              </a:rPr>
              <a:t>マーカー、</a:t>
            </a:r>
            <a:r>
              <a:rPr kumimoji="1" lang="en-US" altLang="ja-JP" sz="1800" kern="0">
                <a:latin typeface="BIZ UDPゴシック" panose="020B0400000000000000" pitchFamily="50" charset="-128"/>
                <a:ea typeface="BIZ UDPゴシック" panose="020B0400000000000000" pitchFamily="50" charset="-128"/>
              </a:rPr>
              <a:t>TEMP</a:t>
            </a:r>
            <a:r>
              <a:rPr kumimoji="1" lang="ja-JP" altLang="en-US" sz="1800" kern="0">
                <a:latin typeface="BIZ UDPゴシック" panose="020B0400000000000000" pitchFamily="50" charset="-128"/>
                <a:ea typeface="BIZ UDPゴシック" panose="020B0400000000000000" pitchFamily="50" charset="-128"/>
              </a:rPr>
              <a:t>マーカーを記入したシェイプは無条件に一括削除されます。</a:t>
            </a:r>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CSP</a:t>
            </a:r>
            <a:r>
              <a:rPr lang="ja-JP" altLang="en-US" sz="1800" kern="0">
                <a:latin typeface="BIZ UDPゴシック" panose="020B0400000000000000" pitchFamily="50" charset="-128"/>
                <a:ea typeface="BIZ UDPゴシック" panose="020B0400000000000000" pitchFamily="50" charset="-128"/>
              </a:rPr>
              <a:t>マーカーに似た機能ですが、</a:t>
            </a:r>
            <a:r>
              <a:rPr lang="en-US" altLang="ja-JP" sz="1800" kern="0">
                <a:latin typeface="BIZ UDPゴシック" panose="020B0400000000000000" pitchFamily="50" charset="-128"/>
                <a:ea typeface="BIZ UDPゴシック" panose="020B0400000000000000" pitchFamily="50" charset="-128"/>
              </a:rPr>
              <a:t>deletecsp </a:t>
            </a:r>
            <a:r>
              <a:rPr lang="ja-JP" altLang="en-US" sz="1800" kern="0">
                <a:latin typeface="BIZ UDPゴシック" panose="020B0400000000000000" pitchFamily="50" charset="-128"/>
                <a:ea typeface="BIZ UDPゴシック" panose="020B0400000000000000" pitchFamily="50" charset="-128"/>
              </a:rPr>
              <a:t>オプションに影響されません。</a:t>
            </a:r>
            <a:endParaRPr lang="en-US" altLang="ja-JP" sz="1800" kern="0">
              <a:latin typeface="BIZ UDPゴシック" panose="020B0400000000000000" pitchFamily="50" charset="-128"/>
              <a:ea typeface="BIZ UDPゴシック" panose="020B0400000000000000" pitchFamily="50" charset="-128"/>
            </a:endParaRPr>
          </a:p>
          <a:p>
            <a:r>
              <a:rPr lang="ja-JP" altLang="en-US" sz="1800">
                <a:latin typeface="BIZ UDPゴシック" panose="020B0400000000000000" pitchFamily="50" charset="-128"/>
                <a:ea typeface="BIZ UDPゴシック" panose="020B0400000000000000" pitchFamily="50" charset="-128"/>
              </a:rPr>
              <a:t>原稿制作中の一時的メモなど、 「後で見直す部分に貼っておく付箋紙」 のような用途に使います。</a:t>
            </a:r>
          </a:p>
        </p:txBody>
      </p:sp>
      <p:sp>
        <p:nvSpPr>
          <p:cNvPr id="6" name="テキスト ボックス 5">
            <a:extLst>
              <a:ext uri="{FF2B5EF4-FFF2-40B4-BE49-F238E27FC236}">
                <a16:creationId xmlns:a16="http://schemas.microsoft.com/office/drawing/2014/main" id="{BC285036-B1C2-6C5C-833C-B75FCC62241C}"/>
              </a:ext>
            </a:extLst>
          </p:cNvPr>
          <p:cNvSpPr txBox="1"/>
          <p:nvPr/>
        </p:nvSpPr>
        <p:spPr bwMode="auto">
          <a:xfrm>
            <a:off x="4614333" y="5936563"/>
            <a:ext cx="443324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2000" kern="0">
                <a:latin typeface="BIZ UDPゴシック" panose="020B0400000000000000" pitchFamily="50" charset="-128"/>
                <a:ea typeface="BIZ UDPゴシック" panose="020B0400000000000000" pitchFamily="50" charset="-128"/>
              </a:rPr>
              <a:t>MEMO</a:t>
            </a:r>
            <a:r>
              <a:rPr kumimoji="1" lang="ja-JP" altLang="en-US" sz="2000" kern="0">
                <a:latin typeface="BIZ UDPゴシック" panose="020B0400000000000000" pitchFamily="50" charset="-128"/>
                <a:ea typeface="BIZ UDPゴシック" panose="020B0400000000000000" pitchFamily="50" charset="-128"/>
              </a:rPr>
              <a:t>、</a:t>
            </a:r>
            <a:r>
              <a:rPr kumimoji="1" lang="en-US" altLang="ja-JP" sz="2000" kern="0">
                <a:latin typeface="BIZ UDPゴシック" panose="020B0400000000000000" pitchFamily="50" charset="-128"/>
                <a:ea typeface="BIZ UDPゴシック" panose="020B0400000000000000" pitchFamily="50" charset="-128"/>
              </a:rPr>
              <a:t>TEMP </a:t>
            </a:r>
            <a:r>
              <a:rPr kumimoji="1" lang="ja-JP" altLang="en-US" sz="2000" kern="0">
                <a:latin typeface="BIZ UDPゴシック" panose="020B0400000000000000" pitchFamily="50" charset="-128"/>
                <a:ea typeface="BIZ UDPゴシック" panose="020B0400000000000000" pitchFamily="50" charset="-128"/>
              </a:rPr>
              <a:t>の動作は同じです。</a:t>
            </a:r>
            <a:endParaRPr kumimoji="1" lang="en-US" altLang="ja-JP" sz="2000" kern="0">
              <a:latin typeface="BIZ UDPゴシック" panose="020B0400000000000000" pitchFamily="50" charset="-128"/>
              <a:ea typeface="BIZ UDPゴシック" panose="020B0400000000000000" pitchFamily="50" charset="-128"/>
            </a:endParaRPr>
          </a:p>
          <a:p>
            <a:r>
              <a:rPr lang="ja-JP" altLang="en-US">
                <a:latin typeface="BIZ UDPゴシック" panose="020B0400000000000000" pitchFamily="50" charset="-128"/>
                <a:ea typeface="BIZ UDPゴシック" panose="020B0400000000000000" pitchFamily="50" charset="-128"/>
              </a:rPr>
              <a:t>結合指示書への記入は不要です。</a:t>
            </a:r>
          </a:p>
        </p:txBody>
      </p:sp>
      <p:grpSp>
        <p:nvGrpSpPr>
          <p:cNvPr id="7" name="グループ化 6">
            <a:extLst>
              <a:ext uri="{FF2B5EF4-FFF2-40B4-BE49-F238E27FC236}">
                <a16:creationId xmlns:a16="http://schemas.microsoft.com/office/drawing/2014/main" id="{1F440B66-D626-EFF9-352A-A45F4972F789}"/>
              </a:ext>
            </a:extLst>
          </p:cNvPr>
          <p:cNvGrpSpPr/>
          <p:nvPr/>
        </p:nvGrpSpPr>
        <p:grpSpPr>
          <a:xfrm>
            <a:off x="1127448" y="3933056"/>
            <a:ext cx="3024335" cy="1838902"/>
            <a:chOff x="911424" y="3163721"/>
            <a:chExt cx="3456383" cy="2104181"/>
          </a:xfrm>
        </p:grpSpPr>
        <p:sp>
          <p:nvSpPr>
            <p:cNvPr id="9" name="正方形/長方形 8">
              <a:extLst>
                <a:ext uri="{FF2B5EF4-FFF2-40B4-BE49-F238E27FC236}">
                  <a16:creationId xmlns:a16="http://schemas.microsoft.com/office/drawing/2014/main" id="{39BE0CE7-29AE-9169-C706-B1E7808BD21A}"/>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6032D9A6-F8F4-6135-9BB1-0D603CA4378F}"/>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11" name="テキスト ボックス 10">
            <a:extLst>
              <a:ext uri="{FF2B5EF4-FFF2-40B4-BE49-F238E27FC236}">
                <a16:creationId xmlns:a16="http://schemas.microsoft.com/office/drawing/2014/main" id="{26BDBE66-0FED-B986-2DDF-978B3D8C18AE}"/>
              </a:ext>
            </a:extLst>
          </p:cNvPr>
          <p:cNvSpPr txBox="1"/>
          <p:nvPr/>
        </p:nvSpPr>
        <p:spPr bwMode="auto">
          <a:xfrm>
            <a:off x="5159145" y="4450918"/>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12" name="テキスト ボックス 11">
            <a:extLst>
              <a:ext uri="{FF2B5EF4-FFF2-40B4-BE49-F238E27FC236}">
                <a16:creationId xmlns:a16="http://schemas.microsoft.com/office/drawing/2014/main" id="{E2F3CB95-0B47-F49A-AE2E-D34A0D53CB23}"/>
              </a:ext>
            </a:extLst>
          </p:cNvPr>
          <p:cNvSpPr txBox="1"/>
          <p:nvPr/>
        </p:nvSpPr>
        <p:spPr bwMode="auto">
          <a:xfrm>
            <a:off x="1985261" y="6049654"/>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grpSp>
        <p:nvGrpSpPr>
          <p:cNvPr id="15" name="グループ化 14">
            <a:extLst>
              <a:ext uri="{FF2B5EF4-FFF2-40B4-BE49-F238E27FC236}">
                <a16:creationId xmlns:a16="http://schemas.microsoft.com/office/drawing/2014/main" id="{A8DBA347-553B-FF02-B31E-2CCB3D533124}"/>
              </a:ext>
            </a:extLst>
          </p:cNvPr>
          <p:cNvGrpSpPr/>
          <p:nvPr/>
        </p:nvGrpSpPr>
        <p:grpSpPr>
          <a:xfrm>
            <a:off x="7947652" y="3933056"/>
            <a:ext cx="3024335" cy="1838902"/>
            <a:chOff x="911424" y="3163721"/>
            <a:chExt cx="3456383" cy="2104181"/>
          </a:xfrm>
        </p:grpSpPr>
        <p:sp>
          <p:nvSpPr>
            <p:cNvPr id="16" name="正方形/長方形 15">
              <a:extLst>
                <a:ext uri="{FF2B5EF4-FFF2-40B4-BE49-F238E27FC236}">
                  <a16:creationId xmlns:a16="http://schemas.microsoft.com/office/drawing/2014/main" id="{5C14F6AD-E308-0DFA-F64B-DB77A73C03EF}"/>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74BF1C74-BACB-451F-1FE1-97182E84E4F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8" name="直線矢印コネクタ 17">
            <a:extLst>
              <a:ext uri="{FF2B5EF4-FFF2-40B4-BE49-F238E27FC236}">
                <a16:creationId xmlns:a16="http://schemas.microsoft.com/office/drawing/2014/main" id="{FCB2BB64-03AB-91F2-55B2-0E111C7FBE47}"/>
              </a:ext>
            </a:extLst>
          </p:cNvPr>
          <p:cNvCxnSpPr>
            <a:stCxn id="9" idx="3"/>
            <a:endCxn id="16" idx="1"/>
          </p:cNvCxnSpPr>
          <p:nvPr/>
        </p:nvCxnSpPr>
        <p:spPr bwMode="auto">
          <a:xfrm>
            <a:off x="4151783" y="4852507"/>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19" name="図 18">
            <a:extLst>
              <a:ext uri="{FF2B5EF4-FFF2-40B4-BE49-F238E27FC236}">
                <a16:creationId xmlns:a16="http://schemas.microsoft.com/office/drawing/2014/main" id="{82DE9657-1F9E-FBA1-456D-6E36CC907EC4}"/>
              </a:ext>
            </a:extLst>
          </p:cNvPr>
          <p:cNvPicPr>
            <a:picLocks noChangeAspect="1"/>
          </p:cNvPicPr>
          <p:nvPr/>
        </p:nvPicPr>
        <p:blipFill>
          <a:blip r:embed="rId3"/>
          <a:stretch>
            <a:fillRect/>
          </a:stretch>
        </p:blipFill>
        <p:spPr>
          <a:xfrm>
            <a:off x="2671283" y="4303743"/>
            <a:ext cx="1457070" cy="597460"/>
          </a:xfrm>
          <a:prstGeom prst="rect">
            <a:avLst/>
          </a:prstGeom>
        </p:spPr>
      </p:pic>
      <p:cxnSp>
        <p:nvCxnSpPr>
          <p:cNvPr id="20" name="直線矢印コネクタ 19">
            <a:extLst>
              <a:ext uri="{FF2B5EF4-FFF2-40B4-BE49-F238E27FC236}">
                <a16:creationId xmlns:a16="http://schemas.microsoft.com/office/drawing/2014/main" id="{29AF6F75-AE22-759E-22EE-05A17AE9D283}"/>
              </a:ext>
            </a:extLst>
          </p:cNvPr>
          <p:cNvCxnSpPr>
            <a:cxnSpLocks/>
          </p:cNvCxnSpPr>
          <p:nvPr/>
        </p:nvCxnSpPr>
        <p:spPr bwMode="auto">
          <a:xfrm flipV="1">
            <a:off x="2561325" y="4820250"/>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3831621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xportrange">
            <a:extLst>
              <a:ext uri="{FF2B5EF4-FFF2-40B4-BE49-F238E27FC236}">
                <a16:creationId xmlns:a16="http://schemas.microsoft.com/office/drawing/2014/main" id="{80B6EFCC-385E-9938-7C08-F541067A6357}"/>
              </a:ext>
            </a:extLst>
          </p:cNvPr>
          <p:cNvSpPr/>
          <p:nvPr/>
        </p:nvSpPr>
        <p:spPr bwMode="auto">
          <a:xfrm>
            <a:off x="623392" y="2307147"/>
            <a:ext cx="10657184" cy="31766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MEMO, TEMP </a:t>
            </a:r>
            <a:r>
              <a:rPr kumimoji="1" lang="ja-JP" altLang="en-US"/>
              <a:t>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1374188"/>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ja-JP" altLang="en-US" sz="2000" kern="0">
                <a:latin typeface="BIZ UDPゴシック" panose="020B0400000000000000" pitchFamily="50" charset="-128"/>
                <a:ea typeface="BIZ UDPゴシック" panose="020B0400000000000000" pitchFamily="50" charset="-128"/>
              </a:rPr>
              <a:t>下記の 「シェイプ」は無条件で消去されます。画像は残ります。</a:t>
            </a:r>
            <a:endParaRPr lang="ja-JP" altLang="en-US">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0B908542-80B1-0334-E713-08F0166CDD1D}"/>
              </a:ext>
            </a:extLst>
          </p:cNvPr>
          <p:cNvSpPr/>
          <p:nvPr/>
        </p:nvSpPr>
        <p:spPr bwMode="auto">
          <a:xfrm>
            <a:off x="5447928" y="3163160"/>
            <a:ext cx="3398057" cy="8510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詳細不明なので後日要確認</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#MEMO#</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AE644982-097C-A082-42B4-5017BCB1ECB9}"/>
              </a:ext>
            </a:extLst>
          </p:cNvPr>
          <p:cNvSpPr/>
          <p:nvPr/>
        </p:nvSpPr>
        <p:spPr bwMode="auto">
          <a:xfrm>
            <a:off x="5447928" y="4204781"/>
            <a:ext cx="3398057" cy="8510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ちょーウケる</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#TEMP#</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DD870573-5A9D-F7B5-942D-914D50CFA602}"/>
              </a:ext>
            </a:extLst>
          </p:cNvPr>
          <p:cNvSpPr/>
          <p:nvPr/>
        </p:nvSpPr>
        <p:spPr bwMode="auto">
          <a:xfrm>
            <a:off x="5447928"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シェイプ</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E4C4D07-0CBB-06D0-974E-CB7228780962}"/>
              </a:ext>
            </a:extLst>
          </p:cNvPr>
          <p:cNvSpPr/>
          <p:nvPr/>
        </p:nvSpPr>
        <p:spPr bwMode="auto">
          <a:xfrm>
            <a:off x="1492440"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画像</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3" name="図 22">
            <a:extLst>
              <a:ext uri="{FF2B5EF4-FFF2-40B4-BE49-F238E27FC236}">
                <a16:creationId xmlns:a16="http://schemas.microsoft.com/office/drawing/2014/main" id="{CCD3F852-975A-2626-48FD-309704D9B027}"/>
              </a:ext>
            </a:extLst>
          </p:cNvPr>
          <p:cNvPicPr>
            <a:picLocks noChangeAspect="1"/>
          </p:cNvPicPr>
          <p:nvPr/>
        </p:nvPicPr>
        <p:blipFill>
          <a:blip r:embed="rId3"/>
          <a:stretch>
            <a:fillRect/>
          </a:stretch>
        </p:blipFill>
        <p:spPr>
          <a:xfrm>
            <a:off x="1494330" y="3140567"/>
            <a:ext cx="3407959" cy="896190"/>
          </a:xfrm>
          <a:prstGeom prst="rect">
            <a:avLst/>
          </a:prstGeom>
        </p:spPr>
      </p:pic>
      <p:pic>
        <p:nvPicPr>
          <p:cNvPr id="28" name="図 27">
            <a:extLst>
              <a:ext uri="{FF2B5EF4-FFF2-40B4-BE49-F238E27FC236}">
                <a16:creationId xmlns:a16="http://schemas.microsoft.com/office/drawing/2014/main" id="{03CD7D6F-C42C-C449-A297-FDD46E8EBD9C}"/>
              </a:ext>
            </a:extLst>
          </p:cNvPr>
          <p:cNvPicPr>
            <a:picLocks noChangeAspect="1"/>
          </p:cNvPicPr>
          <p:nvPr/>
        </p:nvPicPr>
        <p:blipFill>
          <a:blip r:embed="rId4"/>
          <a:stretch>
            <a:fillRect/>
          </a:stretch>
        </p:blipFill>
        <p:spPr>
          <a:xfrm>
            <a:off x="1487488" y="4204781"/>
            <a:ext cx="3407959" cy="890093"/>
          </a:xfrm>
          <a:prstGeom prst="rect">
            <a:avLst/>
          </a:prstGeom>
        </p:spPr>
      </p:pic>
      <p:sp>
        <p:nvSpPr>
          <p:cNvPr id="4" name="正方形/長方形 3">
            <a:extLst>
              <a:ext uri="{FF2B5EF4-FFF2-40B4-BE49-F238E27FC236}">
                <a16:creationId xmlns:a16="http://schemas.microsoft.com/office/drawing/2014/main" id="{307F6B76-74DF-3DF4-341F-7F8F4881E52A}"/>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587BFB88-1EF8-F735-5DBA-C2F73C909ACE}"/>
              </a:ext>
            </a:extLst>
          </p:cNvPr>
          <p:cNvSpPr/>
          <p:nvPr/>
        </p:nvSpPr>
        <p:spPr bwMode="auto">
          <a:xfrm>
            <a:off x="623392" y="1973597"/>
            <a:ext cx="10657184" cy="38437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テーブルシェイプはテーブルごと消去</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31" name="テキスト ボックス 30">
            <a:extLst>
              <a:ext uri="{FF2B5EF4-FFF2-40B4-BE49-F238E27FC236}">
                <a16:creationId xmlns:a16="http://schemas.microsoft.com/office/drawing/2014/main" id="{4E7F8E47-38ED-1C7C-BBD0-CC21579F4B00}"/>
              </a:ext>
            </a:extLst>
          </p:cNvPr>
          <p:cNvSpPr txBox="1"/>
          <p:nvPr/>
        </p:nvSpPr>
        <p:spPr bwMode="auto">
          <a:xfrm>
            <a:off x="739026" y="1123692"/>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テーブルセルに </a:t>
            </a:r>
            <a:r>
              <a:rPr lang="en-US" altLang="ja-JP" kern="0">
                <a:latin typeface="BIZ UDPゴシック" panose="020B0400000000000000" pitchFamily="50" charset="-128"/>
                <a:ea typeface="BIZ UDPゴシック" panose="020B0400000000000000" pitchFamily="50" charset="-128"/>
              </a:rPr>
              <a:t>MEMO, TEMP</a:t>
            </a:r>
            <a:r>
              <a:rPr lang="ja-JP" altLang="en-US" kern="0">
                <a:latin typeface="BIZ UDPゴシック" panose="020B0400000000000000" pitchFamily="50" charset="-128"/>
                <a:ea typeface="BIZ UDPゴシック" panose="020B0400000000000000" pitchFamily="50" charset="-128"/>
              </a:rPr>
              <a:t>マーカーがある場合は、テーブルごと消去されます。</a:t>
            </a:r>
            <a:endParaRPr lang="ja-JP" altLang="en-US">
              <a:latin typeface="BIZ UDPゴシック" panose="020B0400000000000000" pitchFamily="50" charset="-128"/>
              <a:ea typeface="BIZ UDPゴシック" panose="020B0400000000000000" pitchFamily="50" charset="-128"/>
            </a:endParaRPr>
          </a:p>
        </p:txBody>
      </p:sp>
      <p:graphicFrame>
        <p:nvGraphicFramePr>
          <p:cNvPr id="4" name="表 3">
            <a:extLst>
              <a:ext uri="{FF2B5EF4-FFF2-40B4-BE49-F238E27FC236}">
                <a16:creationId xmlns:a16="http://schemas.microsoft.com/office/drawing/2014/main" id="{9871C9F4-4DCA-552F-F9A5-000BC73975DE}"/>
              </a:ext>
            </a:extLst>
          </p:cNvPr>
          <p:cNvGraphicFramePr>
            <a:graphicFrameLocks noGrp="1"/>
          </p:cNvGraphicFramePr>
          <p:nvPr>
            <p:extLst>
              <p:ext uri="{D42A27DB-BD31-4B8C-83A1-F6EECF244321}">
                <p14:modId xmlns:p14="http://schemas.microsoft.com/office/powerpoint/2010/main" val="2694100437"/>
              </p:ext>
            </p:extLst>
          </p:nvPr>
        </p:nvGraphicFramePr>
        <p:xfrm>
          <a:off x="6672064" y="2693374"/>
          <a:ext cx="3744416" cy="1692534"/>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1162850088"/>
                    </a:ext>
                  </a:extLst>
                </a:gridCol>
                <a:gridCol w="1872208">
                  <a:extLst>
                    <a:ext uri="{9D8B030D-6E8A-4147-A177-3AD203B41FA5}">
                      <a16:colId xmlns:a16="http://schemas.microsoft.com/office/drawing/2014/main" val="4024242183"/>
                    </a:ext>
                  </a:extLst>
                </a:gridCol>
              </a:tblGrid>
              <a:tr h="526227">
                <a:tc>
                  <a:txBody>
                    <a:bodyPr/>
                    <a:lstStyle/>
                    <a:p>
                      <a:r>
                        <a:rPr kumimoji="1" lang="ja-JP" altLang="en-US">
                          <a:latin typeface="BIZ UDPゴシック" panose="020B0400000000000000" pitchFamily="50" charset="-128"/>
                          <a:ea typeface="BIZ UDPゴシック" panose="020B0400000000000000" pitchFamily="50" charset="-128"/>
                        </a:rPr>
                        <a:t>夏</a:t>
                      </a:r>
                    </a:p>
                  </a:txBody>
                  <a:tcPr/>
                </a:tc>
                <a:tc>
                  <a:txBody>
                    <a:bodyPr/>
                    <a:lstStyle/>
                    <a:p>
                      <a:r>
                        <a:rPr kumimoji="1" lang="ja-JP" altLang="en-US">
                          <a:latin typeface="BIZ UDPゴシック" panose="020B0400000000000000" pitchFamily="50" charset="-128"/>
                          <a:ea typeface="BIZ UDPゴシック" panose="020B0400000000000000" pitchFamily="50" charset="-128"/>
                        </a:rPr>
                        <a:t>冬</a:t>
                      </a:r>
                    </a:p>
                  </a:txBody>
                  <a:tcPr/>
                </a:tc>
                <a:extLst>
                  <a:ext uri="{0D108BD9-81ED-4DB2-BD59-A6C34878D82A}">
                    <a16:rowId xmlns:a16="http://schemas.microsoft.com/office/drawing/2014/main" val="1975807661"/>
                  </a:ext>
                </a:extLst>
              </a:tr>
              <a:tr h="539728">
                <a:tc>
                  <a:txBody>
                    <a:bodyPr/>
                    <a:lstStyle/>
                    <a:p>
                      <a:r>
                        <a:rPr kumimoji="1" lang="ja-JP" altLang="en-US">
                          <a:latin typeface="BIZ UDPゴシック" panose="020B0400000000000000" pitchFamily="50" charset="-128"/>
                          <a:ea typeface="BIZ UDPゴシック" panose="020B0400000000000000" pitchFamily="50" charset="-128"/>
                        </a:rPr>
                        <a:t>暑い</a:t>
                      </a:r>
                      <a:endParaRPr kumimoji="1" lang="en-US" altLang="ja-JP">
                        <a:latin typeface="BIZ UDPゴシック" panose="020B0400000000000000" pitchFamily="50" charset="-128"/>
                        <a:ea typeface="BIZ UDPゴシック" panose="020B0400000000000000" pitchFamily="50" charset="-128"/>
                      </a:endParaRPr>
                    </a:p>
                    <a:p>
                      <a:r>
                        <a:rPr kumimoji="1" lang="en-US" altLang="ja-JP">
                          <a:latin typeface="BIZ UDPゴシック" panose="020B0400000000000000" pitchFamily="50" charset="-128"/>
                          <a:ea typeface="BIZ UDPゴシック" panose="020B0400000000000000" pitchFamily="50" charset="-128"/>
                        </a:rPr>
                        <a:t>#MEMO#</a:t>
                      </a:r>
                      <a:endParaRPr kumimoji="1" lang="ja-JP" altLang="en-US">
                        <a:latin typeface="BIZ UDPゴシック" panose="020B0400000000000000" pitchFamily="50" charset="-128"/>
                        <a:ea typeface="BIZ UDPゴシック" panose="020B0400000000000000" pitchFamily="50" charset="-128"/>
                      </a:endParaRPr>
                    </a:p>
                  </a:txBody>
                  <a:tcPr/>
                </a:tc>
                <a:tc>
                  <a:txBody>
                    <a:bodyPr/>
                    <a:lstStyle/>
                    <a:p>
                      <a:r>
                        <a:rPr kumimoji="1" lang="ja-JP" altLang="en-US">
                          <a:latin typeface="BIZ UDPゴシック" panose="020B0400000000000000" pitchFamily="50" charset="-128"/>
                          <a:ea typeface="BIZ UDPゴシック" panose="020B0400000000000000" pitchFamily="50" charset="-128"/>
                        </a:rPr>
                        <a:t>寒い</a:t>
                      </a:r>
                    </a:p>
                  </a:txBody>
                  <a:tcPr/>
                </a:tc>
                <a:extLst>
                  <a:ext uri="{0D108BD9-81ED-4DB2-BD59-A6C34878D82A}">
                    <a16:rowId xmlns:a16="http://schemas.microsoft.com/office/drawing/2014/main" val="1954257988"/>
                  </a:ext>
                </a:extLst>
              </a:tr>
              <a:tr h="526227">
                <a:tc>
                  <a:txBody>
                    <a:bodyPr/>
                    <a:lstStyle/>
                    <a:p>
                      <a:r>
                        <a:rPr kumimoji="1" lang="ja-JP" altLang="en-US">
                          <a:latin typeface="BIZ UDPゴシック" panose="020B0400000000000000" pitchFamily="50" charset="-128"/>
                          <a:ea typeface="BIZ UDPゴシック" panose="020B0400000000000000" pitchFamily="50" charset="-128"/>
                        </a:rPr>
                        <a:t>水泳</a:t>
                      </a:r>
                    </a:p>
                  </a:txBody>
                  <a:tcPr/>
                </a:tc>
                <a:tc>
                  <a:txBody>
                    <a:bodyPr/>
                    <a:lstStyle/>
                    <a:p>
                      <a:r>
                        <a:rPr kumimoji="1" lang="ja-JP" altLang="en-US">
                          <a:latin typeface="BIZ UDPゴシック" panose="020B0400000000000000" pitchFamily="50" charset="-128"/>
                          <a:ea typeface="BIZ UDPゴシック" panose="020B0400000000000000" pitchFamily="50" charset="-128"/>
                        </a:rPr>
                        <a:t>スキー</a:t>
                      </a:r>
                    </a:p>
                  </a:txBody>
                  <a:tcPr/>
                </a:tc>
                <a:extLst>
                  <a:ext uri="{0D108BD9-81ED-4DB2-BD59-A6C34878D82A}">
                    <a16:rowId xmlns:a16="http://schemas.microsoft.com/office/drawing/2014/main" val="3572682426"/>
                  </a:ext>
                </a:extLst>
              </a:tr>
            </a:tbl>
          </a:graphicData>
        </a:graphic>
      </p:graphicFrame>
      <p:sp>
        <p:nvSpPr>
          <p:cNvPr id="6" name="テキスト ボックス 5">
            <a:extLst>
              <a:ext uri="{FF2B5EF4-FFF2-40B4-BE49-F238E27FC236}">
                <a16:creationId xmlns:a16="http://schemas.microsoft.com/office/drawing/2014/main" id="{509D25A0-2FC7-5843-BBCA-BE851C91FA5C}"/>
              </a:ext>
            </a:extLst>
          </p:cNvPr>
          <p:cNvSpPr txBox="1"/>
          <p:nvPr/>
        </p:nvSpPr>
        <p:spPr bwMode="auto">
          <a:xfrm>
            <a:off x="2999656" y="2151043"/>
            <a:ext cx="1315576" cy="363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画像</a:t>
            </a:r>
            <a:endParaRPr lang="ja-JP" altLang="en-US">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B54B733-23DD-1478-51A2-BEC6912A1645}"/>
              </a:ext>
            </a:extLst>
          </p:cNvPr>
          <p:cNvSpPr txBox="1"/>
          <p:nvPr/>
        </p:nvSpPr>
        <p:spPr bwMode="auto">
          <a:xfrm>
            <a:off x="7392144" y="2151043"/>
            <a:ext cx="2330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テーブルシェイプ</a:t>
            </a:r>
            <a:endParaRPr lang="ja-JP" altLang="en-US">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44539CF-9F10-06F7-695A-8BB35A22BE9F}"/>
              </a:ext>
            </a:extLst>
          </p:cNvPr>
          <p:cNvSpPr txBox="1"/>
          <p:nvPr/>
        </p:nvSpPr>
        <p:spPr bwMode="auto">
          <a:xfrm>
            <a:off x="6672064" y="4585196"/>
            <a:ext cx="374441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一部のセルにのみ </a:t>
            </a:r>
            <a:r>
              <a:rPr lang="en-US" altLang="ja-JP" kern="0">
                <a:latin typeface="BIZ UDPゴシック" panose="020B0400000000000000" pitchFamily="50" charset="-128"/>
                <a:ea typeface="BIZ UDPゴシック" panose="020B0400000000000000" pitchFamily="50" charset="-128"/>
              </a:rPr>
              <a:t>MEMO</a:t>
            </a:r>
            <a:r>
              <a:rPr lang="ja-JP" altLang="en-US" kern="0">
                <a:latin typeface="BIZ UDPゴシック" panose="020B0400000000000000" pitchFamily="50" charset="-128"/>
                <a:ea typeface="BIZ UDPゴシック" panose="020B0400000000000000" pitchFamily="50" charset="-128"/>
              </a:rPr>
              <a:t>マーカーがありますが、テーブルごと消去されます</a:t>
            </a:r>
            <a:endParaRPr lang="ja-JP" altLang="en-US">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F2037968-70FC-3854-F639-3DA061F326F0}"/>
              </a:ext>
            </a:extLst>
          </p:cNvPr>
          <p:cNvPicPr>
            <a:picLocks noChangeAspect="1"/>
          </p:cNvPicPr>
          <p:nvPr/>
        </p:nvPicPr>
        <p:blipFill>
          <a:blip r:embed="rId3"/>
          <a:stretch>
            <a:fillRect/>
          </a:stretch>
        </p:blipFill>
        <p:spPr>
          <a:xfrm>
            <a:off x="1415480" y="2670885"/>
            <a:ext cx="3779848" cy="1737511"/>
          </a:xfrm>
          <a:prstGeom prst="rect">
            <a:avLst/>
          </a:prstGeom>
        </p:spPr>
      </p:pic>
      <p:sp>
        <p:nvSpPr>
          <p:cNvPr id="5" name="正方形/長方形 4">
            <a:extLst>
              <a:ext uri="{FF2B5EF4-FFF2-40B4-BE49-F238E27FC236}">
                <a16:creationId xmlns:a16="http://schemas.microsoft.com/office/drawing/2014/main" id="{1A0DD82D-AEF8-9E98-D694-05CD49F206AC}"/>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05609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29425</TotalTime>
  <Words>819</Words>
  <Application>Microsoft Office PowerPoint</Application>
  <PresentationFormat>ワイド画面</PresentationFormat>
  <Paragraphs>163</Paragraphs>
  <Slides>3</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vt:i4>
      </vt:variant>
    </vt:vector>
  </HeadingPairs>
  <TitlesOfParts>
    <vt:vector size="9" baseType="lpstr">
      <vt:lpstr>BIZ UDPゴシック</vt:lpstr>
      <vt:lpstr>FOT-UD丸ゴ_ラージ Pr6 M</vt:lpstr>
      <vt:lpstr>Arial</vt:lpstr>
      <vt:lpstr>Garamond</vt:lpstr>
      <vt:lpstr>Wingdings</vt:lpstr>
      <vt:lpstr>Edge</vt:lpstr>
      <vt:lpstr>作業用のメモを書く</vt:lpstr>
      <vt:lpstr>MEMO, TEMP サンプル</vt:lpstr>
      <vt:lpstr>テーブルシェイプはテーブルごと消去</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4088</cp:revision>
  <dcterms:modified xsi:type="dcterms:W3CDTF">2026-05-24T03:24:24Z</dcterms:modified>
</cp:coreProperties>
</file>