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5"/>
  </p:notesMasterIdLst>
  <p:sldIdLst>
    <p:sldId id="1788" r:id="rId2"/>
    <p:sldId id="1787" r:id="rId3"/>
    <p:sldId id="1789" r:id="rId4"/>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CC"/>
    <a:srgbClr val="FFCCFF"/>
    <a:srgbClr val="CCECFF"/>
    <a:srgbClr val="FFFF00"/>
    <a:srgbClr val="FF6347"/>
    <a:srgbClr val="FF9933"/>
    <a:srgbClr val="CC66FF"/>
    <a:srgbClr val="E34234"/>
    <a:srgbClr val="292929"/>
    <a:srgbClr val="FF7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69451" autoAdjust="0"/>
  </p:normalViewPr>
  <p:slideViewPr>
    <p:cSldViewPr>
      <p:cViewPr varScale="1">
        <p:scale>
          <a:sx n="78" d="100"/>
          <a:sy n="78" d="100"/>
        </p:scale>
        <p:origin x="924"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2026/6/6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extracted/figures/memo_temp_guide_slide1_fig.png</a:t>
            </a:r>
          </a:p>
          <a:p>
            <a:endParaRPr/>
          </a:p>
          <a:p>
            <a:r>
              <a:t>===BLOCK===</a:t>
            </a:r>
          </a:p>
          <a:p>
            <a:r>
              <a:t>{{BLOCK:IMAGE}}</a:t>
            </a:r>
          </a:p>
          <a:p>
            <a:endParaRPr/>
          </a:p>
          <a:p>
            <a:r>
              <a:t>export-image-mode: slide_with_rectpct</a:t>
            </a:r>
          </a:p>
          <a:p>
            <a:r>
              <a:t>export-image-target: keyvisual</a:t>
            </a:r>
          </a:p>
          <a:p>
            <a:r>
              <a:t>export-image: extracted/figures/memo_temp_guide_keyvisual.png</a:t>
            </a:r>
          </a:p>
          <a:p>
            <a:endParaRPr/>
          </a:p>
          <a:p>
            <a:r>
              <a:t>===BLOCK===</a:t>
            </a:r>
          </a:p>
          <a:p>
            <a:r>
              <a:t>{{BLOCK:MD:LONG}}</a:t>
            </a:r>
          </a:p>
          <a:p>
            <a:endParaRPr/>
          </a:p>
          <a:p>
            <a:r>
              <a:t>export-note: extracted/memo_temp_guide_slide1_md.md</a:t>
            </a:r>
          </a:p>
          <a:p>
            <a:r>
              <a:t>{{#id:section:memo_temp_guide:slide1}}</a:t>
            </a:r>
          </a:p>
          <a:p>
            <a:r>
              <a:t>## 作業用のメモを書く</a:t>
            </a:r>
          </a:p>
          <a:p>
            <a:endParaRPr/>
          </a:p>
          <a:p>
            <a:r>
              <a:t>長い研修テキストの制作中には、 「とりあえずたたき台を書いておくけど、必ず直前に最終確認しろ！」 というような事項がどうしても出てくるものです。 紙の資料なら付箋紙を貼るところですがデジタル文書ではそれができない。 そこでパワポ資料では付箋紙代わりに目立つ図形にそうした注意書きを書いて残しておいたりしますが、これは本番資料からは必ず削除しなければならないもの。</a:t>
            </a:r>
          </a:p>
          <a:p>
            <a:endParaRPr/>
          </a:p>
          <a:p>
            <a:r>
              <a:t>ところが・・・そう、残ってしまうことがあるんですね。</a:t>
            </a:r>
          </a:p>
          <a:p>
            <a:endParaRPr/>
          </a:p>
          <a:p>
            <a:r>
              <a:t>そこで、MEMO/TEMPマーカーです。 #MEMO# または #TEMP# という文字列を含むシェイプは deletecsp に関係なく必ず削除されます。</a:t>
            </a:r>
          </a:p>
          <a:p>
            <a:endParaRPr/>
          </a:p>
          <a:p>
            <a:r>
              <a:t>MEMO、TEMP の動作は同じです。</a:t>
            </a:r>
          </a:p>
          <a:p>
            <a:endParaRPr/>
          </a:p>
          <a:p>
            <a:r>
              <a:t>結合指示書への記入は不要です。</a:t>
            </a:r>
          </a:p>
          <a:p>
            <a:endParaRPr/>
          </a:p>
          <a:p>
            <a:endParaRPr/>
          </a:p>
          <a:p>
            <a:r>
              <a:t>```{=latex}</a:t>
            </a:r>
          </a:p>
          <a:p>
            <a:r>
              <a:t>\par\vspace{1\baselineskip}</a:t>
            </a:r>
          </a:p>
          <a:p>
            <a:r>
              <a:t>\begin{center}</a:t>
            </a:r>
          </a:p>
          <a:p>
            <a:r>
              <a:t>```</a:t>
            </a:r>
          </a:p>
          <a:p>
            <a:endParaRPr/>
          </a:p>
          <a:p>
            <a:r>
              <a:t>![](figures/memo_temp_guide_slide1_fig.png){ width=95% }</a:t>
            </a:r>
          </a:p>
          <a:p>
            <a:endParaRPr/>
          </a:p>
          <a:p>
            <a:r>
              <a:t>![](figures/memo_temp_guide_keyvisual.png){ width=90% }</a:t>
            </a:r>
          </a:p>
          <a:p>
            <a:endParaRPr/>
          </a:p>
          <a:p>
            <a:endParaRPr/>
          </a:p>
          <a:p>
            <a:r>
              <a:t>```{=latex}</a:t>
            </a:r>
          </a:p>
          <a:p>
            <a:r>
              <a:t>\end{center}</a:t>
            </a:r>
          </a:p>
          <a:p>
            <a:r>
              <a:t>\par\vspace{1\baselineskip}</a:t>
            </a:r>
          </a:p>
          <a:p>
            <a:r>
              <a:t>```</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328287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extracted/figures/memo_temp_guide_slide2_fig.png</a:t>
            </a:r>
          </a:p>
          <a:p>
            <a:endParaRPr/>
          </a:p>
          <a:p>
            <a:r>
              <a:t>===BLOCK===</a:t>
            </a:r>
          </a:p>
          <a:p>
            <a:r>
              <a:t>{{BLOCK:MD:LONG}}</a:t>
            </a:r>
          </a:p>
          <a:p>
            <a:endParaRPr/>
          </a:p>
          <a:p>
            <a:r>
              <a:t>export-note: extracted/memo_temp_guide_slide2_md.md</a:t>
            </a:r>
          </a:p>
          <a:p>
            <a:r>
              <a:t>{{#id:section:memo_temp_guide:slide2}}</a:t>
            </a:r>
          </a:p>
          <a:p>
            <a:r>
              <a:t>## MEMO, TEMP サンプル</a:t>
            </a:r>
          </a:p>
          <a:p>
            <a:endParaRPr/>
          </a:p>
          <a:p>
            <a:r>
              <a:t>下記の 「シェイプ」は無条件で消去されます。画像は残ります。</a:t>
            </a:r>
          </a:p>
          <a:p>
            <a:r>
              <a:t>（PDFファイル中では両方とも残って見えますが、マージされた .pptx からは削除されます）</a:t>
            </a:r>
          </a:p>
          <a:p>
            <a:endParaRPr/>
          </a:p>
          <a:p>
            <a:r>
              <a:t>```{=latex}</a:t>
            </a:r>
          </a:p>
          <a:p>
            <a:r>
              <a:t>\par\vspace{1\baselineskip}</a:t>
            </a:r>
          </a:p>
          <a:p>
            <a:r>
              <a:t>\begin{center}</a:t>
            </a:r>
          </a:p>
          <a:p>
            <a:r>
              <a:t>```</a:t>
            </a:r>
          </a:p>
          <a:p>
            <a:endParaRPr/>
          </a:p>
          <a:p>
            <a:r>
              <a:t>![](figures/memo_temp_guide_slide2_fig.png){ width=95% }</a:t>
            </a:r>
          </a:p>
          <a:p>
            <a:endParaRPr/>
          </a:p>
          <a:p>
            <a:r>
              <a:t>```{=latex}</a:t>
            </a:r>
          </a:p>
          <a:p>
            <a:r>
              <a:t>\end{center}</a:t>
            </a:r>
          </a:p>
          <a:p>
            <a:r>
              <a:t>\par\vspace{1\baselineskip}</a:t>
            </a:r>
          </a:p>
          <a:p>
            <a:r>
              <a:t>```</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4178194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extracted/figures/memo_temp_guide_slide3_fig.png</a:t>
            </a:r>
          </a:p>
          <a:p>
            <a:endParaRPr/>
          </a:p>
          <a:p>
            <a:r>
              <a:t>===BLOCK===</a:t>
            </a:r>
          </a:p>
          <a:p>
            <a:r>
              <a:t>{{BLOCK:MD:LONG}}</a:t>
            </a:r>
          </a:p>
          <a:p>
            <a:endParaRPr/>
          </a:p>
          <a:p>
            <a:r>
              <a:t>export-note: extracted/memo_temp_guide_slide3_md.md</a:t>
            </a:r>
          </a:p>
          <a:p>
            <a:r>
              <a:t>{{#id:section:memo_temp_guide:slide3}}</a:t>
            </a:r>
          </a:p>
          <a:p>
            <a:r>
              <a:t>## テーブルシェイプはテーブルごと消去</a:t>
            </a:r>
          </a:p>
          <a:p>
            <a:endParaRPr/>
          </a:p>
          <a:p>
            <a:r>
              <a:t>テーブルセルに MEMO, TEMPマーカーがある場合は、テーブルごと消去されます。</a:t>
            </a:r>
          </a:p>
          <a:p>
            <a:r>
              <a:t>（PDFファイル中では両方とも残って見えますが、マージされた .pptx からは削除されます）</a:t>
            </a:r>
          </a:p>
          <a:p>
            <a:endParaRPr/>
          </a:p>
          <a:p>
            <a:r>
              <a:t>```{=latex}</a:t>
            </a:r>
          </a:p>
          <a:p>
            <a:r>
              <a:t>\par\vspace{1\baselineskip}</a:t>
            </a:r>
          </a:p>
          <a:p>
            <a:r>
              <a:t>\begin{center}</a:t>
            </a:r>
          </a:p>
          <a:p>
            <a:r>
              <a:t>```</a:t>
            </a:r>
          </a:p>
          <a:p>
            <a:endParaRPr/>
          </a:p>
          <a:p>
            <a:r>
              <a:t>![](figures/memo_temp_guide_slide3_fig.png){ width=95% }</a:t>
            </a:r>
          </a:p>
          <a:p>
            <a:endParaRPr/>
          </a:p>
          <a:p>
            <a:r>
              <a:t>```{=latex}</a:t>
            </a:r>
          </a:p>
          <a:p>
            <a:r>
              <a:t>\end{center}</a:t>
            </a:r>
          </a:p>
          <a:p>
            <a:r>
              <a:t>\par\vspace{1\baselineskip}</a:t>
            </a:r>
          </a:p>
          <a:p>
            <a:r>
              <a:t>```</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3961337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xportrange">
            <a:extLst>
              <a:ext uri="{FF2B5EF4-FFF2-40B4-BE49-F238E27FC236}">
                <a16:creationId xmlns:a16="http://schemas.microsoft.com/office/drawing/2014/main" id="{582D25F4-9BD9-F5E5-58F6-7D366BBB835C}"/>
              </a:ext>
            </a:extLst>
          </p:cNvPr>
          <p:cNvSpPr/>
          <p:nvPr/>
        </p:nvSpPr>
        <p:spPr bwMode="auto">
          <a:xfrm>
            <a:off x="623392" y="915304"/>
            <a:ext cx="10657184" cy="281369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 name="keyvisual">
            <a:extLst>
              <a:ext uri="{FF2B5EF4-FFF2-40B4-BE49-F238E27FC236}">
                <a16:creationId xmlns:a16="http://schemas.microsoft.com/office/drawing/2014/main" id="{D68B3CA3-4042-6DC7-3FBA-8D170CB0FA85}"/>
              </a:ext>
            </a:extLst>
          </p:cNvPr>
          <p:cNvSpPr/>
          <p:nvPr/>
        </p:nvSpPr>
        <p:spPr bwMode="auto">
          <a:xfrm>
            <a:off x="1035727" y="3784399"/>
            <a:ext cx="10028826" cy="2852281"/>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ja-JP" altLang="en-US"/>
              <a:t>作業用のメモを書く</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memo_temp_recipe.yaml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17537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.pptx </a:t>
            </a:r>
            <a:r>
              <a:rPr kumimoji="1" lang="ja-JP" altLang="en-US" sz="1600" kern="0">
                <a:latin typeface="BIZ UDPゴシック" panose="020B0400000000000000" pitchFamily="50" charset="-128"/>
                <a:ea typeface="BIZ UDPゴシック" panose="020B0400000000000000" pitchFamily="50" charset="-128"/>
              </a:rPr>
              <a:t>ファイル中の一部のシェイプ</a:t>
            </a:r>
            <a:r>
              <a:rPr kumimoji="1" lang="en-US" altLang="ja-JP" sz="1600" kern="0">
                <a:latin typeface="BIZ UDPゴシック" panose="020B0400000000000000" pitchFamily="50" charset="-128"/>
                <a:ea typeface="BIZ UDPゴシック" panose="020B0400000000000000" pitchFamily="50" charset="-128"/>
              </a:rPr>
              <a:t>(</a:t>
            </a:r>
            <a:r>
              <a:rPr kumimoji="1" lang="ja-JP" altLang="en-US" sz="1600" kern="0">
                <a:latin typeface="BIZ UDPゴシック" panose="020B0400000000000000" pitchFamily="50" charset="-128"/>
                <a:ea typeface="BIZ UDPゴシック" panose="020B0400000000000000" pitchFamily="50" charset="-128"/>
              </a:rPr>
              <a:t>図形）を無条件に一括消去する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600">
                <a:latin typeface="BIZ UDPゴシック" panose="020B0400000000000000" pitchFamily="50" charset="-128"/>
                <a:ea typeface="BIZ UDPゴシック" panose="020B0400000000000000" pitchFamily="50" charset="-128"/>
              </a:rPr>
              <a:t>memo_temp_guide.pptx</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"memo", "temp"</a:t>
            </a:r>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F73B6D62-BDC9-6F7C-180D-CB981C27FAC5}"/>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F6602273-ABE3-64F1-05A5-0BAA2D0ED607}"/>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pm10_memo_temp</a:t>
            </a:r>
          </a:p>
        </p:txBody>
      </p:sp>
      <p:sp>
        <p:nvSpPr>
          <p:cNvPr id="50" name="テキスト ボックス 49">
            <a:extLst>
              <a:ext uri="{FF2B5EF4-FFF2-40B4-BE49-F238E27FC236}">
                <a16:creationId xmlns:a16="http://schemas.microsoft.com/office/drawing/2014/main" id="{82228F74-F580-3895-96FF-5E2FD4895E1D}"/>
              </a:ext>
            </a:extLst>
          </p:cNvPr>
          <p:cNvSpPr txBox="1"/>
          <p:nvPr/>
        </p:nvSpPr>
        <p:spPr bwMode="auto">
          <a:xfrm>
            <a:off x="739026" y="2780928"/>
            <a:ext cx="1070914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ja-JP" sz="1800" kern="0">
                <a:latin typeface="BIZ UDPゴシック" panose="020B0400000000000000" pitchFamily="50" charset="-128"/>
                <a:ea typeface="BIZ UDPゴシック" panose="020B0400000000000000" pitchFamily="50" charset="-128"/>
              </a:rPr>
              <a:t>MEMO</a:t>
            </a:r>
            <a:r>
              <a:rPr kumimoji="1" lang="ja-JP" altLang="en-US" sz="1800" kern="0">
                <a:latin typeface="BIZ UDPゴシック" panose="020B0400000000000000" pitchFamily="50" charset="-128"/>
                <a:ea typeface="BIZ UDPゴシック" panose="020B0400000000000000" pitchFamily="50" charset="-128"/>
              </a:rPr>
              <a:t>マーカー、</a:t>
            </a:r>
            <a:r>
              <a:rPr kumimoji="1" lang="en-US" altLang="ja-JP" sz="1800" kern="0">
                <a:latin typeface="BIZ UDPゴシック" panose="020B0400000000000000" pitchFamily="50" charset="-128"/>
                <a:ea typeface="BIZ UDPゴシック" panose="020B0400000000000000" pitchFamily="50" charset="-128"/>
              </a:rPr>
              <a:t>TEMP</a:t>
            </a:r>
            <a:r>
              <a:rPr kumimoji="1" lang="ja-JP" altLang="en-US" sz="1800" kern="0">
                <a:latin typeface="BIZ UDPゴシック" panose="020B0400000000000000" pitchFamily="50" charset="-128"/>
                <a:ea typeface="BIZ UDPゴシック" panose="020B0400000000000000" pitchFamily="50" charset="-128"/>
              </a:rPr>
              <a:t>マーカーを記入したシェイプは無条件に一括削除されます。</a:t>
            </a:r>
            <a:endParaRPr kumimoji="1" lang="en-US" altLang="ja-JP" sz="1800" kern="0">
              <a:latin typeface="BIZ UDPゴシック" panose="020B0400000000000000" pitchFamily="50" charset="-128"/>
              <a:ea typeface="BIZ UDPゴシック" panose="020B0400000000000000" pitchFamily="50" charset="-128"/>
            </a:endParaRPr>
          </a:p>
          <a:p>
            <a:r>
              <a:rPr lang="en-US" altLang="ja-JP" sz="1800" kern="0">
                <a:latin typeface="BIZ UDPゴシック" panose="020B0400000000000000" pitchFamily="50" charset="-128"/>
                <a:ea typeface="BIZ UDPゴシック" panose="020B0400000000000000" pitchFamily="50" charset="-128"/>
              </a:rPr>
              <a:t>CSP</a:t>
            </a:r>
            <a:r>
              <a:rPr lang="ja-JP" altLang="en-US" sz="1800" kern="0">
                <a:latin typeface="BIZ UDPゴシック" panose="020B0400000000000000" pitchFamily="50" charset="-128"/>
                <a:ea typeface="BIZ UDPゴシック" panose="020B0400000000000000" pitchFamily="50" charset="-128"/>
              </a:rPr>
              <a:t>マーカーに似た機能ですが、</a:t>
            </a:r>
            <a:r>
              <a:rPr lang="en-US" altLang="ja-JP" sz="1800" kern="0">
                <a:latin typeface="BIZ UDPゴシック" panose="020B0400000000000000" pitchFamily="50" charset="-128"/>
                <a:ea typeface="BIZ UDPゴシック" panose="020B0400000000000000" pitchFamily="50" charset="-128"/>
              </a:rPr>
              <a:t>deletecsp </a:t>
            </a:r>
            <a:r>
              <a:rPr lang="ja-JP" altLang="en-US" sz="1800" kern="0">
                <a:latin typeface="BIZ UDPゴシック" panose="020B0400000000000000" pitchFamily="50" charset="-128"/>
                <a:ea typeface="BIZ UDPゴシック" panose="020B0400000000000000" pitchFamily="50" charset="-128"/>
              </a:rPr>
              <a:t>オプションに影響されません。</a:t>
            </a:r>
            <a:endParaRPr lang="en-US" altLang="ja-JP" sz="1800" kern="0">
              <a:latin typeface="BIZ UDPゴシック" panose="020B0400000000000000" pitchFamily="50" charset="-128"/>
              <a:ea typeface="BIZ UDPゴシック" panose="020B0400000000000000" pitchFamily="50" charset="-128"/>
            </a:endParaRPr>
          </a:p>
          <a:p>
            <a:r>
              <a:rPr lang="ja-JP" altLang="en-US" sz="1800">
                <a:latin typeface="BIZ UDPゴシック" panose="020B0400000000000000" pitchFamily="50" charset="-128"/>
                <a:ea typeface="BIZ UDPゴシック" panose="020B0400000000000000" pitchFamily="50" charset="-128"/>
              </a:rPr>
              <a:t>原稿制作中の一時的メモなど、 「後で見直す部分に貼っておく付箋紙」 のような用途に使います。</a:t>
            </a:r>
          </a:p>
        </p:txBody>
      </p:sp>
      <p:sp>
        <p:nvSpPr>
          <p:cNvPr id="6" name="テキスト ボックス 5">
            <a:extLst>
              <a:ext uri="{FF2B5EF4-FFF2-40B4-BE49-F238E27FC236}">
                <a16:creationId xmlns:a16="http://schemas.microsoft.com/office/drawing/2014/main" id="{BC285036-B1C2-6C5C-833C-B75FCC62241C}"/>
              </a:ext>
            </a:extLst>
          </p:cNvPr>
          <p:cNvSpPr txBox="1"/>
          <p:nvPr/>
        </p:nvSpPr>
        <p:spPr bwMode="auto">
          <a:xfrm>
            <a:off x="4614333" y="5936563"/>
            <a:ext cx="443324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ja-JP" sz="2000" kern="0">
                <a:latin typeface="BIZ UDPゴシック" panose="020B0400000000000000" pitchFamily="50" charset="-128"/>
                <a:ea typeface="BIZ UDPゴシック" panose="020B0400000000000000" pitchFamily="50" charset="-128"/>
              </a:rPr>
              <a:t>MEMO</a:t>
            </a:r>
            <a:r>
              <a:rPr kumimoji="1" lang="ja-JP" altLang="en-US" sz="2000" kern="0">
                <a:latin typeface="BIZ UDPゴシック" panose="020B0400000000000000" pitchFamily="50" charset="-128"/>
                <a:ea typeface="BIZ UDPゴシック" panose="020B0400000000000000" pitchFamily="50" charset="-128"/>
              </a:rPr>
              <a:t>、</a:t>
            </a:r>
            <a:r>
              <a:rPr kumimoji="1" lang="en-US" altLang="ja-JP" sz="2000" kern="0">
                <a:latin typeface="BIZ UDPゴシック" panose="020B0400000000000000" pitchFamily="50" charset="-128"/>
                <a:ea typeface="BIZ UDPゴシック" panose="020B0400000000000000" pitchFamily="50" charset="-128"/>
              </a:rPr>
              <a:t>TEMP </a:t>
            </a:r>
            <a:r>
              <a:rPr kumimoji="1" lang="ja-JP" altLang="en-US" sz="2000" kern="0">
                <a:latin typeface="BIZ UDPゴシック" panose="020B0400000000000000" pitchFamily="50" charset="-128"/>
                <a:ea typeface="BIZ UDPゴシック" panose="020B0400000000000000" pitchFamily="50" charset="-128"/>
              </a:rPr>
              <a:t>の動作は同じです。</a:t>
            </a:r>
            <a:endParaRPr kumimoji="1" lang="en-US" altLang="ja-JP" sz="2000" kern="0">
              <a:latin typeface="BIZ UDPゴシック" panose="020B0400000000000000" pitchFamily="50" charset="-128"/>
              <a:ea typeface="BIZ UDPゴシック" panose="020B0400000000000000" pitchFamily="50" charset="-128"/>
            </a:endParaRPr>
          </a:p>
          <a:p>
            <a:r>
              <a:rPr lang="ja-JP" altLang="en-US">
                <a:latin typeface="BIZ UDPゴシック" panose="020B0400000000000000" pitchFamily="50" charset="-128"/>
                <a:ea typeface="BIZ UDPゴシック" panose="020B0400000000000000" pitchFamily="50" charset="-128"/>
              </a:rPr>
              <a:t>結合指示書への記入は不要です。</a:t>
            </a:r>
          </a:p>
        </p:txBody>
      </p:sp>
      <p:grpSp>
        <p:nvGrpSpPr>
          <p:cNvPr id="7" name="グループ化 6">
            <a:extLst>
              <a:ext uri="{FF2B5EF4-FFF2-40B4-BE49-F238E27FC236}">
                <a16:creationId xmlns:a16="http://schemas.microsoft.com/office/drawing/2014/main" id="{1F440B66-D626-EFF9-352A-A45F4972F789}"/>
              </a:ext>
            </a:extLst>
          </p:cNvPr>
          <p:cNvGrpSpPr/>
          <p:nvPr/>
        </p:nvGrpSpPr>
        <p:grpSpPr>
          <a:xfrm>
            <a:off x="1127448" y="3933056"/>
            <a:ext cx="3024335" cy="1838902"/>
            <a:chOff x="911424" y="3163721"/>
            <a:chExt cx="3456383" cy="2104181"/>
          </a:xfrm>
        </p:grpSpPr>
        <p:sp>
          <p:nvSpPr>
            <p:cNvPr id="9" name="正方形/長方形 8">
              <a:extLst>
                <a:ext uri="{FF2B5EF4-FFF2-40B4-BE49-F238E27FC236}">
                  <a16:creationId xmlns:a16="http://schemas.microsoft.com/office/drawing/2014/main" id="{39BE0CE7-29AE-9169-C706-B1E7808BD21A}"/>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6032D9A6-F8F4-6135-9BB1-0D603CA4378F}"/>
                </a:ext>
              </a:extLst>
            </p:cNvPr>
            <p:cNvSpPr/>
            <p:nvPr/>
          </p:nvSpPr>
          <p:spPr bwMode="auto">
            <a:xfrm>
              <a:off x="1081286" y="3717032"/>
              <a:ext cx="2888191" cy="13751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p:txBody>
        </p:sp>
      </p:grpSp>
      <p:sp>
        <p:nvSpPr>
          <p:cNvPr id="11" name="テキスト ボックス 10">
            <a:extLst>
              <a:ext uri="{FF2B5EF4-FFF2-40B4-BE49-F238E27FC236}">
                <a16:creationId xmlns:a16="http://schemas.microsoft.com/office/drawing/2014/main" id="{26BDBE66-0FED-B986-2DDF-978B3D8C18AE}"/>
              </a:ext>
            </a:extLst>
          </p:cNvPr>
          <p:cNvSpPr txBox="1"/>
          <p:nvPr/>
        </p:nvSpPr>
        <p:spPr bwMode="auto">
          <a:xfrm>
            <a:off x="5159145" y="4450918"/>
            <a:ext cx="2326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必ず削除される</a:t>
            </a:r>
          </a:p>
        </p:txBody>
      </p:sp>
      <p:sp>
        <p:nvSpPr>
          <p:cNvPr id="12" name="テキスト ボックス 11">
            <a:extLst>
              <a:ext uri="{FF2B5EF4-FFF2-40B4-BE49-F238E27FC236}">
                <a16:creationId xmlns:a16="http://schemas.microsoft.com/office/drawing/2014/main" id="{E2F3CB95-0B47-F49A-AE2E-D34A0D53CB23}"/>
              </a:ext>
            </a:extLst>
          </p:cNvPr>
          <p:cNvSpPr txBox="1"/>
          <p:nvPr/>
        </p:nvSpPr>
        <p:spPr bwMode="auto">
          <a:xfrm>
            <a:off x="1985261" y="6049654"/>
            <a:ext cx="37444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シェイプ削除マーカー</a:t>
            </a:r>
          </a:p>
        </p:txBody>
      </p:sp>
      <p:grpSp>
        <p:nvGrpSpPr>
          <p:cNvPr id="15" name="グループ化 14">
            <a:extLst>
              <a:ext uri="{FF2B5EF4-FFF2-40B4-BE49-F238E27FC236}">
                <a16:creationId xmlns:a16="http://schemas.microsoft.com/office/drawing/2014/main" id="{A8DBA347-553B-FF02-B31E-2CCB3D533124}"/>
              </a:ext>
            </a:extLst>
          </p:cNvPr>
          <p:cNvGrpSpPr/>
          <p:nvPr/>
        </p:nvGrpSpPr>
        <p:grpSpPr>
          <a:xfrm>
            <a:off x="7947652" y="3933056"/>
            <a:ext cx="3024335" cy="1838902"/>
            <a:chOff x="911424" y="3163721"/>
            <a:chExt cx="3456383" cy="2104181"/>
          </a:xfrm>
        </p:grpSpPr>
        <p:sp>
          <p:nvSpPr>
            <p:cNvPr id="16" name="正方形/長方形 15">
              <a:extLst>
                <a:ext uri="{FF2B5EF4-FFF2-40B4-BE49-F238E27FC236}">
                  <a16:creationId xmlns:a16="http://schemas.microsoft.com/office/drawing/2014/main" id="{5C14F6AD-E308-0DFA-F64B-DB77A73C03EF}"/>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74BF1C74-BACB-451F-1FE1-97182E84E4F0}"/>
                </a:ext>
              </a:extLst>
            </p:cNvPr>
            <p:cNvSpPr/>
            <p:nvPr/>
          </p:nvSpPr>
          <p:spPr bwMode="auto">
            <a:xfrm>
              <a:off x="1081286" y="3717032"/>
              <a:ext cx="2888191" cy="13751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p:txBody>
        </p:sp>
      </p:grpSp>
      <p:cxnSp>
        <p:nvCxnSpPr>
          <p:cNvPr id="18" name="直線矢印コネクタ 17">
            <a:extLst>
              <a:ext uri="{FF2B5EF4-FFF2-40B4-BE49-F238E27FC236}">
                <a16:creationId xmlns:a16="http://schemas.microsoft.com/office/drawing/2014/main" id="{FCB2BB64-03AB-91F2-55B2-0E111C7FBE47}"/>
              </a:ext>
            </a:extLst>
          </p:cNvPr>
          <p:cNvCxnSpPr>
            <a:stCxn id="9" idx="3"/>
            <a:endCxn id="16" idx="1"/>
          </p:cNvCxnSpPr>
          <p:nvPr/>
        </p:nvCxnSpPr>
        <p:spPr bwMode="auto">
          <a:xfrm>
            <a:off x="4151783" y="4852507"/>
            <a:ext cx="3795869"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pic>
        <p:nvPicPr>
          <p:cNvPr id="19" name="図 18">
            <a:extLst>
              <a:ext uri="{FF2B5EF4-FFF2-40B4-BE49-F238E27FC236}">
                <a16:creationId xmlns:a16="http://schemas.microsoft.com/office/drawing/2014/main" id="{82DE9657-1F9E-FBA1-456D-6E36CC907EC4}"/>
              </a:ext>
            </a:extLst>
          </p:cNvPr>
          <p:cNvPicPr>
            <a:picLocks noChangeAspect="1"/>
          </p:cNvPicPr>
          <p:nvPr/>
        </p:nvPicPr>
        <p:blipFill>
          <a:blip r:embed="rId3"/>
          <a:stretch>
            <a:fillRect/>
          </a:stretch>
        </p:blipFill>
        <p:spPr>
          <a:xfrm>
            <a:off x="2671283" y="4303743"/>
            <a:ext cx="1457070" cy="597460"/>
          </a:xfrm>
          <a:prstGeom prst="rect">
            <a:avLst/>
          </a:prstGeom>
        </p:spPr>
      </p:pic>
      <p:cxnSp>
        <p:nvCxnSpPr>
          <p:cNvPr id="20" name="直線矢印コネクタ 19">
            <a:extLst>
              <a:ext uri="{FF2B5EF4-FFF2-40B4-BE49-F238E27FC236}">
                <a16:creationId xmlns:a16="http://schemas.microsoft.com/office/drawing/2014/main" id="{29AF6F75-AE22-759E-22EE-05A17AE9D283}"/>
              </a:ext>
            </a:extLst>
          </p:cNvPr>
          <p:cNvCxnSpPr>
            <a:cxnSpLocks/>
          </p:cNvCxnSpPr>
          <p:nvPr/>
        </p:nvCxnSpPr>
        <p:spPr bwMode="auto">
          <a:xfrm flipV="1">
            <a:off x="2561325" y="4820250"/>
            <a:ext cx="583096" cy="1257218"/>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Tree>
    <p:extLst>
      <p:ext uri="{BB962C8B-B14F-4D97-AF65-F5344CB8AC3E}">
        <p14:creationId xmlns:p14="http://schemas.microsoft.com/office/powerpoint/2010/main" val="3735922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xportrange">
            <a:extLst>
              <a:ext uri="{FF2B5EF4-FFF2-40B4-BE49-F238E27FC236}">
                <a16:creationId xmlns:a16="http://schemas.microsoft.com/office/drawing/2014/main" id="{80B6EFCC-385E-9938-7C08-F541067A6357}"/>
              </a:ext>
            </a:extLst>
          </p:cNvPr>
          <p:cNvSpPr/>
          <p:nvPr/>
        </p:nvSpPr>
        <p:spPr bwMode="auto">
          <a:xfrm>
            <a:off x="623392" y="2307147"/>
            <a:ext cx="10657184" cy="317666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MEMO, TEMP </a:t>
            </a:r>
            <a:r>
              <a:rPr kumimoji="1" lang="ja-JP" altLang="en-US"/>
              <a:t>サンプル</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50" name="テキスト ボックス 49">
            <a:extLst>
              <a:ext uri="{FF2B5EF4-FFF2-40B4-BE49-F238E27FC236}">
                <a16:creationId xmlns:a16="http://schemas.microsoft.com/office/drawing/2014/main" id="{82228F74-F580-3895-96FF-5E2FD4895E1D}"/>
              </a:ext>
            </a:extLst>
          </p:cNvPr>
          <p:cNvSpPr txBox="1"/>
          <p:nvPr/>
        </p:nvSpPr>
        <p:spPr bwMode="auto">
          <a:xfrm>
            <a:off x="739026" y="1374188"/>
            <a:ext cx="10709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ja-JP" altLang="en-US" sz="2000" kern="0">
                <a:latin typeface="BIZ UDPゴシック" panose="020B0400000000000000" pitchFamily="50" charset="-128"/>
                <a:ea typeface="BIZ UDPゴシック" panose="020B0400000000000000" pitchFamily="50" charset="-128"/>
              </a:rPr>
              <a:t>下記の 「シェイプ」は無条件で消去されます。画像は残ります。</a:t>
            </a:r>
            <a:endParaRPr lang="ja-JP" altLang="en-US">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DD870573-5A9D-F7B5-942D-914D50CFA602}"/>
              </a:ext>
            </a:extLst>
          </p:cNvPr>
          <p:cNvSpPr/>
          <p:nvPr/>
        </p:nvSpPr>
        <p:spPr bwMode="auto">
          <a:xfrm>
            <a:off x="5447928" y="2489272"/>
            <a:ext cx="3398057" cy="52840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シェイプ</a:t>
            </a:r>
            <a:endParaRPr kumimoji="1" lang="en-US" altLang="ja-JP"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9E4C4D07-0CBB-06D0-974E-CB7228780962}"/>
              </a:ext>
            </a:extLst>
          </p:cNvPr>
          <p:cNvSpPr/>
          <p:nvPr/>
        </p:nvSpPr>
        <p:spPr bwMode="auto">
          <a:xfrm>
            <a:off x="1492440" y="2489272"/>
            <a:ext cx="3398057" cy="52840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画像</a:t>
            </a:r>
            <a:endParaRPr kumimoji="1" lang="en-US" altLang="ja-JP"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23" name="図 22">
            <a:extLst>
              <a:ext uri="{FF2B5EF4-FFF2-40B4-BE49-F238E27FC236}">
                <a16:creationId xmlns:a16="http://schemas.microsoft.com/office/drawing/2014/main" id="{CCD3F852-975A-2626-48FD-309704D9B027}"/>
              </a:ext>
            </a:extLst>
          </p:cNvPr>
          <p:cNvPicPr>
            <a:picLocks noChangeAspect="1"/>
          </p:cNvPicPr>
          <p:nvPr/>
        </p:nvPicPr>
        <p:blipFill>
          <a:blip r:embed="rId3"/>
          <a:stretch>
            <a:fillRect/>
          </a:stretch>
        </p:blipFill>
        <p:spPr>
          <a:xfrm>
            <a:off x="1494330" y="3140567"/>
            <a:ext cx="3407959" cy="896190"/>
          </a:xfrm>
          <a:prstGeom prst="rect">
            <a:avLst/>
          </a:prstGeom>
        </p:spPr>
      </p:pic>
      <p:pic>
        <p:nvPicPr>
          <p:cNvPr id="28" name="図 27">
            <a:extLst>
              <a:ext uri="{FF2B5EF4-FFF2-40B4-BE49-F238E27FC236}">
                <a16:creationId xmlns:a16="http://schemas.microsoft.com/office/drawing/2014/main" id="{03CD7D6F-C42C-C449-A297-FDD46E8EBD9C}"/>
              </a:ext>
            </a:extLst>
          </p:cNvPr>
          <p:cNvPicPr>
            <a:picLocks noChangeAspect="1"/>
          </p:cNvPicPr>
          <p:nvPr/>
        </p:nvPicPr>
        <p:blipFill>
          <a:blip r:embed="rId4"/>
          <a:stretch>
            <a:fillRect/>
          </a:stretch>
        </p:blipFill>
        <p:spPr>
          <a:xfrm>
            <a:off x="1487488" y="4204781"/>
            <a:ext cx="3407959" cy="890093"/>
          </a:xfrm>
          <a:prstGeom prst="rect">
            <a:avLst/>
          </a:prstGeom>
        </p:spPr>
      </p:pic>
      <p:sp>
        <p:nvSpPr>
          <p:cNvPr id="4" name="正方形/長方形 3">
            <a:extLst>
              <a:ext uri="{FF2B5EF4-FFF2-40B4-BE49-F238E27FC236}">
                <a16:creationId xmlns:a16="http://schemas.microsoft.com/office/drawing/2014/main" id="{307F6B76-74DF-3DF4-341F-7F8F4881E52A}"/>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memo_temp_guide.pptx</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66772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0" name="exportrange">
            <a:extLst>
              <a:ext uri="{FF2B5EF4-FFF2-40B4-BE49-F238E27FC236}">
                <a16:creationId xmlns:a16="http://schemas.microsoft.com/office/drawing/2014/main" id="{587BFB88-1EF8-F735-5DBA-C2F73C909ACE}"/>
              </a:ext>
            </a:extLst>
          </p:cNvPr>
          <p:cNvSpPr/>
          <p:nvPr/>
        </p:nvSpPr>
        <p:spPr bwMode="auto">
          <a:xfrm>
            <a:off x="623392" y="1973597"/>
            <a:ext cx="10657184" cy="384376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テーブルシェイプはテーブルごと消去</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31" name="テキスト ボックス 30">
            <a:extLst>
              <a:ext uri="{FF2B5EF4-FFF2-40B4-BE49-F238E27FC236}">
                <a16:creationId xmlns:a16="http://schemas.microsoft.com/office/drawing/2014/main" id="{4E7F8E47-38ED-1C7C-BBD0-CC21579F4B00}"/>
              </a:ext>
            </a:extLst>
          </p:cNvPr>
          <p:cNvSpPr txBox="1"/>
          <p:nvPr/>
        </p:nvSpPr>
        <p:spPr bwMode="auto">
          <a:xfrm>
            <a:off x="739026" y="1123692"/>
            <a:ext cx="10709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ja-JP" altLang="en-US" kern="0">
                <a:latin typeface="BIZ UDPゴシック" panose="020B0400000000000000" pitchFamily="50" charset="-128"/>
                <a:ea typeface="BIZ UDPゴシック" panose="020B0400000000000000" pitchFamily="50" charset="-128"/>
              </a:rPr>
              <a:t>テーブルセルに </a:t>
            </a:r>
            <a:r>
              <a:rPr lang="en-US" altLang="ja-JP" kern="0">
                <a:latin typeface="BIZ UDPゴシック" panose="020B0400000000000000" pitchFamily="50" charset="-128"/>
                <a:ea typeface="BIZ UDPゴシック" panose="020B0400000000000000" pitchFamily="50" charset="-128"/>
              </a:rPr>
              <a:t>MEMO, TEMP</a:t>
            </a:r>
            <a:r>
              <a:rPr lang="ja-JP" altLang="en-US" kern="0">
                <a:latin typeface="BIZ UDPゴシック" panose="020B0400000000000000" pitchFamily="50" charset="-128"/>
                <a:ea typeface="BIZ UDPゴシック" panose="020B0400000000000000" pitchFamily="50" charset="-128"/>
              </a:rPr>
              <a:t>マーカーがある場合は、テーブルごと消去されます。</a:t>
            </a:r>
            <a:endParaRPr lang="ja-JP" altLang="en-US">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509D25A0-2FC7-5843-BBCA-BE851C91FA5C}"/>
              </a:ext>
            </a:extLst>
          </p:cNvPr>
          <p:cNvSpPr txBox="1"/>
          <p:nvPr/>
        </p:nvSpPr>
        <p:spPr bwMode="auto">
          <a:xfrm>
            <a:off x="2999656" y="2151043"/>
            <a:ext cx="1315576" cy="363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ja-JP" altLang="en-US" kern="0">
                <a:latin typeface="BIZ UDPゴシック" panose="020B0400000000000000" pitchFamily="50" charset="-128"/>
                <a:ea typeface="BIZ UDPゴシック" panose="020B0400000000000000" pitchFamily="50" charset="-128"/>
              </a:rPr>
              <a:t>画像</a:t>
            </a:r>
            <a:endParaRPr lang="ja-JP" altLang="en-US">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FB54B733-23DD-1478-51A2-BEC6912A1645}"/>
              </a:ext>
            </a:extLst>
          </p:cNvPr>
          <p:cNvSpPr txBox="1"/>
          <p:nvPr/>
        </p:nvSpPr>
        <p:spPr bwMode="auto">
          <a:xfrm>
            <a:off x="7392144" y="2151043"/>
            <a:ext cx="23306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ja-JP" altLang="en-US" kern="0">
                <a:latin typeface="BIZ UDPゴシック" panose="020B0400000000000000" pitchFamily="50" charset="-128"/>
                <a:ea typeface="BIZ UDPゴシック" panose="020B0400000000000000" pitchFamily="50" charset="-128"/>
              </a:rPr>
              <a:t>テーブルシェイプ</a:t>
            </a:r>
            <a:endParaRPr lang="ja-JP" altLang="en-US">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D44539CF-9F10-06F7-695A-8BB35A22BE9F}"/>
              </a:ext>
            </a:extLst>
          </p:cNvPr>
          <p:cNvSpPr txBox="1"/>
          <p:nvPr/>
        </p:nvSpPr>
        <p:spPr bwMode="auto">
          <a:xfrm>
            <a:off x="6672064" y="4585196"/>
            <a:ext cx="374441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ja-JP" altLang="en-US" kern="0">
                <a:latin typeface="BIZ UDPゴシック" panose="020B0400000000000000" pitchFamily="50" charset="-128"/>
                <a:ea typeface="BIZ UDPゴシック" panose="020B0400000000000000" pitchFamily="50" charset="-128"/>
              </a:rPr>
              <a:t>一部のセルにのみ </a:t>
            </a:r>
            <a:r>
              <a:rPr lang="en-US" altLang="ja-JP" kern="0">
                <a:latin typeface="BIZ UDPゴシック" panose="020B0400000000000000" pitchFamily="50" charset="-128"/>
                <a:ea typeface="BIZ UDPゴシック" panose="020B0400000000000000" pitchFamily="50" charset="-128"/>
              </a:rPr>
              <a:t>MEMO</a:t>
            </a:r>
            <a:r>
              <a:rPr lang="ja-JP" altLang="en-US" kern="0">
                <a:latin typeface="BIZ UDPゴシック" panose="020B0400000000000000" pitchFamily="50" charset="-128"/>
                <a:ea typeface="BIZ UDPゴシック" panose="020B0400000000000000" pitchFamily="50" charset="-128"/>
              </a:rPr>
              <a:t>マーカーがありますが、テーブルごと消去されます</a:t>
            </a:r>
            <a:endParaRPr lang="ja-JP" altLang="en-US">
              <a:latin typeface="BIZ UDPゴシック" panose="020B0400000000000000" pitchFamily="50" charset="-128"/>
              <a:ea typeface="BIZ UDPゴシック" panose="020B0400000000000000" pitchFamily="50" charset="-128"/>
            </a:endParaRPr>
          </a:p>
        </p:txBody>
      </p:sp>
      <p:pic>
        <p:nvPicPr>
          <p:cNvPr id="9" name="図 8">
            <a:extLst>
              <a:ext uri="{FF2B5EF4-FFF2-40B4-BE49-F238E27FC236}">
                <a16:creationId xmlns:a16="http://schemas.microsoft.com/office/drawing/2014/main" id="{F2037968-70FC-3854-F639-3DA061F326F0}"/>
              </a:ext>
            </a:extLst>
          </p:cNvPr>
          <p:cNvPicPr>
            <a:picLocks noChangeAspect="1"/>
          </p:cNvPicPr>
          <p:nvPr/>
        </p:nvPicPr>
        <p:blipFill>
          <a:blip r:embed="rId3"/>
          <a:stretch>
            <a:fillRect/>
          </a:stretch>
        </p:blipFill>
        <p:spPr>
          <a:xfrm>
            <a:off x="1415480" y="2670885"/>
            <a:ext cx="3779848" cy="1737511"/>
          </a:xfrm>
          <a:prstGeom prst="rect">
            <a:avLst/>
          </a:prstGeom>
        </p:spPr>
      </p:pic>
      <p:sp>
        <p:nvSpPr>
          <p:cNvPr id="5" name="正方形/長方形 4">
            <a:extLst>
              <a:ext uri="{FF2B5EF4-FFF2-40B4-BE49-F238E27FC236}">
                <a16:creationId xmlns:a16="http://schemas.microsoft.com/office/drawing/2014/main" id="{1A0DD82D-AEF8-9E98-D694-05CD49F206AC}"/>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memo_temp_guide.pptx</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45150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29425</TotalTime>
  <Words>836</Words>
  <Application>Microsoft Office PowerPoint</Application>
  <PresentationFormat>ワイド画面</PresentationFormat>
  <Paragraphs>152</Paragraphs>
  <Slides>3</Slides>
  <Notes>3</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vt:i4>
      </vt:variant>
    </vt:vector>
  </HeadingPairs>
  <TitlesOfParts>
    <vt:vector size="9" baseType="lpstr">
      <vt:lpstr>BIZ UDPゴシック</vt:lpstr>
      <vt:lpstr>FOT-UD丸ゴ_ラージ Pr6 M</vt:lpstr>
      <vt:lpstr>Arial</vt:lpstr>
      <vt:lpstr>Garamond</vt:lpstr>
      <vt:lpstr>Wingdings</vt:lpstr>
      <vt:lpstr>Edge</vt:lpstr>
      <vt:lpstr>作業用のメモを書く</vt:lpstr>
      <vt:lpstr>MEMO, TEMP サンプル</vt:lpstr>
      <vt:lpstr>テーブルシェイプはテーブルごと消去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4090</cp:revision>
  <dcterms:modified xsi:type="dcterms:W3CDTF">2026-06-06T13:16:36Z</dcterms:modified>
</cp:coreProperties>
</file>