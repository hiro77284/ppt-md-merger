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8"/>
  </p:notesMasterIdLst>
  <p:sldIdLst>
    <p:sldId id="1788" r:id="rId2"/>
    <p:sldId id="1782" r:id="rId3"/>
    <p:sldId id="1789" r:id="rId4"/>
    <p:sldId id="1785" r:id="rId5"/>
    <p:sldId id="1790" r:id="rId6"/>
    <p:sldId id="1791" r:id="rId7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FF"/>
    <a:srgbClr val="CCECFF"/>
    <a:srgbClr val="99FFCC"/>
    <a:srgbClr val="FFFF00"/>
    <a:srgbClr val="FF6347"/>
    <a:srgbClr val="FF9933"/>
    <a:srgbClr val="CC66FF"/>
    <a:srgbClr val="E34234"/>
    <a:srgbClr val="292929"/>
    <a:srgbClr val="FF7F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94" autoAdjust="0"/>
    <p:restoredTop sz="67932" autoAdjust="0"/>
  </p:normalViewPr>
  <p:slideViewPr>
    <p:cSldViewPr>
      <p:cViewPr varScale="1">
        <p:scale>
          <a:sx n="76" d="100"/>
          <a:sy n="76" d="100"/>
        </p:scale>
        <p:origin x="1002" y="9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19404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4670BC-B8C6-44A7-84E1-23632D8FD86F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10FDB7-3E02-4363-90B3-590B3C26A8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735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>
            <a:endParaRPr/>
          </a:p>
          <a:p>
            <a:r>
              <a:t>===BLOCK===</a:t>
            </a:r>
          </a:p>
          <a:p>
            <a:r>
              <a:t>{{BLOCK:IMAGE}}</a:t>
            </a:r>
          </a:p>
          <a:p>
            <a:endParaRPr/>
          </a:p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rPr lang="en-US"/>
              <a:t>export-image: extracted/figures/&lt;__BASEFILENAME__&gt;_slide&lt;__SLIDENUM__&gt;_fig.png</a:t>
            </a:r>
          </a:p>
          <a:p>
            <a:endParaRPr/>
          </a:p>
          <a:p>
            <a:r>
              <a:rPr lang="en-US" altLang="ja-JP"/>
              <a:t>===BLOCK===</a:t>
            </a:r>
          </a:p>
          <a:p>
            <a:r>
              <a:rPr lang="en-US" altLang="ja-JP"/>
              <a:t>{{BLOCK:IMAGE}}</a:t>
            </a:r>
          </a:p>
          <a:p>
            <a:endParaRPr lang="en-US" altLang="ja-JP"/>
          </a:p>
          <a:p>
            <a:r>
              <a:rPr lang="en-US" altLang="ja-JP"/>
              <a:t>export-image-mode: slide_with_rectpct</a:t>
            </a:r>
          </a:p>
          <a:p>
            <a:r>
              <a:rPr lang="en-US" altLang="ja-JP"/>
              <a:t>export-image-target: keyvisual</a:t>
            </a:r>
          </a:p>
          <a:p>
            <a:r>
              <a:rPr lang="en-US" altLang="ja-JP"/>
              <a:t>export-image: extracted/figures/&lt;__BASEFILENAME__&gt;_keyvisual.png</a:t>
            </a:r>
          </a:p>
          <a:p>
            <a:endParaRPr lang="en-US" altLang="ja-JP"/>
          </a:p>
          <a:p>
            <a:r>
              <a:t>===BLOCK===</a:t>
            </a:r>
          </a:p>
          <a:p>
            <a:r>
              <a:t>{{BLOCK:MD:LONG}}</a:t>
            </a:r>
          </a:p>
          <a:p>
            <a:endParaRPr/>
          </a:p>
          <a:p>
            <a:r>
              <a:rPr lang="en-US"/>
              <a:t>export-note: extracted/&lt;__BASEFILENAME__&gt;_slide&lt;__SLIDENUM__&gt;_md.md</a:t>
            </a:r>
          </a:p>
          <a:p>
            <a:r>
              <a:rPr lang="en-US"/>
              <a:t>{{#id:section:&lt;__BASEFILENAME__&gt;:slide&lt;__SLIDENUM__&gt;}}</a:t>
            </a:r>
          </a:p>
          <a:p>
            <a:r>
              <a:t>## &lt;__TITLE__&gt;</a:t>
            </a:r>
          </a:p>
          <a:p>
            <a:endParaRPr/>
          </a:p>
          <a:p>
            <a:r>
              <a:t>変数置換はスライド上に差し替え可能なプレースホルダーを用意しておき、設定ファイルの変数でそれを差し替え表示することです。</a:t>
            </a:r>
          </a:p>
          <a:p>
            <a:endParaRPr/>
          </a:p>
          <a:p>
            <a:r>
              <a:t>変数の有効範囲はファイル全体に適用することも、1つのoperation限定で適用することもできます。</a:t>
            </a:r>
          </a:p>
          <a:p>
            <a:endParaRPr/>
          </a:p>
          <a:p>
            <a:endParaRPr/>
          </a:p>
          <a:p>
            <a:r>
              <a:t>```{=latex}</a:t>
            </a:r>
          </a:p>
          <a:p>
            <a:r>
              <a:t>\begin{center}</a:t>
            </a:r>
          </a:p>
          <a:p>
            <a:r>
              <a:t>```</a:t>
            </a:r>
          </a:p>
          <a:p>
            <a:endParaRPr/>
          </a:p>
          <a:p>
            <a:r>
              <a:rPr lang="en-US"/>
              <a:t>![](figures/&lt;__BASEFILENAME__&gt;_slide&lt;__SLIDENUM__&gt;_fig.png){ width=95% }</a:t>
            </a:r>
          </a:p>
          <a:p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/>
              <a:t>![](figures/&lt;__BASEFILENAME__&gt;_keyvisual.png){ width=90% }</a:t>
            </a:r>
          </a:p>
          <a:p>
            <a:endParaRPr lang="en-US"/>
          </a:p>
          <a:p>
            <a:endParaRPr/>
          </a:p>
          <a:p>
            <a:r>
              <a:t>```{=latex}</a:t>
            </a:r>
          </a:p>
          <a:p>
            <a:r>
              <a:t>\end{center}</a:t>
            </a:r>
          </a:p>
          <a:p>
            <a:r>
              <a:t>```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346190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>
            <a:endParaRPr/>
          </a:p>
          <a:p>
            <a:r>
              <a:t>===BLOCK===</a:t>
            </a:r>
          </a:p>
          <a:p>
            <a:r>
              <a:t>{{BLOCK:IMAGE}}</a:t>
            </a:r>
          </a:p>
          <a:p>
            <a:endParaRPr/>
          </a:p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rPr lang="en-US"/>
              <a:t>export-image: extracted/figures/&lt;__BASEFILENAME__&gt;_slide&lt;__SLIDENUM__&gt;_fig.png</a:t>
            </a:r>
          </a:p>
          <a:p>
            <a:endParaRPr/>
          </a:p>
          <a:p>
            <a:r>
              <a:t>===BLOCK===</a:t>
            </a:r>
          </a:p>
          <a:p>
            <a:r>
              <a:t>{{BLOCK:MD:LONG}}</a:t>
            </a:r>
          </a:p>
          <a:p>
            <a:endParaRPr/>
          </a:p>
          <a:p>
            <a:r>
              <a:rPr lang="en-US"/>
              <a:t>export-note: extracted/&lt;__BASEFILENAME__&gt;_slide&lt;__SLIDENUM__&gt;_md.md</a:t>
            </a:r>
          </a:p>
          <a:p>
            <a:r>
              <a:rPr lang="en-US"/>
              <a:t>{{#id:section:&lt;__BASEFILENAME__&gt;:slide&lt;__SLIDENUM__&gt;}}</a:t>
            </a:r>
          </a:p>
          <a:p>
            <a:r>
              <a:t>## &lt;__TITLE__&gt;</a:t>
            </a:r>
          </a:p>
          <a:p>
            <a:endParaRPr/>
          </a:p>
          <a:p>
            <a:r>
              <a:t>結合指示書の vars: セクションで変数を定義します。</a:t>
            </a:r>
          </a:p>
          <a:p>
            <a:endParaRPr/>
          </a:p>
          <a:p>
            <a:r>
              <a:t>procedure外で定義するとすべてのoperationで有効になり、operationで定義するとそのoperationでだけ有効です。</a:t>
            </a:r>
          </a:p>
          <a:p>
            <a:endParaRPr/>
          </a:p>
          <a:p>
            <a:r>
              <a:t>グローバルな設定をoperation で上書きすることもできます。</a:t>
            </a:r>
          </a:p>
          <a:p>
            <a:endParaRPr/>
          </a:p>
          <a:p>
            <a:endParaRPr/>
          </a:p>
          <a:p>
            <a:r>
              <a:t>```{=latex}</a:t>
            </a:r>
          </a:p>
          <a:p>
            <a:r>
              <a:t>\begin{center}</a:t>
            </a:r>
          </a:p>
          <a:p>
            <a:r>
              <a:t>```</a:t>
            </a:r>
          </a:p>
          <a:p>
            <a:endParaRPr/>
          </a:p>
          <a:p>
            <a:r>
              <a:rPr lang="en-US"/>
              <a:t>![](figures/&lt;__BASEFILENAME__&gt;_slide&lt;__SLIDENUM__&gt;_fig.png){ width=95% }</a:t>
            </a:r>
          </a:p>
          <a:p>
            <a:endParaRPr/>
          </a:p>
          <a:p>
            <a:r>
              <a:t>```{=latex}</a:t>
            </a:r>
          </a:p>
          <a:p>
            <a:r>
              <a:t>\end{center}</a:t>
            </a:r>
          </a:p>
          <a:p>
            <a:r>
              <a:t>```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78881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27C47-6A9B-253E-89DC-DEEE4DB80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BC8CA9DB-0BF7-19D5-AD37-A43BBD0812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D88D59A-C150-C028-8959-BA1B9F9ED6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sz="14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DE180F7-81E5-C61A-F577-6D601414D6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76611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sz="14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661982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27C47-6A9B-253E-89DC-DEEE4DB80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BC8CA9DB-0BF7-19D5-AD37-A43BBD0812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D88D59A-C150-C028-8959-BA1B9F9ED6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sz="14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DE180F7-81E5-C61A-F577-6D601414D6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62735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sz="14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2687475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007436" y="1524000"/>
            <a:ext cx="10164233" cy="1752600"/>
          </a:xfrm>
        </p:spPr>
        <p:txBody>
          <a:bodyPr/>
          <a:lstStyle>
            <a:lvl1pPr>
              <a:defRPr sz="4200">
                <a:solidFill>
                  <a:schemeClr val="tx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altLang="ja-JP" dirty="0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07834" y="3962400"/>
            <a:ext cx="7971367" cy="1752600"/>
          </a:xfrm>
          <a:prstGeom prst="rect">
            <a:avLst/>
          </a:prstGeom>
        </p:spPr>
        <p:txBody>
          <a:bodyPr/>
          <a:lstStyle>
            <a:lvl1pPr marL="0" indent="0">
              <a:buFont typeface="Wingdings" pitchFamily="2" charset="2"/>
              <a:buNone/>
              <a:defRPr sz="2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サブタイトルの書式設定</a:t>
            </a:r>
            <a:endParaRPr lang="en-US" altLang="ja-JP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254D289-857E-022B-E722-6C7257F338BE}"/>
              </a:ext>
            </a:extLst>
          </p:cNvPr>
          <p:cNvSpPr/>
          <p:nvPr userDrawn="1"/>
        </p:nvSpPr>
        <p:spPr bwMode="auto">
          <a:xfrm>
            <a:off x="3312000" y="3666171"/>
            <a:ext cx="8328616" cy="91135"/>
          </a:xfrm>
          <a:prstGeom prst="roundRect">
            <a:avLst>
              <a:gd name="adj" fmla="val 49227"/>
            </a:avLst>
          </a:prstGeom>
          <a:solidFill>
            <a:srgbClr val="339966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03523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648072"/>
          </a:xfrm>
        </p:spPr>
        <p:txBody>
          <a:bodyPr/>
          <a:lstStyle>
            <a:lvl1pPr>
              <a:defRPr sz="2800" b="1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609600" y="980728"/>
            <a:ext cx="10972800" cy="5256584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 marL="669925" indent="-3254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 marL="1022350" indent="-3508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 marL="1339850" indent="-315913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 marL="1681163" indent="-339725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ctangle 6">
            <a:extLst>
              <a:ext uri="{FF2B5EF4-FFF2-40B4-BE49-F238E27FC236}">
                <a16:creationId xmlns:a16="http://schemas.microsoft.com/office/drawing/2014/main" id="{6BB55BAD-460C-3254-9DE7-B95DC62378A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57564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VTW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/>
        </p:nvCxnSpPr>
        <p:spPr bwMode="auto">
          <a:xfrm>
            <a:off x="301057" y="833306"/>
            <a:ext cx="11616074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" name="タイトル 1">
            <a:extLst>
              <a:ext uri="{FF2B5EF4-FFF2-40B4-BE49-F238E27FC236}">
                <a16:creationId xmlns:a16="http://schemas.microsoft.com/office/drawing/2014/main" id="{5ED325D3-3CCE-5405-EA2A-09E70E70C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501352"/>
          </a:xfr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ja-JP" altLang="en-US" dirty="0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62F59FD7-9291-23C8-03A9-329B4C15CFF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191782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0DDA252F-B76B-2A98-8A15-68FEF4A206C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ctangle 5">
            <a:extLst>
              <a:ext uri="{FF2B5EF4-FFF2-40B4-BE49-F238E27FC236}">
                <a16:creationId xmlns:a16="http://schemas.microsoft.com/office/drawing/2014/main" id="{83FEA43B-F379-CB8A-0CC1-34E310D7DF9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27F33519-DE7B-1578-63B1-C7F9384DEE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0980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>
            <a:extLst>
              <a:ext uri="{FF2B5EF4-FFF2-40B4-BE49-F238E27FC236}">
                <a16:creationId xmlns:a16="http://schemas.microsoft.com/office/drawing/2014/main" id="{CCA1F410-EAC2-3B54-16CE-1F8AD3A2927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9E8B39C-04D2-1AF7-9927-F5F6D4CA6FE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90834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 1"/>
          <p:cNvSpPr>
            <a:spLocks noGrp="1"/>
          </p:cNvSpPr>
          <p:nvPr>
            <p:ph/>
          </p:nvPr>
        </p:nvSpPr>
        <p:spPr>
          <a:xfrm>
            <a:off x="609600" y="277813"/>
            <a:ext cx="10972800" cy="5853112"/>
          </a:xfrm>
          <a:prstGeom prst="rect">
            <a:avLst/>
          </a:prstGeo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01701D8-2655-4364-A1CC-F63E88A9B8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AFE0410-6CDA-6DC1-4B56-83230C71018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954691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898656" y="260648"/>
            <a:ext cx="10957984" cy="501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ja-JP" dirty="0" err="1"/>
              <a:t>マスタ</a:t>
            </a:r>
            <a:r>
              <a:rPr lang="en-US" altLang="ja-JP" dirty="0"/>
              <a:t> </a:t>
            </a:r>
            <a:r>
              <a:rPr lang="en-US" altLang="ja-JP" dirty="0" err="1"/>
              <a:t>タイトルの書式設定</a:t>
            </a:r>
            <a:endParaRPr lang="en-US" altLang="ja-JP" dirty="0"/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91A1ECCD-F85D-D247-549B-2E41B84C18A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5532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8" r:id="rId3"/>
    <p:sldLayoutId id="2147483664" r:id="rId4"/>
    <p:sldLayoutId id="2147483666" r:id="rId5"/>
    <p:sldLayoutId id="2147483667" r:id="rId6"/>
  </p:sldLayoutIdLst>
  <p:hf sldNum="0"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  <a:cs typeface="+mn-cs"/>
        </a:defRPr>
      </a:lvl1pPr>
      <a:lvl2pPr marL="669925" indent="-3254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0000"/>
        <a:buFont typeface="Wingdings" panose="05000000000000000000" pitchFamily="2" charset="2"/>
        <a:buChar char="n"/>
        <a:defRPr kumimoji="1" sz="18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2pPr>
      <a:lvl3pPr marL="1022350" indent="-3508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16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3pPr>
      <a:lvl4pPr marL="1339850" indent="-315913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0000"/>
        <a:buFont typeface="Wingdings" panose="05000000000000000000" pitchFamily="2" charset="2"/>
        <a:buChar char="n"/>
        <a:defRPr kumimoji="1" sz="14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4pPr>
      <a:lvl5pPr marL="1681163" indent="-339725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5000"/>
        <a:buFont typeface="Wingdings" panose="05000000000000000000" pitchFamily="2" charset="2"/>
        <a:buChar char="n"/>
        <a:defRPr kumimoji="1" sz="12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5pPr>
      <a:lvl6pPr marL="21383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6pPr>
      <a:lvl7pPr marL="25955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7pPr>
      <a:lvl8pPr marL="30527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8pPr>
      <a:lvl9pPr marL="35099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xportrange">
            <a:extLst>
              <a:ext uri="{FF2B5EF4-FFF2-40B4-BE49-F238E27FC236}">
                <a16:creationId xmlns:a16="http://schemas.microsoft.com/office/drawing/2014/main" id="{DE4AFCE4-7D71-B7C7-B968-F1E012697831}"/>
              </a:ext>
            </a:extLst>
          </p:cNvPr>
          <p:cNvSpPr/>
          <p:nvPr/>
        </p:nvSpPr>
        <p:spPr bwMode="auto">
          <a:xfrm>
            <a:off x="623392" y="912997"/>
            <a:ext cx="10824782" cy="1911303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keyvisual">
            <a:extLst>
              <a:ext uri="{FF2B5EF4-FFF2-40B4-BE49-F238E27FC236}">
                <a16:creationId xmlns:a16="http://schemas.microsoft.com/office/drawing/2014/main" id="{56EF38CC-AF54-1080-2868-D3D855DAD9FA}"/>
              </a:ext>
            </a:extLst>
          </p:cNvPr>
          <p:cNvSpPr/>
          <p:nvPr/>
        </p:nvSpPr>
        <p:spPr bwMode="auto">
          <a:xfrm>
            <a:off x="911424" y="2904486"/>
            <a:ext cx="10536750" cy="3682408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1.1) スライド中の変数置換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4A9E561F-3202-EC6B-A845-34025BBBBFCE}"/>
              </a:ext>
            </a:extLst>
          </p:cNvPr>
          <p:cNvSpPr txBox="1"/>
          <p:nvPr/>
        </p:nvSpPr>
        <p:spPr bwMode="auto">
          <a:xfrm>
            <a:off x="2686070" y="1916832"/>
            <a:ext cx="8306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defRPr sz="16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pptmdmerge   pptmerge variable_replacement_recipe.yaml  --force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EE0158F8-3118-DE46-AA56-1D8CABAF59F4}"/>
              </a:ext>
            </a:extLst>
          </p:cNvPr>
          <p:cNvSpPr txBox="1"/>
          <p:nvPr/>
        </p:nvSpPr>
        <p:spPr bwMode="auto">
          <a:xfrm>
            <a:off x="739026" y="1916832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起動コマンド例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AE12C02D-E7B8-7F68-10F1-94D7D353FDA0}"/>
              </a:ext>
            </a:extLst>
          </p:cNvPr>
          <p:cNvSpPr txBox="1"/>
          <p:nvPr/>
        </p:nvSpPr>
        <p:spPr bwMode="auto">
          <a:xfrm>
            <a:off x="2686070" y="1042744"/>
            <a:ext cx="250256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7FE60B26-1C28-91A1-533D-80CB752E0150}"/>
              </a:ext>
            </a:extLst>
          </p:cNvPr>
          <p:cNvSpPr txBox="1"/>
          <p:nvPr/>
        </p:nvSpPr>
        <p:spPr bwMode="auto">
          <a:xfrm>
            <a:off x="739026" y="104274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サブコマンド名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B27F4962-5E63-7FA3-1DEE-0DC3FD751080}"/>
              </a:ext>
            </a:extLst>
          </p:cNvPr>
          <p:cNvSpPr txBox="1"/>
          <p:nvPr/>
        </p:nvSpPr>
        <p:spPr bwMode="auto">
          <a:xfrm>
            <a:off x="739026" y="148478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機能概要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0D7BFA0D-1443-45A8-6C2B-3DCA36B4EDFB}"/>
              </a:ext>
            </a:extLst>
          </p:cNvPr>
          <p:cNvSpPr txBox="1"/>
          <p:nvPr/>
        </p:nvSpPr>
        <p:spPr bwMode="auto">
          <a:xfrm>
            <a:off x="2686070" y="1484784"/>
            <a:ext cx="830647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変数を定義しておき、スライドでそれを参照して置換する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09071F12-387C-5A22-939B-F2200B79350D}"/>
              </a:ext>
            </a:extLst>
          </p:cNvPr>
          <p:cNvSpPr/>
          <p:nvPr/>
        </p:nvSpPr>
        <p:spPr bwMode="auto">
          <a:xfrm>
            <a:off x="8472264" y="195005"/>
            <a:ext cx="3393824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kumimoji="1" lang="en-US" altLang="ja-JP" sz="11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</a:t>
            </a:r>
            <a:r>
              <a:rPr lang="en-US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__FILENAME__&gt;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D945FCB6-CA3A-FC29-44E0-9550E5D3849C}"/>
              </a:ext>
            </a:extLst>
          </p:cNvPr>
          <p:cNvSpPr txBox="1"/>
          <p:nvPr/>
        </p:nvSpPr>
        <p:spPr bwMode="auto">
          <a:xfrm>
            <a:off x="2686070" y="2338265"/>
            <a:ext cx="8306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defRPr sz="16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"vars"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D24990FC-3ADD-D38C-1E73-075BCF1E9CDF}"/>
              </a:ext>
            </a:extLst>
          </p:cNvPr>
          <p:cNvSpPr txBox="1"/>
          <p:nvPr/>
        </p:nvSpPr>
        <p:spPr bwMode="auto">
          <a:xfrm>
            <a:off x="739026" y="2338265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関連キーワード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FFE381D9-F00C-E5BA-3584-ABDCA945B09F}"/>
              </a:ext>
            </a:extLst>
          </p:cNvPr>
          <p:cNvSpPr txBox="1"/>
          <p:nvPr/>
        </p:nvSpPr>
        <p:spPr bwMode="auto">
          <a:xfrm>
            <a:off x="5471509" y="104274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サンプルフォルダ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12491889-C51E-5A48-83B2-129353663E72}"/>
              </a:ext>
            </a:extLst>
          </p:cNvPr>
          <p:cNvSpPr txBox="1"/>
          <p:nvPr/>
        </p:nvSpPr>
        <p:spPr bwMode="auto">
          <a:xfrm>
            <a:off x="7582968" y="1042744"/>
            <a:ext cx="386520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pm4_variable_replacement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45ECCD28-F21A-5979-5AEB-7DC63745607E}"/>
              </a:ext>
            </a:extLst>
          </p:cNvPr>
          <p:cNvSpPr txBox="1"/>
          <p:nvPr/>
        </p:nvSpPr>
        <p:spPr bwMode="auto">
          <a:xfrm>
            <a:off x="3249738" y="6592396"/>
            <a:ext cx="1375225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1050" kern="0">
                <a:solidFill>
                  <a:schemeClr val="bg1">
                    <a:lumMod val="8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#NOREPLACE#</a:t>
            </a:r>
            <a:endParaRPr kumimoji="1" lang="en-US" altLang="ja-JP" sz="1050" kern="0">
              <a:solidFill>
                <a:schemeClr val="bg1">
                  <a:lumMod val="85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EA429F61-C407-CDE7-8053-C253DF01AB6D}"/>
              </a:ext>
            </a:extLst>
          </p:cNvPr>
          <p:cNvSpPr/>
          <p:nvPr/>
        </p:nvSpPr>
        <p:spPr bwMode="auto">
          <a:xfrm>
            <a:off x="1061448" y="3717032"/>
            <a:ext cx="2974029" cy="1062575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客層： </a:t>
            </a:r>
            <a:r>
              <a:rPr kumimoji="1" lang="en-US" altLang="ja-JP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{{v:TARGET}}</a:t>
            </a:r>
          </a:p>
          <a:p>
            <a:pPr marL="0" marR="0" indent="0" defTabSz="9144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主力商品： </a:t>
            </a:r>
            <a:r>
              <a:rPr kumimoji="1" lang="en-US" altLang="ja-JP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{{v:PLAN}}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2C4888BB-B62B-EF45-4AE1-132112A9B4CA}"/>
              </a:ext>
            </a:extLst>
          </p:cNvPr>
          <p:cNvSpPr/>
          <p:nvPr/>
        </p:nvSpPr>
        <p:spPr bwMode="auto">
          <a:xfrm>
            <a:off x="4775124" y="5512303"/>
            <a:ext cx="2641750" cy="994405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結合指示書</a:t>
            </a:r>
            <a:endParaRPr kumimoji="1" lang="en-US" altLang="ja-JP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R="0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1" lang="en-US" altLang="ja-JP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TARGET=20</a:t>
            </a:r>
            <a:r>
              <a:rPr kumimoji="1" lang="ja-JP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代女性</a:t>
            </a:r>
            <a:endParaRPr kumimoji="1" lang="en-US" altLang="ja-JP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R="0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1" lang="en-US" altLang="ja-JP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PLAN</a:t>
            </a:r>
            <a:r>
              <a:rPr kumimoji="1" lang="ja-JP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＝極上スイーツ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85F7FCE7-2796-E34F-A961-6FDEED087D6D}"/>
              </a:ext>
            </a:extLst>
          </p:cNvPr>
          <p:cNvCxnSpPr>
            <a:cxnSpLocks/>
          </p:cNvCxnSpPr>
          <p:nvPr/>
        </p:nvCxnSpPr>
        <p:spPr bwMode="auto">
          <a:xfrm>
            <a:off x="4217512" y="4316654"/>
            <a:ext cx="3640671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69" name="テキスト ボックス 68">
            <a:extLst>
              <a:ext uri="{FF2B5EF4-FFF2-40B4-BE49-F238E27FC236}">
                <a16:creationId xmlns:a16="http://schemas.microsoft.com/office/drawing/2014/main" id="{3ED2D831-6256-6272-378F-71BB32597F50}"/>
              </a:ext>
            </a:extLst>
          </p:cNvPr>
          <p:cNvSpPr txBox="1"/>
          <p:nvPr/>
        </p:nvSpPr>
        <p:spPr bwMode="auto">
          <a:xfrm>
            <a:off x="1193447" y="3053428"/>
            <a:ext cx="277603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スライド上で変数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プレースホルダーを用意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70255D22-F972-7CBB-AA15-5D7513219D70}"/>
              </a:ext>
            </a:extLst>
          </p:cNvPr>
          <p:cNvSpPr txBox="1"/>
          <p:nvPr/>
        </p:nvSpPr>
        <p:spPr bwMode="auto">
          <a:xfrm>
            <a:off x="8465209" y="3068960"/>
            <a:ext cx="2572682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プレースホルダーが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置換される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7548904F-E724-260A-1746-729F976E887D}"/>
              </a:ext>
            </a:extLst>
          </p:cNvPr>
          <p:cNvSpPr txBox="1"/>
          <p:nvPr/>
        </p:nvSpPr>
        <p:spPr bwMode="auto">
          <a:xfrm>
            <a:off x="4583832" y="5130355"/>
            <a:ext cx="300881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結合指示書上の変数値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設定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B7E886BB-4628-02F0-47F7-7E15E2B92342}"/>
              </a:ext>
            </a:extLst>
          </p:cNvPr>
          <p:cNvSpPr/>
          <p:nvPr/>
        </p:nvSpPr>
        <p:spPr bwMode="auto">
          <a:xfrm>
            <a:off x="8222524" y="3717032"/>
            <a:ext cx="3058052" cy="1062575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ct val="150000"/>
              </a:lnSpc>
            </a:pPr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客層： </a:t>
            </a:r>
            <a:r>
              <a:rPr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20</a:t>
            </a:r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代女性</a:t>
            </a:r>
            <a:endParaRPr kumimoji="1" lang="en-US" altLang="ja-JP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eaLnBrk="1" hangingPunct="1">
              <a:lnSpc>
                <a:spcPct val="150000"/>
              </a:lnSpc>
            </a:pPr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主力商品： 極上スイーツ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65ADDF4B-0865-CBE0-8725-99EE9BAB1DFD}"/>
              </a:ext>
            </a:extLst>
          </p:cNvPr>
          <p:cNvSpPr txBox="1"/>
          <p:nvPr/>
        </p:nvSpPr>
        <p:spPr bwMode="auto">
          <a:xfrm>
            <a:off x="5086987" y="3865064"/>
            <a:ext cx="201802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  <a:endParaRPr kumimoji="1" lang="ja-JP" altLang="en-US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DFA8DFE6-F599-F6BF-7D5A-22D028CDA1F1}"/>
              </a:ext>
            </a:extLst>
          </p:cNvPr>
          <p:cNvSpPr txBox="1"/>
          <p:nvPr/>
        </p:nvSpPr>
        <p:spPr bwMode="auto">
          <a:xfrm>
            <a:off x="4957956" y="4347780"/>
            <a:ext cx="226057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変数部分を置換する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50" name="直線矢印コネクタ 49">
            <a:extLst>
              <a:ext uri="{FF2B5EF4-FFF2-40B4-BE49-F238E27FC236}">
                <a16:creationId xmlns:a16="http://schemas.microsoft.com/office/drawing/2014/main" id="{BCEF55E6-67C6-0032-BD28-40C51980C321}"/>
              </a:ext>
            </a:extLst>
          </p:cNvPr>
          <p:cNvCxnSpPr>
            <a:cxnSpLocks/>
          </p:cNvCxnSpPr>
          <p:nvPr/>
        </p:nvCxnSpPr>
        <p:spPr bwMode="auto">
          <a:xfrm flipV="1">
            <a:off x="6037847" y="4717112"/>
            <a:ext cx="0" cy="390325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642213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xportrange">
            <a:extLst>
              <a:ext uri="{FF2B5EF4-FFF2-40B4-BE49-F238E27FC236}">
                <a16:creationId xmlns:a16="http://schemas.microsoft.com/office/drawing/2014/main" id="{EBE09B82-8878-3923-07AB-E5A072188D77}"/>
              </a:ext>
            </a:extLst>
          </p:cNvPr>
          <p:cNvSpPr/>
          <p:nvPr/>
        </p:nvSpPr>
        <p:spPr bwMode="auto">
          <a:xfrm>
            <a:off x="623392" y="912997"/>
            <a:ext cx="10643470" cy="4892267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7E72456-A560-97A2-35B8-97B38DB20E81}"/>
              </a:ext>
            </a:extLst>
          </p:cNvPr>
          <p:cNvSpPr/>
          <p:nvPr/>
        </p:nvSpPr>
        <p:spPr bwMode="auto">
          <a:xfrm>
            <a:off x="925138" y="1468439"/>
            <a:ext cx="10067406" cy="4048793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vars:</a:t>
            </a:r>
          </a:p>
          <a:p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PRODUCT_NAME: </a:t>
            </a:r>
            <a:r>
              <a:rPr lang="ja-JP" altLang="en-US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極上モンブラン</a:t>
            </a:r>
          </a:p>
          <a:p>
            <a:r>
              <a:rPr lang="ja-JP" altLang="en-US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</a:t>
            </a:r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PRICE: 980</a:t>
            </a:r>
            <a:r>
              <a:rPr lang="ja-JP" altLang="en-US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円</a:t>
            </a:r>
          </a:p>
          <a:p>
            <a:r>
              <a:rPr lang="ja-JP" altLang="en-US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</a:t>
            </a:r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FEATURE: </a:t>
            </a:r>
            <a:r>
              <a:rPr lang="ja-JP" altLang="en-US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和栗を使用した濃厚クリーム</a:t>
            </a:r>
          </a:p>
          <a:p>
            <a:endParaRPr lang="ja-JP" altLang="en-US" sz="14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procedure:</a:t>
            </a:r>
          </a:p>
          <a:p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- operation: insertpptx</a:t>
            </a:r>
          </a:p>
          <a:p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  pptxfilename: variable_replacement_guide.pptx</a:t>
            </a:r>
          </a:p>
          <a:p>
            <a:endParaRPr lang="en-US" altLang="ja-JP" sz="14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- operation: insertpptx</a:t>
            </a:r>
          </a:p>
          <a:p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  pptxfilename: variable_replacement_sample1.pptx</a:t>
            </a:r>
          </a:p>
          <a:p>
            <a:endParaRPr lang="en-US" altLang="ja-JP" sz="14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- operation: insertpptx</a:t>
            </a:r>
          </a:p>
          <a:p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  pptxfilename: variable_replacement_sample2.pptx</a:t>
            </a:r>
          </a:p>
          <a:p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  vars:</a:t>
            </a:r>
          </a:p>
          <a:p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    PRODUCT_NAME: </a:t>
            </a:r>
            <a:r>
              <a:rPr lang="ja-JP" altLang="en-US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極上モンブラン（</a:t>
            </a:r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4</a:t>
            </a:r>
            <a:r>
              <a:rPr lang="ja-JP" altLang="en-US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月限定）</a:t>
            </a:r>
          </a:p>
          <a:p>
            <a:r>
              <a:rPr lang="ja-JP" altLang="en-US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    </a:t>
            </a:r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FEATURE: </a:t>
            </a:r>
            <a:r>
              <a:rPr lang="ja-JP" altLang="en-US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最高級イタリア栗の味わい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結合指示書サンプル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AE5E9DF-A8F6-D697-D01F-CCD64AEB801C}"/>
              </a:ext>
            </a:extLst>
          </p:cNvPr>
          <p:cNvSpPr txBox="1"/>
          <p:nvPr/>
        </p:nvSpPr>
        <p:spPr bwMode="auto">
          <a:xfrm>
            <a:off x="925138" y="980728"/>
            <a:ext cx="10715478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結合の指示をする </a:t>
            </a:r>
            <a:r>
              <a:rPr kumimoji="1"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recipe yaml </a:t>
            </a:r>
            <a:r>
              <a:rPr kumimoji="1"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ファイル</a:t>
            </a:r>
            <a:r>
              <a:rPr kumimoji="1"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,</a:t>
            </a:r>
            <a:r>
              <a:rPr kumimoji="1"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</a:t>
            </a:r>
            <a:r>
              <a:rPr lang="fr-FR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simple_numbering_recipe.yaml </a:t>
            </a:r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の記入例です。</a:t>
            </a:r>
            <a:endParaRPr lang="en-US" altLang="ja-JP" sz="1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2B69D96-C693-1B5F-BDFD-EA147BCB6A02}"/>
              </a:ext>
            </a:extLst>
          </p:cNvPr>
          <p:cNvSpPr txBox="1"/>
          <p:nvPr/>
        </p:nvSpPr>
        <p:spPr bwMode="auto">
          <a:xfrm>
            <a:off x="7563755" y="4650897"/>
            <a:ext cx="3312368" cy="73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en-US" altLang="ja-JP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operation</a:t>
            </a:r>
            <a:r>
              <a:rPr kumimoji="1" lang="ja-JP" altLang="en-US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で変数を定義すると、その</a:t>
            </a:r>
            <a:r>
              <a:rPr kumimoji="1" lang="en-US" altLang="ja-JP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operation</a:t>
            </a:r>
            <a:r>
              <a:rPr kumimoji="1" lang="ja-JP" altLang="en-US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でだけグローバル設定を上書きできる</a:t>
            </a:r>
            <a:endParaRPr kumimoji="1" lang="en-US" altLang="ja-JP" sz="1400" kern="0">
              <a:solidFill>
                <a:srgbClr val="FF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14C50910-1EE0-C918-37F2-5448100795A3}"/>
              </a:ext>
            </a:extLst>
          </p:cNvPr>
          <p:cNvSpPr txBox="1"/>
          <p:nvPr/>
        </p:nvSpPr>
        <p:spPr bwMode="auto">
          <a:xfrm>
            <a:off x="3982299" y="6592396"/>
            <a:ext cx="1375225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1050" kern="0">
                <a:solidFill>
                  <a:schemeClr val="bg1">
                    <a:lumMod val="8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#NOREPLACE#</a:t>
            </a:r>
            <a:endParaRPr kumimoji="1" lang="en-US" altLang="ja-JP" sz="1050" kern="0">
              <a:solidFill>
                <a:schemeClr val="bg1">
                  <a:lumMod val="85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C0DAD87E-15D4-FD4C-E609-6CF04D35D31E}"/>
              </a:ext>
            </a:extLst>
          </p:cNvPr>
          <p:cNvSpPr txBox="1"/>
          <p:nvPr/>
        </p:nvSpPr>
        <p:spPr bwMode="auto">
          <a:xfrm>
            <a:off x="5640210" y="6592396"/>
            <a:ext cx="1375225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1050" kern="0">
                <a:solidFill>
                  <a:schemeClr val="bg1">
                    <a:lumMod val="8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#STAY#</a:t>
            </a:r>
            <a:endParaRPr kumimoji="1" lang="en-US" altLang="ja-JP" sz="1050" kern="0">
              <a:solidFill>
                <a:schemeClr val="bg1">
                  <a:lumMod val="85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616E2DC5-4030-BA2F-9ECB-4ED7659B6FCE}"/>
              </a:ext>
            </a:extLst>
          </p:cNvPr>
          <p:cNvSpPr txBox="1"/>
          <p:nvPr/>
        </p:nvSpPr>
        <p:spPr bwMode="auto">
          <a:xfrm>
            <a:off x="7038905" y="6592396"/>
            <a:ext cx="1793399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1050" kern="0">
                <a:solidFill>
                  <a:schemeClr val="bg1">
                    <a:lumMod val="8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#NONUMBERING#</a:t>
            </a:r>
            <a:endParaRPr kumimoji="1" lang="en-US" altLang="ja-JP" sz="1050" kern="0">
              <a:solidFill>
                <a:schemeClr val="bg1">
                  <a:lumMod val="85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111CBF86-19B6-D146-B90D-BA131A5A5C27}"/>
              </a:ext>
            </a:extLst>
          </p:cNvPr>
          <p:cNvSpPr txBox="1"/>
          <p:nvPr/>
        </p:nvSpPr>
        <p:spPr bwMode="auto">
          <a:xfrm>
            <a:off x="7464152" y="1534295"/>
            <a:ext cx="3105752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結合指示書で変数を定義する。</a:t>
            </a:r>
            <a:endParaRPr kumimoji="1" lang="en-US" altLang="ja-JP" sz="1400" kern="0">
              <a:solidFill>
                <a:srgbClr val="FF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/>
            <a:r>
              <a:rPr kumimoji="1" lang="en-US" altLang="ja-JP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procedure </a:t>
            </a:r>
            <a:r>
              <a:rPr kumimoji="1" lang="ja-JP" altLang="en-US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外で定義した変数は、すべての </a:t>
            </a:r>
            <a:r>
              <a:rPr kumimoji="1" lang="en-US" altLang="ja-JP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operation </a:t>
            </a:r>
            <a:r>
              <a:rPr kumimoji="1" lang="ja-JP" altLang="en-US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で有効</a:t>
            </a:r>
            <a:endParaRPr kumimoji="1" lang="en-US" altLang="ja-JP" sz="1400" kern="0">
              <a:solidFill>
                <a:srgbClr val="FF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/>
            <a:r>
              <a:rPr kumimoji="1" lang="ja-JP" altLang="en-US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（グローバル設定）</a:t>
            </a:r>
            <a:endParaRPr kumimoji="1" lang="en-US" altLang="ja-JP" sz="1400" kern="0">
              <a:solidFill>
                <a:srgbClr val="FF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D7755DFC-4BA4-DC72-C069-883F2932B66A}"/>
              </a:ext>
            </a:extLst>
          </p:cNvPr>
          <p:cNvCxnSpPr>
            <a:cxnSpLocks/>
          </p:cNvCxnSpPr>
          <p:nvPr/>
        </p:nvCxnSpPr>
        <p:spPr bwMode="auto">
          <a:xfrm flipH="1">
            <a:off x="1559496" y="1791866"/>
            <a:ext cx="5904656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103787F-3CF1-2F28-D518-0F115CE10C2C}"/>
              </a:ext>
            </a:extLst>
          </p:cNvPr>
          <p:cNvSpPr/>
          <p:nvPr/>
        </p:nvSpPr>
        <p:spPr bwMode="auto">
          <a:xfrm>
            <a:off x="8472264" y="195005"/>
            <a:ext cx="3393824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en-US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lang="ja-JP" altLang="en-US" sz="11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F5720ED1-0054-5927-9FBF-D2D9C3E9AC80}"/>
              </a:ext>
            </a:extLst>
          </p:cNvPr>
          <p:cNvCxnSpPr>
            <a:cxnSpLocks/>
          </p:cNvCxnSpPr>
          <p:nvPr/>
        </p:nvCxnSpPr>
        <p:spPr bwMode="auto">
          <a:xfrm flipH="1">
            <a:off x="1847528" y="4821535"/>
            <a:ext cx="5616624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560659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80DA0-5634-1D14-F174-1938186B8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AB3BD8A-38F5-4ADC-5578-0E4942CE1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2.1) 変数参照サンプル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14218C35-D3D0-4185-2375-9A06EB55C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4" name="右中かっこ 3">
            <a:extLst>
              <a:ext uri="{FF2B5EF4-FFF2-40B4-BE49-F238E27FC236}">
                <a16:creationId xmlns:a16="http://schemas.microsoft.com/office/drawing/2014/main" id="{F2B043CC-3ACB-62A7-971F-700AF147958C}"/>
              </a:ext>
            </a:extLst>
          </p:cNvPr>
          <p:cNvSpPr/>
          <p:nvPr/>
        </p:nvSpPr>
        <p:spPr bwMode="auto">
          <a:xfrm>
            <a:off x="6023992" y="1775516"/>
            <a:ext cx="432048" cy="1268168"/>
          </a:xfrm>
          <a:prstGeom prst="rightBrace">
            <a:avLst>
              <a:gd name="adj1" fmla="val 28175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FC6A11D-84CD-13B8-28D4-CCEBC75E4CFE}"/>
              </a:ext>
            </a:extLst>
          </p:cNvPr>
          <p:cNvSpPr txBox="1"/>
          <p:nvPr/>
        </p:nvSpPr>
        <p:spPr bwMode="auto">
          <a:xfrm>
            <a:off x="6672064" y="2126754"/>
            <a:ext cx="3384376" cy="4371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次スライドでは置換されます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5741CBE-719B-0ECA-F5A0-7A7A313C8194}"/>
              </a:ext>
            </a:extLst>
          </p:cNvPr>
          <p:cNvSpPr txBox="1"/>
          <p:nvPr/>
        </p:nvSpPr>
        <p:spPr bwMode="auto">
          <a:xfrm>
            <a:off x="1177166" y="1781618"/>
            <a:ext cx="4918834" cy="12681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商品名 </a:t>
            </a: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: {{v:PRODUCT_NAME}}</a:t>
            </a:r>
            <a:b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</a:b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価格    </a:t>
            </a: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: {{v:PRICE}}</a:t>
            </a:r>
            <a:b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</a:b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特徴　　</a:t>
            </a: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: {{v:FEATURE}}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ADDB107-39EB-6243-66F0-FD68AF863A6A}"/>
              </a:ext>
            </a:extLst>
          </p:cNvPr>
          <p:cNvSpPr/>
          <p:nvPr/>
        </p:nvSpPr>
        <p:spPr bwMode="auto">
          <a:xfrm>
            <a:off x="8472264" y="195005"/>
            <a:ext cx="3393824" cy="499264"/>
          </a:xfrm>
          <a:prstGeom prst="rect">
            <a:avLst/>
          </a:prstGeom>
          <a:solidFill>
            <a:srgbClr val="92D05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B7281CD-70F3-65C0-8EA9-DCF08C79776E}"/>
              </a:ext>
            </a:extLst>
          </p:cNvPr>
          <p:cNvSpPr txBox="1"/>
          <p:nvPr/>
        </p:nvSpPr>
        <p:spPr bwMode="auto">
          <a:xfrm>
            <a:off x="6918226" y="2972554"/>
            <a:ext cx="3384376" cy="4371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#NOREPLACE#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31658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2.2) 変数参照サンプル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133CA1C-D8B0-D125-9CDC-CF5C816EACA2}"/>
              </a:ext>
            </a:extLst>
          </p:cNvPr>
          <p:cNvSpPr txBox="1"/>
          <p:nvPr/>
        </p:nvSpPr>
        <p:spPr bwMode="auto">
          <a:xfrm>
            <a:off x="1177166" y="1781618"/>
            <a:ext cx="4918834" cy="12681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商品名 </a:t>
            </a: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: </a:t>
            </a: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極上モンブラン</a:t>
            </a:r>
            <a:b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</a:b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価格    </a:t>
            </a: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: 980</a:t>
            </a: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円</a:t>
            </a:r>
            <a:b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</a:b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特徴　　</a:t>
            </a: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: </a:t>
            </a: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熊本県産和栗の濃厚クリーム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右中かっこ 5">
            <a:extLst>
              <a:ext uri="{FF2B5EF4-FFF2-40B4-BE49-F238E27FC236}">
                <a16:creationId xmlns:a16="http://schemas.microsoft.com/office/drawing/2014/main" id="{F84A2AF2-C8CF-E2B8-2B40-450789EF1321}"/>
              </a:ext>
            </a:extLst>
          </p:cNvPr>
          <p:cNvSpPr/>
          <p:nvPr/>
        </p:nvSpPr>
        <p:spPr bwMode="auto">
          <a:xfrm>
            <a:off x="6023992" y="1775516"/>
            <a:ext cx="432048" cy="1268168"/>
          </a:xfrm>
          <a:prstGeom prst="rightBrace">
            <a:avLst>
              <a:gd name="adj1" fmla="val 28175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3454547-9B67-0095-F1DD-D27174BAA098}"/>
              </a:ext>
            </a:extLst>
          </p:cNvPr>
          <p:cNvSpPr txBox="1"/>
          <p:nvPr/>
        </p:nvSpPr>
        <p:spPr bwMode="auto">
          <a:xfrm>
            <a:off x="6672064" y="2126754"/>
            <a:ext cx="3384376" cy="4371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置換されました</a:t>
            </a:r>
            <a:endParaRPr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29A5A94C-8646-407F-C31F-C0CE0170D834}"/>
              </a:ext>
            </a:extLst>
          </p:cNvPr>
          <p:cNvSpPr/>
          <p:nvPr/>
        </p:nvSpPr>
        <p:spPr bwMode="auto">
          <a:xfrm>
            <a:off x="8472264" y="195005"/>
            <a:ext cx="3393824" cy="499264"/>
          </a:xfrm>
          <a:prstGeom prst="rect">
            <a:avLst/>
          </a:prstGeom>
          <a:solidFill>
            <a:srgbClr val="92D05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variable_replacement_sample1.pptx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22056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80DA0-5634-1D14-F174-1938186B8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AB3BD8A-38F5-4ADC-5578-0E4942CE1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3.1) 変数参照サンプル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14218C35-D3D0-4185-2375-9A06EB55C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4" name="右中かっこ 3">
            <a:extLst>
              <a:ext uri="{FF2B5EF4-FFF2-40B4-BE49-F238E27FC236}">
                <a16:creationId xmlns:a16="http://schemas.microsoft.com/office/drawing/2014/main" id="{F2B043CC-3ACB-62A7-971F-700AF147958C}"/>
              </a:ext>
            </a:extLst>
          </p:cNvPr>
          <p:cNvSpPr/>
          <p:nvPr/>
        </p:nvSpPr>
        <p:spPr bwMode="auto">
          <a:xfrm>
            <a:off x="6023992" y="1775516"/>
            <a:ext cx="432048" cy="1268168"/>
          </a:xfrm>
          <a:prstGeom prst="rightBrace">
            <a:avLst>
              <a:gd name="adj1" fmla="val 28175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FC6A11D-84CD-13B8-28D4-CCEBC75E4CFE}"/>
              </a:ext>
            </a:extLst>
          </p:cNvPr>
          <p:cNvSpPr txBox="1"/>
          <p:nvPr/>
        </p:nvSpPr>
        <p:spPr bwMode="auto">
          <a:xfrm>
            <a:off x="6672064" y="2119038"/>
            <a:ext cx="3816424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変数名は同じでも、ひとつ前の</a:t>
            </a:r>
            <a:endParaRPr lang="en-US" altLang="ja-JP" sz="18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サンプルとは別な値に置換されます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5565F6C-35C1-212B-1209-7536AA8210DD}"/>
              </a:ext>
            </a:extLst>
          </p:cNvPr>
          <p:cNvSpPr txBox="1"/>
          <p:nvPr/>
        </p:nvSpPr>
        <p:spPr bwMode="auto">
          <a:xfrm>
            <a:off x="6918226" y="2972554"/>
            <a:ext cx="3384376" cy="4371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#NOREPLACE#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5741CBE-719B-0ECA-F5A0-7A7A313C8194}"/>
              </a:ext>
            </a:extLst>
          </p:cNvPr>
          <p:cNvSpPr txBox="1"/>
          <p:nvPr/>
        </p:nvSpPr>
        <p:spPr bwMode="auto">
          <a:xfrm>
            <a:off x="1177166" y="1781618"/>
            <a:ext cx="4918834" cy="12681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商品名 </a:t>
            </a: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: {{v:PRODUCT_NAME}}</a:t>
            </a:r>
            <a:b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</a:b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価格    </a:t>
            </a: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: {{v:PRICE}}</a:t>
            </a:r>
            <a:b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</a:b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特徴　　</a:t>
            </a: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: {{v:FEATURE}}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43AC135-09CD-645F-E1C1-15230765961C}"/>
              </a:ext>
            </a:extLst>
          </p:cNvPr>
          <p:cNvSpPr/>
          <p:nvPr/>
        </p:nvSpPr>
        <p:spPr bwMode="auto">
          <a:xfrm>
            <a:off x="8472264" y="195005"/>
            <a:ext cx="3393824" cy="499264"/>
          </a:xfrm>
          <a:prstGeom prst="rect">
            <a:avLst/>
          </a:prstGeom>
          <a:solidFill>
            <a:srgbClr val="66FFFF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23175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3.2) 変数参照サンプル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133CA1C-D8B0-D125-9CDC-CF5C816EACA2}"/>
              </a:ext>
            </a:extLst>
          </p:cNvPr>
          <p:cNvSpPr txBox="1"/>
          <p:nvPr/>
        </p:nvSpPr>
        <p:spPr bwMode="auto">
          <a:xfrm>
            <a:off x="1177166" y="1781618"/>
            <a:ext cx="4918834" cy="12681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商品名 </a:t>
            </a: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: </a:t>
            </a: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極上モンブラン（</a:t>
            </a: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4</a:t>
            </a: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月限定）</a:t>
            </a:r>
            <a:b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</a:b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価格    </a:t>
            </a: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: 980</a:t>
            </a: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円</a:t>
            </a:r>
            <a:b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</a:b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特徴　　</a:t>
            </a: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: </a:t>
            </a: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最高級イタリア栗の味わい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右中かっこ 5">
            <a:extLst>
              <a:ext uri="{FF2B5EF4-FFF2-40B4-BE49-F238E27FC236}">
                <a16:creationId xmlns:a16="http://schemas.microsoft.com/office/drawing/2014/main" id="{F84A2AF2-C8CF-E2B8-2B40-450789EF1321}"/>
              </a:ext>
            </a:extLst>
          </p:cNvPr>
          <p:cNvSpPr/>
          <p:nvPr/>
        </p:nvSpPr>
        <p:spPr bwMode="auto">
          <a:xfrm>
            <a:off x="6023992" y="1775516"/>
            <a:ext cx="432048" cy="1268168"/>
          </a:xfrm>
          <a:prstGeom prst="rightBrace">
            <a:avLst>
              <a:gd name="adj1" fmla="val 28175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3454547-9B67-0095-F1DD-D27174BAA098}"/>
              </a:ext>
            </a:extLst>
          </p:cNvPr>
          <p:cNvSpPr txBox="1"/>
          <p:nvPr/>
        </p:nvSpPr>
        <p:spPr bwMode="auto">
          <a:xfrm>
            <a:off x="6672064" y="2126754"/>
            <a:ext cx="3384376" cy="4371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置換されました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0E0CCF2-D95E-8E45-D973-E5341B421C40}"/>
              </a:ext>
            </a:extLst>
          </p:cNvPr>
          <p:cNvSpPr/>
          <p:nvPr/>
        </p:nvSpPr>
        <p:spPr bwMode="auto">
          <a:xfrm>
            <a:off x="8472264" y="195005"/>
            <a:ext cx="3393824" cy="499264"/>
          </a:xfrm>
          <a:prstGeom prst="rect">
            <a:avLst/>
          </a:prstGeom>
          <a:solidFill>
            <a:srgbClr val="66FFFF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variable_replacement_sample2.pptx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477055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Edge">
  <a:themeElements>
    <a:clrScheme name="ユーザー定義 1">
      <a:dk1>
        <a:srgbClr val="292929"/>
      </a:dk1>
      <a:lt1>
        <a:sysClr val="window" lastClr="FFFFFF"/>
      </a:lt1>
      <a:dk2>
        <a:srgbClr val="244242"/>
      </a:dk2>
      <a:lt2>
        <a:srgbClr val="FFFFFF"/>
      </a:lt2>
      <a:accent1>
        <a:srgbClr val="51BD9C"/>
      </a:accent1>
      <a:accent2>
        <a:srgbClr val="FF2121"/>
      </a:accent2>
      <a:accent3>
        <a:srgbClr val="A3E3B1"/>
      </a:accent3>
      <a:accent4>
        <a:srgbClr val="FFE8B3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ユーザー定義 1">
      <a:majorFont>
        <a:latin typeface="Calibri"/>
        <a:ea typeface="メイリオ"/>
        <a:cs typeface=""/>
      </a:majorFont>
      <a:minorFont>
        <a:latin typeface="Calibr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2700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sz="2000" b="1" i="0" u="none" strike="noStrike" cap="none" normalizeH="0" baseline="0" dirty="0">
            <a:ln>
              <a:noFill/>
            </a:ln>
            <a:solidFill>
              <a:schemeClr val="tx1"/>
            </a:solidFill>
            <a:effectLst/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spDef>
    <a:lnDef>
      <a:spPr bwMode="auto">
        <a:solidFill>
          <a:srgbClr val="CCFFFF"/>
        </a:solidFill>
        <a:ln w="28575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triangle"/>
        </a:ln>
        <a:effectLst/>
      </a:spPr>
      <a:bodyPr/>
      <a:lstStyle/>
    </a:lnDef>
    <a:txDef>
      <a:spPr bwMode="auto">
        <a:noFill/>
        <a:ln>
          <a:noFill/>
        </a:ln>
        <a:extLst>
          <a:ext uri="{909E8E84-426E-40DD-AFC4-6F175D3DCCD1}">
            <a14:hiddenFill xmlns:a14="http://schemas.microsoft.com/office/drawing/2010/main">
              <a:solidFill>
                <a:srgbClr val="FFFFFF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rgbClr val="000000"/>
              </a:solidFill>
              <a:miter lim="800000"/>
              <a:headEnd/>
              <a:tailEnd/>
            </a14:hiddenLine>
          </a:ext>
        </a:extLst>
      </a:spPr>
      <a:bodyPr vert="horz" wrap="square" lIns="91440" tIns="45720" rIns="91440" bIns="45720" numCol="1" rtlCol="0" anchor="t" anchorCtr="0" compatLnSpc="1">
        <a:prstTxWarp prst="textNoShape">
          <a:avLst/>
        </a:prstTxWarp>
        <a:spAutoFit/>
      </a:bodyPr>
      <a:lstStyle>
        <a:defPPr algn="l">
          <a:defRPr kumimoji="1" sz="1800" kern="0" smtClean="0"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txDef>
  </a:objectDefaults>
  <a:extraClrSchemeLst>
    <a:extraClrScheme>
      <a:clrScheme name="Edg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図解技法による分かりやすい資料の作成講座-20181121・講師用</Template>
  <TotalTime>29752</TotalTime>
  <Words>784</Words>
  <Application>Microsoft Office PowerPoint</Application>
  <PresentationFormat>ワイド画面</PresentationFormat>
  <Paragraphs>157</Paragraphs>
  <Slides>6</Slides>
  <Notes>6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2" baseType="lpstr">
      <vt:lpstr>BIZ UDPゴシック</vt:lpstr>
      <vt:lpstr>FOT-UD丸ゴ_ラージ Pr6 M</vt:lpstr>
      <vt:lpstr>Arial</vt:lpstr>
      <vt:lpstr>Garamond</vt:lpstr>
      <vt:lpstr>Wingdings</vt:lpstr>
      <vt:lpstr>Edge</vt:lpstr>
      <vt:lpstr>スライド中の変数置換</vt:lpstr>
      <vt:lpstr>結合指示書サンプル</vt:lpstr>
      <vt:lpstr>変数参照サンプル</vt:lpstr>
      <vt:lpstr>変数参照サンプル</vt:lpstr>
      <vt:lpstr>変数参照サンプル</vt:lpstr>
      <vt:lpstr>変数参照サンプル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cp:lastModifiedBy>瑞浩 開米</cp:lastModifiedBy>
  <cp:revision>4041</cp:revision>
  <dcterms:modified xsi:type="dcterms:W3CDTF">2026-06-04T08:33:02Z</dcterms:modified>
</cp:coreProperties>
</file>