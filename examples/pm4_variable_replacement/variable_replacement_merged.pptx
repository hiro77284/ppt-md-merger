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8"/>
  </p:notesMasterIdLst>
  <p:sldIdLst>
    <p:sldId id="1788" r:id="rId2"/>
    <p:sldId id="1782" r:id="rId3"/>
    <p:sldId id="1789" r:id="rId4"/>
    <p:sldId id="1785" r:id="rId5"/>
    <p:sldId id="1790" r:id="rId6"/>
    <p:sldId id="1791" r:id="rId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CCECFF"/>
    <a:srgbClr val="99FFCC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67932" autoAdjust="0"/>
  </p:normalViewPr>
  <p:slideViewPr>
    <p:cSldViewPr>
      <p:cViewPr varScale="1">
        <p:scale>
          <a:sx n="76" d="100"/>
          <a:sy n="76" d="100"/>
        </p:scale>
        <p:origin x="100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>
            <a:endParaRPr/>
          </a:p>
          <a:p>
            <a:r>
              <a:t>===BLOCK===</a:t>
            </a:r>
          </a:p>
          <a:p>
            <a:r>
              <a:t>{{BLOCK:IMAGE}}</a:t>
            </a:r>
          </a:p>
          <a:p>
            <a:endParaRPr/>
          </a:p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rPr lang="en-US"/>
              <a:t>export-image: extracted/figures/&lt;__BASEFILENAME__&gt;_slide&lt;__SLIDENUM__&gt;_fig.png</a:t>
            </a:r>
          </a:p>
          <a:p>
            <a:endParaRPr/>
          </a:p>
          <a:p>
            <a:r>
              <a:rPr lang="en-US" altLang="ja-JP"/>
              <a:t>===BLOCK===</a:t>
            </a:r>
          </a:p>
          <a:p>
            <a:r>
              <a:rPr lang="en-US" altLang="ja-JP"/>
              <a:t>{{BLOCK:IMAGE}}</a:t>
            </a:r>
          </a:p>
          <a:p>
            <a:endParaRPr lang="en-US" altLang="ja-JP"/>
          </a:p>
          <a:p>
            <a:r>
              <a:rPr lang="en-US" altLang="ja-JP"/>
              <a:t>export-image-mode: slide_with_rectpct</a:t>
            </a:r>
          </a:p>
          <a:p>
            <a:r>
              <a:rPr lang="en-US" altLang="ja-JP"/>
              <a:t>export-image-target: keyvisual</a:t>
            </a:r>
          </a:p>
          <a:p>
            <a:r>
              <a:rPr lang="en-US" altLang="ja-JP"/>
              <a:t>export-image: extracted/figures/&lt;__BASEFILENAME__&gt;_keyvisual.png</a:t>
            </a:r>
          </a:p>
          <a:p>
            <a:endParaRPr lang="en-US" altLang="ja-JP"/>
          </a:p>
          <a:p>
            <a:r>
              <a:t>===BLOCK===</a:t>
            </a:r>
          </a:p>
          <a:p>
            <a:r>
              <a:t>{{BLOCK:MD:LONG}}</a:t>
            </a:r>
          </a:p>
          <a:p>
            <a:endParaRPr/>
          </a:p>
          <a:p>
            <a:r>
              <a:rPr lang="en-US"/>
              <a:t>export-note: extracted/&lt;__BASEFILENAME__&gt;_slide&lt;__SLIDENUM__&gt;_md.md</a:t>
            </a:r>
          </a:p>
          <a:p>
            <a:r>
              <a:rPr lang="en-US"/>
              <a:t>{{#id:section:&lt;__BASEFILENAME__&gt;:slide&lt;__SLIDENUM__&gt;}}</a:t>
            </a:r>
          </a:p>
          <a:p>
            <a:r>
              <a:t>## &lt;__TITLE__&gt;</a:t>
            </a:r>
          </a:p>
          <a:p>
            <a:endParaRPr/>
          </a:p>
          <a:p>
            <a:r>
              <a:t>変数置換はスライド上に差し替え可能なプレースホルダーを用意しておき、設定ファイルの変数でそれを差し替え表示することです。</a:t>
            </a:r>
          </a:p>
          <a:p>
            <a:endParaRPr/>
          </a:p>
          <a:p>
            <a:r>
              <a:t>変数の有効範囲はファイル全体に適用することも、1つのoperation限定で適用することもできます。</a:t>
            </a:r>
          </a:p>
          <a:p>
            <a:endParaRPr/>
          </a:p>
          <a:p>
            <a:endParaRPr/>
          </a:p>
          <a:p>
            <a:r>
              <a:t>```{=latex}</a:t>
            </a:r>
          </a:p>
          <a:p>
            <a:r>
              <a:t>\begin{center}</a:t>
            </a:r>
          </a:p>
          <a:p>
            <a:r>
              <a:t>```</a:t>
            </a:r>
          </a:p>
          <a:p>
            <a:endParaRPr/>
          </a:p>
          <a:p>
            <a:r>
              <a:rPr lang="en-US"/>
              <a:t>![](figures/&lt;__BASEFILENAME__&gt;_slide&lt;__SLIDENUM__&gt;_fig.png){ width=95% }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/>
              <a:t>![](figures/&lt;__BASEFILENAME__&gt;_keyvisual.png){ width=90% }</a:t>
            </a:r>
          </a:p>
          <a:p>
            <a:endParaRPr lang="en-US"/>
          </a:p>
          <a:p>
            <a:endParaRPr/>
          </a:p>
          <a:p>
            <a:r>
              <a:t>```{=latex}</a:t>
            </a:r>
          </a:p>
          <a:p>
            <a:r>
              <a:t>\end{center}</a:t>
            </a:r>
          </a:p>
          <a:p>
            <a:r>
              <a:t>```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06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>
            <a:endParaRPr/>
          </a:p>
          <a:p>
            <a:r>
              <a:t>===BLOCK===</a:t>
            </a:r>
          </a:p>
          <a:p>
            <a:r>
              <a:t>{{BLOCK:IMAGE}}</a:t>
            </a:r>
          </a:p>
          <a:p>
            <a:endParaRPr/>
          </a:p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rPr lang="en-US"/>
              <a:t>export-image: extracted/figures/&lt;__BASEFILENAME__&gt;_slide&lt;__SLIDENUM__&gt;_fig.png</a:t>
            </a:r>
          </a:p>
          <a:p>
            <a:endParaRPr/>
          </a:p>
          <a:p>
            <a:r>
              <a:t>===BLOCK===</a:t>
            </a:r>
          </a:p>
          <a:p>
            <a:r>
              <a:t>{{BLOCK:MD:LONG}}</a:t>
            </a:r>
          </a:p>
          <a:p>
            <a:endParaRPr/>
          </a:p>
          <a:p>
            <a:r>
              <a:rPr lang="en-US"/>
              <a:t>export-note: extracted/&lt;__BASEFILENAME__&gt;_slide&lt;__SLIDENUM__&gt;_md.md</a:t>
            </a:r>
          </a:p>
          <a:p>
            <a:r>
              <a:rPr lang="en-US"/>
              <a:t>{{#id:section:&lt;__BASEFILENAME__&gt;:slide&lt;__SLIDENUM__&gt;}}</a:t>
            </a:r>
          </a:p>
          <a:p>
            <a:r>
              <a:t>## &lt;__TITLE__&gt;</a:t>
            </a:r>
          </a:p>
          <a:p>
            <a:endParaRPr/>
          </a:p>
          <a:p>
            <a:r>
              <a:t>結合指示書の vars: セクションで変数を定義します。</a:t>
            </a:r>
          </a:p>
          <a:p>
            <a:endParaRPr/>
          </a:p>
          <a:p>
            <a:r>
              <a:t>procedure外で定義するとすべてのoperationで有効になり、operationで定義するとそのoperationでだけ有効です。</a:t>
            </a:r>
          </a:p>
          <a:p>
            <a:endParaRPr/>
          </a:p>
          <a:p>
            <a:r>
              <a:t>グローバルな設定をoperation で上書きすることもできます。</a:t>
            </a:r>
          </a:p>
          <a:p>
            <a:endParaRPr/>
          </a:p>
          <a:p>
            <a:endParaRPr/>
          </a:p>
          <a:p>
            <a:r>
              <a:t>```{=latex}</a:t>
            </a:r>
          </a:p>
          <a:p>
            <a:r>
              <a:t>\begin{center}</a:t>
            </a:r>
          </a:p>
          <a:p>
            <a:r>
              <a:t>```</a:t>
            </a:r>
          </a:p>
          <a:p>
            <a:endParaRPr/>
          </a:p>
          <a:p>
            <a:r>
              <a:rPr lang="en-US"/>
              <a:t>![](figures/&lt;__BASEFILENAME__&gt;_slide&lt;__SLIDENUM__&gt;_fig.png){ width=95% }</a:t>
            </a:r>
          </a:p>
          <a:p>
            <a:endParaRPr/>
          </a:p>
          <a:p>
            <a:r>
              <a:t>```{=latex}</a:t>
            </a:r>
          </a:p>
          <a:p>
            <a:r>
              <a:t>\end{center}</a:t>
            </a:r>
          </a:p>
          <a:p>
            <a:r>
              <a:t>```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144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27C47-6A9B-253E-89DC-DEEE4DB8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C8CA9DB-0BF7-19D5-AD37-A43BBD081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88D59A-C150-C028-8959-BA1B9F9ED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E180F7-81E5-C61A-F577-6D601414D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39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980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27C47-6A9B-253E-89DC-DEEE4DB8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C8CA9DB-0BF7-19D5-AD37-A43BBD081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88D59A-C150-C028-8959-BA1B9F9ED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E180F7-81E5-C61A-F577-6D601414D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998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2719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ortrange">
            <a:extLst>
              <a:ext uri="{FF2B5EF4-FFF2-40B4-BE49-F238E27FC236}">
                <a16:creationId xmlns:a16="http://schemas.microsoft.com/office/drawing/2014/main" id="{DE4AFCE4-7D71-B7C7-B968-F1E012697831}"/>
              </a:ext>
            </a:extLst>
          </p:cNvPr>
          <p:cNvSpPr/>
          <p:nvPr/>
        </p:nvSpPr>
        <p:spPr bwMode="auto">
          <a:xfrm>
            <a:off x="623392" y="912997"/>
            <a:ext cx="10824782" cy="191130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keyvisual">
            <a:extLst>
              <a:ext uri="{FF2B5EF4-FFF2-40B4-BE49-F238E27FC236}">
                <a16:creationId xmlns:a16="http://schemas.microsoft.com/office/drawing/2014/main" id="{56EF38CC-AF54-1080-2868-D3D855DAD9FA}"/>
              </a:ext>
            </a:extLst>
          </p:cNvPr>
          <p:cNvSpPr/>
          <p:nvPr/>
        </p:nvSpPr>
        <p:spPr bwMode="auto">
          <a:xfrm>
            <a:off x="911424" y="2904486"/>
            <a:ext cx="10536750" cy="368240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1.1) スライド中の変数置換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 pptmerge variable_replacement_recipe.yaml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25025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変数を定義しておき、スライドでそれを参照して置換する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9071F12-387C-5A22-939B-F2200B79350D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kumimoji="1" lang="en-US" altLang="ja-JP" sz="11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</a:t>
            </a:r>
            <a:r>
              <a:rPr lang="en-US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"vars"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FE381D9-F00C-E5BA-3584-ABDCA945B09F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491889-C51E-5A48-83B2-129353663E72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pm4_variable_replacement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5ECCD28-F21A-5979-5AEB-7DC63745607E}"/>
              </a:ext>
            </a:extLst>
          </p:cNvPr>
          <p:cNvSpPr txBox="1"/>
          <p:nvPr/>
        </p:nvSpPr>
        <p:spPr bwMode="auto">
          <a:xfrm>
            <a:off x="3249738" y="6592396"/>
            <a:ext cx="13752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050" kern="0">
                <a:solidFill>
                  <a:schemeClr val="bg1">
                    <a:lumMod val="8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#NOREPLACE#</a:t>
            </a:r>
            <a:endParaRPr kumimoji="1" lang="en-US" altLang="ja-JP" sz="1050" kern="0">
              <a:solidFill>
                <a:schemeClr val="bg1">
                  <a:lumMod val="8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A429F61-C407-CDE7-8053-C253DF01AB6D}"/>
              </a:ext>
            </a:extLst>
          </p:cNvPr>
          <p:cNvSpPr/>
          <p:nvPr/>
        </p:nvSpPr>
        <p:spPr bwMode="auto">
          <a:xfrm>
            <a:off x="1061448" y="3717032"/>
            <a:ext cx="2974029" cy="106257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客層： </a:t>
            </a: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{{v:TARGET}}</a:t>
            </a:r>
          </a:p>
          <a:p>
            <a:pPr marL="0" marR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主力商品： </a:t>
            </a: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{{v:PLAN}}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C4888BB-B62B-EF45-4AE1-132112A9B4CA}"/>
              </a:ext>
            </a:extLst>
          </p:cNvPr>
          <p:cNvSpPr/>
          <p:nvPr/>
        </p:nvSpPr>
        <p:spPr bwMode="auto">
          <a:xfrm>
            <a:off x="4775124" y="5512303"/>
            <a:ext cx="2641750" cy="99440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結合指示書</a:t>
            </a:r>
            <a:endParaRPr kumimoji="1" lang="en-US" altLang="ja-JP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TARGET=20</a:t>
            </a: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代女性</a:t>
            </a:r>
            <a:endParaRPr kumimoji="1" lang="en-US" altLang="ja-JP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PLAN</a:t>
            </a: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＝極上スイーツ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85F7FCE7-2796-E34F-A961-6FDEED087D6D}"/>
              </a:ext>
            </a:extLst>
          </p:cNvPr>
          <p:cNvCxnSpPr>
            <a:cxnSpLocks/>
          </p:cNvCxnSpPr>
          <p:nvPr/>
        </p:nvCxnSpPr>
        <p:spPr bwMode="auto">
          <a:xfrm>
            <a:off x="4217512" y="4316654"/>
            <a:ext cx="3640671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3ED2D831-6256-6272-378F-71BB32597F50}"/>
              </a:ext>
            </a:extLst>
          </p:cNvPr>
          <p:cNvSpPr txBox="1"/>
          <p:nvPr/>
        </p:nvSpPr>
        <p:spPr bwMode="auto">
          <a:xfrm>
            <a:off x="1193447" y="3053428"/>
            <a:ext cx="27760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スライド上で変数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プレースホルダーを用意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0255D22-F972-7CBB-AA15-5D7513219D70}"/>
              </a:ext>
            </a:extLst>
          </p:cNvPr>
          <p:cNvSpPr txBox="1"/>
          <p:nvPr/>
        </p:nvSpPr>
        <p:spPr bwMode="auto">
          <a:xfrm>
            <a:off x="8465209" y="3068960"/>
            <a:ext cx="25726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プレースホルダーが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置換される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548904F-E724-260A-1746-729F976E887D}"/>
              </a:ext>
            </a:extLst>
          </p:cNvPr>
          <p:cNvSpPr txBox="1"/>
          <p:nvPr/>
        </p:nvSpPr>
        <p:spPr bwMode="auto">
          <a:xfrm>
            <a:off x="4583832" y="5130355"/>
            <a:ext cx="30088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結合指示書上の変数値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設定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7E886BB-4628-02F0-47F7-7E15E2B92342}"/>
              </a:ext>
            </a:extLst>
          </p:cNvPr>
          <p:cNvSpPr/>
          <p:nvPr/>
        </p:nvSpPr>
        <p:spPr bwMode="auto">
          <a:xfrm>
            <a:off x="8222524" y="3717032"/>
            <a:ext cx="3058052" cy="106257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客層：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代女性</a:t>
            </a:r>
            <a:endParaRPr kumimoji="1" lang="en-US" altLang="ja-JP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 hangingPunct="1">
              <a:lnSpc>
                <a:spcPct val="150000"/>
              </a:lnSpc>
            </a:pP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主力商品： 極上スイーツ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5ADDF4B-0865-CBE0-8725-99EE9BAB1DFD}"/>
              </a:ext>
            </a:extLst>
          </p:cNvPr>
          <p:cNvSpPr txBox="1"/>
          <p:nvPr/>
        </p:nvSpPr>
        <p:spPr bwMode="auto">
          <a:xfrm>
            <a:off x="5086987" y="3865064"/>
            <a:ext cx="2018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FA8DFE6-F599-F6BF-7D5A-22D028CDA1F1}"/>
              </a:ext>
            </a:extLst>
          </p:cNvPr>
          <p:cNvSpPr txBox="1"/>
          <p:nvPr/>
        </p:nvSpPr>
        <p:spPr bwMode="auto">
          <a:xfrm>
            <a:off x="4957956" y="4347780"/>
            <a:ext cx="2260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変数部分を置換する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BCEF55E6-67C6-0032-BD28-40C51980C321}"/>
              </a:ext>
            </a:extLst>
          </p:cNvPr>
          <p:cNvCxnSpPr>
            <a:cxnSpLocks/>
          </p:cNvCxnSpPr>
          <p:nvPr/>
        </p:nvCxnSpPr>
        <p:spPr bwMode="auto">
          <a:xfrm flipV="1">
            <a:off x="6037847" y="4717112"/>
            <a:ext cx="0" cy="390325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68805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xportrange">
            <a:extLst>
              <a:ext uri="{FF2B5EF4-FFF2-40B4-BE49-F238E27FC236}">
                <a16:creationId xmlns:a16="http://schemas.microsoft.com/office/drawing/2014/main" id="{EBE09B82-8878-3923-07AB-E5A072188D77}"/>
              </a:ext>
            </a:extLst>
          </p:cNvPr>
          <p:cNvSpPr/>
          <p:nvPr/>
        </p:nvSpPr>
        <p:spPr bwMode="auto">
          <a:xfrm>
            <a:off x="623392" y="912997"/>
            <a:ext cx="10643470" cy="489226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E72456-A560-97A2-35B8-97B38DB20E81}"/>
              </a:ext>
            </a:extLst>
          </p:cNvPr>
          <p:cNvSpPr/>
          <p:nvPr/>
        </p:nvSpPr>
        <p:spPr bwMode="auto">
          <a:xfrm>
            <a:off x="925138" y="1468439"/>
            <a:ext cx="10067406" cy="404879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vars: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PRODUCT_NAME: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極上モンブラン</a:t>
            </a:r>
          </a:p>
          <a:p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</a:t>
            </a:r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PRICE: 980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円</a:t>
            </a:r>
          </a:p>
          <a:p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</a:t>
            </a:r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FEATURE: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和栗を使用した濃厚クリーム</a:t>
            </a:r>
          </a:p>
          <a:p>
            <a:endParaRPr lang="ja-JP" altLang="en-US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procedure: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operation: insertpptx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pptxfilename: variable_replacement_guide.pptx</a:t>
            </a:r>
          </a:p>
          <a:p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operation: insertpptx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pptxfilename: variable_replacement_sample1.pptx</a:t>
            </a:r>
          </a:p>
          <a:p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operation: insertpptx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pptxfilename: variable_replacement_sample2.pptx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vars: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PRODUCT_NAME: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極上モンブラン（</a:t>
            </a:r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月限定）</a:t>
            </a:r>
          </a:p>
          <a:p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</a:t>
            </a:r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FEATURE: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最高級イタリア栗の味わい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結合指示書サンプル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AE5E9DF-A8F6-D697-D01F-CCD64AEB801C}"/>
              </a:ext>
            </a:extLst>
          </p:cNvPr>
          <p:cNvSpPr txBox="1"/>
          <p:nvPr/>
        </p:nvSpPr>
        <p:spPr bwMode="auto">
          <a:xfrm>
            <a:off x="925138" y="980728"/>
            <a:ext cx="107154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結合の指示をする 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recipe yaml 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,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fr-FR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simple_numbering_recipe.yaml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の記入例です。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B69D96-C693-1B5F-BDFD-EA147BCB6A02}"/>
              </a:ext>
            </a:extLst>
          </p:cNvPr>
          <p:cNvSpPr txBox="1"/>
          <p:nvPr/>
        </p:nvSpPr>
        <p:spPr bwMode="auto">
          <a:xfrm>
            <a:off x="7563755" y="4650897"/>
            <a:ext cx="331236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で変数を定義すると、その</a:t>
            </a:r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でだけグローバル設定を上書きできる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4C50910-1EE0-C918-37F2-5448100795A3}"/>
              </a:ext>
            </a:extLst>
          </p:cNvPr>
          <p:cNvSpPr txBox="1"/>
          <p:nvPr/>
        </p:nvSpPr>
        <p:spPr bwMode="auto">
          <a:xfrm>
            <a:off x="3982299" y="6592396"/>
            <a:ext cx="13752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050" kern="0">
                <a:solidFill>
                  <a:schemeClr val="bg1">
                    <a:lumMod val="8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#NOREPLACE#</a:t>
            </a:r>
            <a:endParaRPr kumimoji="1" lang="en-US" altLang="ja-JP" sz="1050" kern="0">
              <a:solidFill>
                <a:schemeClr val="bg1">
                  <a:lumMod val="8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0DAD87E-15D4-FD4C-E609-6CF04D35D31E}"/>
              </a:ext>
            </a:extLst>
          </p:cNvPr>
          <p:cNvSpPr txBox="1"/>
          <p:nvPr/>
        </p:nvSpPr>
        <p:spPr bwMode="auto">
          <a:xfrm>
            <a:off x="5640210" y="6592396"/>
            <a:ext cx="13752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050" kern="0">
                <a:solidFill>
                  <a:schemeClr val="bg1">
                    <a:lumMod val="8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#STAY#</a:t>
            </a:r>
            <a:endParaRPr kumimoji="1" lang="en-US" altLang="ja-JP" sz="1050" kern="0">
              <a:solidFill>
                <a:schemeClr val="bg1">
                  <a:lumMod val="8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16E2DC5-4030-BA2F-9ECB-4ED7659B6FCE}"/>
              </a:ext>
            </a:extLst>
          </p:cNvPr>
          <p:cNvSpPr txBox="1"/>
          <p:nvPr/>
        </p:nvSpPr>
        <p:spPr bwMode="auto">
          <a:xfrm>
            <a:off x="7038905" y="6592396"/>
            <a:ext cx="179339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050" kern="0">
                <a:solidFill>
                  <a:schemeClr val="bg1">
                    <a:lumMod val="8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#NONUMBERING#</a:t>
            </a:r>
            <a:endParaRPr kumimoji="1" lang="en-US" altLang="ja-JP" sz="1050" kern="0">
              <a:solidFill>
                <a:schemeClr val="bg1">
                  <a:lumMod val="8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11CBF86-19B6-D146-B90D-BA131A5A5C27}"/>
              </a:ext>
            </a:extLst>
          </p:cNvPr>
          <p:cNvSpPr txBox="1"/>
          <p:nvPr/>
        </p:nvSpPr>
        <p:spPr bwMode="auto">
          <a:xfrm>
            <a:off x="7464152" y="1534295"/>
            <a:ext cx="310575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結合指示書で変数を定義する。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procedure 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外で定義した変数は、すべての </a:t>
            </a:r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 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で有効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（グローバル設定）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7755DFC-4BA4-DC72-C069-883F2932B66A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9496" y="1791866"/>
            <a:ext cx="5904656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03787F-3CF1-2F28-D518-0F115CE10C2C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F5720ED1-0054-5927-9FBF-D2D9C3E9AC80}"/>
              </a:ext>
            </a:extLst>
          </p:cNvPr>
          <p:cNvCxnSpPr>
            <a:cxnSpLocks/>
          </p:cNvCxnSpPr>
          <p:nvPr/>
        </p:nvCxnSpPr>
        <p:spPr bwMode="auto">
          <a:xfrm flipH="1">
            <a:off x="1847528" y="4821535"/>
            <a:ext cx="561662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6859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80DA0-5634-1D14-F174-1938186B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B3BD8A-38F5-4ADC-5578-0E4942CE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2.1) 変数参照サンプル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218C35-D3D0-4185-2375-9A06EB55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右中かっこ 3">
            <a:extLst>
              <a:ext uri="{FF2B5EF4-FFF2-40B4-BE49-F238E27FC236}">
                <a16:creationId xmlns:a16="http://schemas.microsoft.com/office/drawing/2014/main" id="{F2B043CC-3ACB-62A7-971F-700AF147958C}"/>
              </a:ext>
            </a:extLst>
          </p:cNvPr>
          <p:cNvSpPr/>
          <p:nvPr/>
        </p:nvSpPr>
        <p:spPr bwMode="auto">
          <a:xfrm>
            <a:off x="6023992" y="1775516"/>
            <a:ext cx="432048" cy="1268168"/>
          </a:xfrm>
          <a:prstGeom prst="rightBrace">
            <a:avLst>
              <a:gd name="adj1" fmla="val 28175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C6A11D-84CD-13B8-28D4-CCEBC75E4CFE}"/>
              </a:ext>
            </a:extLst>
          </p:cNvPr>
          <p:cNvSpPr txBox="1"/>
          <p:nvPr/>
        </p:nvSpPr>
        <p:spPr bwMode="auto">
          <a:xfrm>
            <a:off x="6672064" y="2126754"/>
            <a:ext cx="3384376" cy="43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次スライドでは置換されます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741CBE-719B-0ECA-F5A0-7A7A313C8194}"/>
              </a:ext>
            </a:extLst>
          </p:cNvPr>
          <p:cNvSpPr txBox="1"/>
          <p:nvPr/>
        </p:nvSpPr>
        <p:spPr bwMode="auto">
          <a:xfrm>
            <a:off x="1177166" y="1781618"/>
            <a:ext cx="4918834" cy="126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商品名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{{v:PRODUCT_NAME}}</a:t>
            </a:r>
            <a:b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価格   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{{v:PRICE}}</a:t>
            </a:r>
            <a:b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特徴　　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{{v:FEATURE}}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ADDB107-39EB-6243-66F0-FD68AF863A6A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B7281CD-70F3-65C0-8EA9-DCF08C79776E}"/>
              </a:ext>
            </a:extLst>
          </p:cNvPr>
          <p:cNvSpPr txBox="1"/>
          <p:nvPr/>
        </p:nvSpPr>
        <p:spPr bwMode="auto">
          <a:xfrm>
            <a:off x="6918226" y="2972554"/>
            <a:ext cx="3384376" cy="43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#NOREPLACE#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13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2.2) 変数参照サンプル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133CA1C-D8B0-D125-9CDC-CF5C816EACA2}"/>
              </a:ext>
            </a:extLst>
          </p:cNvPr>
          <p:cNvSpPr txBox="1"/>
          <p:nvPr/>
        </p:nvSpPr>
        <p:spPr bwMode="auto">
          <a:xfrm>
            <a:off x="1177166" y="1781618"/>
            <a:ext cx="4918834" cy="126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商品名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</a:t>
            </a: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極上モンブラン</a:t>
            </a:r>
            <a:b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価格   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980</a:t>
            </a: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円</a:t>
            </a:r>
            <a:b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特徴　　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</a:t>
            </a: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熊本県産和栗の濃厚クリーム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右中かっこ 5">
            <a:extLst>
              <a:ext uri="{FF2B5EF4-FFF2-40B4-BE49-F238E27FC236}">
                <a16:creationId xmlns:a16="http://schemas.microsoft.com/office/drawing/2014/main" id="{F84A2AF2-C8CF-E2B8-2B40-450789EF1321}"/>
              </a:ext>
            </a:extLst>
          </p:cNvPr>
          <p:cNvSpPr/>
          <p:nvPr/>
        </p:nvSpPr>
        <p:spPr bwMode="auto">
          <a:xfrm>
            <a:off x="6023992" y="1775516"/>
            <a:ext cx="432048" cy="1268168"/>
          </a:xfrm>
          <a:prstGeom prst="rightBrace">
            <a:avLst>
              <a:gd name="adj1" fmla="val 28175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454547-9B67-0095-F1DD-D27174BAA098}"/>
              </a:ext>
            </a:extLst>
          </p:cNvPr>
          <p:cNvSpPr txBox="1"/>
          <p:nvPr/>
        </p:nvSpPr>
        <p:spPr bwMode="auto">
          <a:xfrm>
            <a:off x="6672064" y="2126754"/>
            <a:ext cx="3384376" cy="43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置換されました</a:t>
            </a:r>
            <a:endParaRPr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9A5A94C-8646-407F-C31F-C0CE0170D834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variable_replacement_sample1.pptx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962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80DA0-5634-1D14-F174-1938186B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B3BD8A-38F5-4ADC-5578-0E4942CE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3.1) 変数参照サンプル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218C35-D3D0-4185-2375-9A06EB55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右中かっこ 3">
            <a:extLst>
              <a:ext uri="{FF2B5EF4-FFF2-40B4-BE49-F238E27FC236}">
                <a16:creationId xmlns:a16="http://schemas.microsoft.com/office/drawing/2014/main" id="{F2B043CC-3ACB-62A7-971F-700AF147958C}"/>
              </a:ext>
            </a:extLst>
          </p:cNvPr>
          <p:cNvSpPr/>
          <p:nvPr/>
        </p:nvSpPr>
        <p:spPr bwMode="auto">
          <a:xfrm>
            <a:off x="6023992" y="1775516"/>
            <a:ext cx="432048" cy="1268168"/>
          </a:xfrm>
          <a:prstGeom prst="rightBrace">
            <a:avLst>
              <a:gd name="adj1" fmla="val 28175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C6A11D-84CD-13B8-28D4-CCEBC75E4CFE}"/>
              </a:ext>
            </a:extLst>
          </p:cNvPr>
          <p:cNvSpPr txBox="1"/>
          <p:nvPr/>
        </p:nvSpPr>
        <p:spPr bwMode="auto">
          <a:xfrm>
            <a:off x="6672064" y="2119038"/>
            <a:ext cx="38164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変数名は同じでも、ひとつ前の</a:t>
            </a:r>
            <a:endParaRPr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サンプルとは別な値に置換されます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565F6C-35C1-212B-1209-7536AA8210DD}"/>
              </a:ext>
            </a:extLst>
          </p:cNvPr>
          <p:cNvSpPr txBox="1"/>
          <p:nvPr/>
        </p:nvSpPr>
        <p:spPr bwMode="auto">
          <a:xfrm>
            <a:off x="6918226" y="2972554"/>
            <a:ext cx="3384376" cy="43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#NOREPLACE#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741CBE-719B-0ECA-F5A0-7A7A313C8194}"/>
              </a:ext>
            </a:extLst>
          </p:cNvPr>
          <p:cNvSpPr txBox="1"/>
          <p:nvPr/>
        </p:nvSpPr>
        <p:spPr bwMode="auto">
          <a:xfrm>
            <a:off x="1177166" y="1781618"/>
            <a:ext cx="4918834" cy="126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商品名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{{v:PRODUCT_NAME}}</a:t>
            </a:r>
            <a:b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価格   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{{v:PRICE}}</a:t>
            </a:r>
            <a:b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特徴　　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{{v:FEATURE}}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43AC135-09CD-645F-E1C1-15230765961C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66FFFF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878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3.2) 変数参照サンプル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133CA1C-D8B0-D125-9CDC-CF5C816EACA2}"/>
              </a:ext>
            </a:extLst>
          </p:cNvPr>
          <p:cNvSpPr txBox="1"/>
          <p:nvPr/>
        </p:nvSpPr>
        <p:spPr bwMode="auto">
          <a:xfrm>
            <a:off x="1177166" y="1781618"/>
            <a:ext cx="4918834" cy="126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商品名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</a:t>
            </a: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極上モンブラン（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月限定）</a:t>
            </a:r>
            <a:b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価格   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980</a:t>
            </a: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円</a:t>
            </a:r>
            <a:b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特徴　　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</a:t>
            </a: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最高級イタリア栗の味わい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右中かっこ 5">
            <a:extLst>
              <a:ext uri="{FF2B5EF4-FFF2-40B4-BE49-F238E27FC236}">
                <a16:creationId xmlns:a16="http://schemas.microsoft.com/office/drawing/2014/main" id="{F84A2AF2-C8CF-E2B8-2B40-450789EF1321}"/>
              </a:ext>
            </a:extLst>
          </p:cNvPr>
          <p:cNvSpPr/>
          <p:nvPr/>
        </p:nvSpPr>
        <p:spPr bwMode="auto">
          <a:xfrm>
            <a:off x="6023992" y="1775516"/>
            <a:ext cx="432048" cy="1268168"/>
          </a:xfrm>
          <a:prstGeom prst="rightBrace">
            <a:avLst>
              <a:gd name="adj1" fmla="val 28175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454547-9B67-0095-F1DD-D27174BAA098}"/>
              </a:ext>
            </a:extLst>
          </p:cNvPr>
          <p:cNvSpPr txBox="1"/>
          <p:nvPr/>
        </p:nvSpPr>
        <p:spPr bwMode="auto">
          <a:xfrm>
            <a:off x="6672064" y="2126754"/>
            <a:ext cx="3384376" cy="43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置換されました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0E0CCF2-D95E-8E45-D973-E5341B421C40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66FFFF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variable_replacement_sample2.pptx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240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29752</TotalTime>
  <Words>784</Words>
  <Application>Microsoft Office PowerPoint</Application>
  <PresentationFormat>ワイド画面</PresentationFormat>
  <Paragraphs>157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BIZ UDPゴシック</vt:lpstr>
      <vt:lpstr>FOT-UD丸ゴ_ラージ Pr6 M</vt:lpstr>
      <vt:lpstr>Arial</vt:lpstr>
      <vt:lpstr>Garamond</vt:lpstr>
      <vt:lpstr>Wingdings</vt:lpstr>
      <vt:lpstr>Edge</vt:lpstr>
      <vt:lpstr>スライド中の変数置換</vt:lpstr>
      <vt:lpstr>結合指示書サンプル</vt:lpstr>
      <vt:lpstr>変数参照サンプル</vt:lpstr>
      <vt:lpstr>変数参照サンプル</vt:lpstr>
      <vt:lpstr>変数参照サンプル</vt:lpstr>
      <vt:lpstr>変数参照サンプル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4041</cp:revision>
  <dcterms:modified xsi:type="dcterms:W3CDTF">2026-06-06T13:11:41Z</dcterms:modified>
</cp:coreProperties>
</file>