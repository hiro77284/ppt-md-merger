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8"/>
  </p:notesMasterIdLst>
  <p:sldIdLst>
    <p:sldId id="1788" r:id="rId2"/>
    <p:sldId id="1782" r:id="rId3"/>
    <p:sldId id="1789" r:id="rId4"/>
    <p:sldId id="1785" r:id="rId5"/>
    <p:sldId id="1790" r:id="rId6"/>
    <p:sldId id="1791" r:id="rId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7932" autoAdjust="0"/>
  </p:normalViewPr>
  <p:slideViewPr>
    <p:cSldViewPr>
      <p:cViewPr varScale="1">
        <p:scale>
          <a:sx n="76" d="100"/>
          <a:sy n="76" d="100"/>
        </p:scale>
        <p:origin x="1002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 altLang="ja-JP"/>
              <a:t>===BLOCK===</a:t>
            </a:r>
          </a:p>
          <a:p>
            <a:r>
              <a:rPr lang="en-US" altLang="ja-JP"/>
              <a:t>{{BLOCK:IMAGE}}</a:t>
            </a:r>
          </a:p>
          <a:p>
            <a:endParaRPr lang="en-US" altLang="ja-JP"/>
          </a:p>
          <a:p>
            <a:r>
              <a:rPr lang="en-US" altLang="ja-JP"/>
              <a:t>export-image-mode: slide_with_rectpct</a:t>
            </a:r>
          </a:p>
          <a:p>
            <a:r>
              <a:rPr lang="en-US" altLang="ja-JP"/>
              <a:t>export-image-target: keyvisual</a:t>
            </a:r>
          </a:p>
          <a:p>
            <a:r>
              <a:rPr lang="en-US" altLang="ja-JP"/>
              <a:t>export-image: extracted/figures/&lt;__BASEFILENAME__&gt;_keyvisual.png</a:t>
            </a:r>
          </a:p>
          <a:p>
            <a:endParaRPr lang="en-US" altLang="ja-JP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変数置換はスライド上に差し替え可能なプレースホルダーを用意しておき、設定ファイルの変数でそれを差し替え表示することです。</a:t>
            </a:r>
          </a:p>
          <a:p>
            <a:endParaRPr/>
          </a:p>
          <a:p>
            <a:r>
              <a:t>変数の有効範囲はファイル全体に適用することも、1つのoperation限定で適用することもできます。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![](figures/&lt;__BASEFILENAME__&gt;_keyvisual.png){ width=90% }</a:t>
            </a:r>
          </a:p>
          <a:p>
            <a:endParaRPr lang="en-US"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406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結合指示書の vars: セクションで変数を定義します。</a:t>
            </a:r>
          </a:p>
          <a:p>
            <a:endParaRPr/>
          </a:p>
          <a:p>
            <a:r>
              <a:t>procedure外で定義するとすべてのoperationで有効になり、operationで定義するとそのoperationでだけ有効です。</a:t>
            </a:r>
          </a:p>
          <a:p>
            <a:endParaRPr/>
          </a:p>
          <a:p>
            <a:r>
              <a:t>グローバルな設定をoperation で上書きすることもできます。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9144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6396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980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2998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271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DE4AFCE4-7D71-B7C7-B968-F1E012697831}"/>
              </a:ext>
            </a:extLst>
          </p:cNvPr>
          <p:cNvSpPr/>
          <p:nvPr/>
        </p:nvSpPr>
        <p:spPr bwMode="auto">
          <a:xfrm>
            <a:off x="623392" y="912997"/>
            <a:ext cx="10824782" cy="191130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56EF38CC-AF54-1080-2868-D3D855DAD9FA}"/>
              </a:ext>
            </a:extLst>
          </p:cNvPr>
          <p:cNvSpPr/>
          <p:nvPr/>
        </p:nvSpPr>
        <p:spPr bwMode="auto">
          <a:xfrm>
            <a:off x="911424" y="2904486"/>
            <a:ext cx="10536750" cy="36824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1.1) スライド中の変数置換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variable_replacement_recipe.yaml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変数を定義しておき、スライドでそれを参照して置換する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kumimoji="1" lang="en-US" altLang="ja-JP" sz="11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</a:t>
            </a:r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"vars"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pm4_variable_replacement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ECCD28-F21A-5979-5AEB-7DC63745607E}"/>
              </a:ext>
            </a:extLst>
          </p:cNvPr>
          <p:cNvSpPr txBox="1"/>
          <p:nvPr/>
        </p:nvSpPr>
        <p:spPr bwMode="auto">
          <a:xfrm>
            <a:off x="3249738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A429F61-C407-CDE7-8053-C253DF01AB6D}"/>
              </a:ext>
            </a:extLst>
          </p:cNvPr>
          <p:cNvSpPr/>
          <p:nvPr/>
        </p:nvSpPr>
        <p:spPr bwMode="auto">
          <a:xfrm>
            <a:off x="1061448" y="3717032"/>
            <a:ext cx="2974029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{{v:TARGET}}</a:t>
            </a:r>
          </a:p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{{v:PLAN}}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C4888BB-B62B-EF45-4AE1-132112A9B4CA}"/>
              </a:ext>
            </a:extLst>
          </p:cNvPr>
          <p:cNvSpPr/>
          <p:nvPr/>
        </p:nvSpPr>
        <p:spPr bwMode="auto">
          <a:xfrm>
            <a:off x="4775124" y="5512303"/>
            <a:ext cx="2641750" cy="9944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TARGET=20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PLAN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＝極上スイーツ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85F7FCE7-2796-E34F-A961-6FDEED087D6D}"/>
              </a:ext>
            </a:extLst>
          </p:cNvPr>
          <p:cNvCxnSpPr>
            <a:cxnSpLocks/>
          </p:cNvCxnSpPr>
          <p:nvPr/>
        </p:nvCxnSpPr>
        <p:spPr bwMode="auto">
          <a:xfrm>
            <a:off x="4217512" y="4316654"/>
            <a:ext cx="3640671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ED2D831-6256-6272-378F-71BB32597F50}"/>
              </a:ext>
            </a:extLst>
          </p:cNvPr>
          <p:cNvSpPr txBox="1"/>
          <p:nvPr/>
        </p:nvSpPr>
        <p:spPr bwMode="auto">
          <a:xfrm>
            <a:off x="1193447" y="3053428"/>
            <a:ext cx="27760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スライド上で変数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プレースホルダーを用意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0255D22-F972-7CBB-AA15-5D7513219D70}"/>
              </a:ext>
            </a:extLst>
          </p:cNvPr>
          <p:cNvSpPr txBox="1"/>
          <p:nvPr/>
        </p:nvSpPr>
        <p:spPr bwMode="auto">
          <a:xfrm>
            <a:off x="8465209" y="3068960"/>
            <a:ext cx="257268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プレースホルダーが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548904F-E724-260A-1746-729F976E887D}"/>
              </a:ext>
            </a:extLst>
          </p:cNvPr>
          <p:cNvSpPr txBox="1"/>
          <p:nvPr/>
        </p:nvSpPr>
        <p:spPr bwMode="auto">
          <a:xfrm>
            <a:off x="4583832" y="5130355"/>
            <a:ext cx="300881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結合指示書上の変数値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設定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B7E886BB-4628-02F0-47F7-7E15E2B92342}"/>
              </a:ext>
            </a:extLst>
          </p:cNvPr>
          <p:cNvSpPr/>
          <p:nvPr/>
        </p:nvSpPr>
        <p:spPr bwMode="auto">
          <a:xfrm>
            <a:off x="8222524" y="3717032"/>
            <a:ext cx="3058052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極上スイーツ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5ADDF4B-0865-CBE0-8725-99EE9BAB1DFD}"/>
              </a:ext>
            </a:extLst>
          </p:cNvPr>
          <p:cNvSpPr txBox="1"/>
          <p:nvPr/>
        </p:nvSpPr>
        <p:spPr bwMode="auto">
          <a:xfrm>
            <a:off x="5086987" y="3865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FA8DFE6-F599-F6BF-7D5A-22D028CDA1F1}"/>
              </a:ext>
            </a:extLst>
          </p:cNvPr>
          <p:cNvSpPr txBox="1"/>
          <p:nvPr/>
        </p:nvSpPr>
        <p:spPr bwMode="auto">
          <a:xfrm>
            <a:off x="4957956" y="4347780"/>
            <a:ext cx="22605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変数部分を置換する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BCEF55E6-67C6-0032-BD28-40C51980C321}"/>
              </a:ext>
            </a:extLst>
          </p:cNvPr>
          <p:cNvCxnSpPr>
            <a:cxnSpLocks/>
          </p:cNvCxnSpPr>
          <p:nvPr/>
        </p:nvCxnSpPr>
        <p:spPr bwMode="auto">
          <a:xfrm flipV="1">
            <a:off x="6037847" y="4717112"/>
            <a:ext cx="0" cy="39032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68805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EBE09B82-8878-3923-07AB-E5A072188D77}"/>
              </a:ext>
            </a:extLst>
          </p:cNvPr>
          <p:cNvSpPr/>
          <p:nvPr/>
        </p:nvSpPr>
        <p:spPr bwMode="auto">
          <a:xfrm>
            <a:off x="623392" y="912997"/>
            <a:ext cx="10643470" cy="489226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468439"/>
            <a:ext cx="10067406" cy="404879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PRICE: 980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和栗を使用した濃厚クリーム</a:t>
            </a:r>
          </a:p>
          <a:p>
            <a:endParaRPr lang="ja-JP" altLang="en-US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variable_replacement_guide.pptx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variable_replacement_sample1.pptx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variable_replacement_sample2.pptx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980728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7563755" y="4650897"/>
            <a:ext cx="3312368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で変数を定義すると、その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でだけグローバル設定を上書きできる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4C50910-1EE0-C918-37F2-5448100795A3}"/>
              </a:ext>
            </a:extLst>
          </p:cNvPr>
          <p:cNvSpPr txBox="1"/>
          <p:nvPr/>
        </p:nvSpPr>
        <p:spPr bwMode="auto">
          <a:xfrm>
            <a:off x="3982299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0DAD87E-15D4-FD4C-E609-6CF04D35D31E}"/>
              </a:ext>
            </a:extLst>
          </p:cNvPr>
          <p:cNvSpPr txBox="1"/>
          <p:nvPr/>
        </p:nvSpPr>
        <p:spPr bwMode="auto">
          <a:xfrm>
            <a:off x="5640210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#STAY#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16E2DC5-4030-BA2F-9ECB-4ED7659B6FCE}"/>
              </a:ext>
            </a:extLst>
          </p:cNvPr>
          <p:cNvSpPr txBox="1"/>
          <p:nvPr/>
        </p:nvSpPr>
        <p:spPr bwMode="auto">
          <a:xfrm>
            <a:off x="7038905" y="6592396"/>
            <a:ext cx="1793399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#NONUMBERING#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11CBF86-19B6-D146-B90D-BA131A5A5C27}"/>
              </a:ext>
            </a:extLst>
          </p:cNvPr>
          <p:cNvSpPr txBox="1"/>
          <p:nvPr/>
        </p:nvSpPr>
        <p:spPr bwMode="auto">
          <a:xfrm>
            <a:off x="7464152" y="1534295"/>
            <a:ext cx="310575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結合指示書で変数を定義する。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外で定義した変数は、すべての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で有効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（グローバル設定）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7755DFC-4BA4-DC72-C069-883F2932B66A}"/>
              </a:ext>
            </a:extLst>
          </p:cNvPr>
          <p:cNvCxnSpPr>
            <a:cxnSpLocks/>
          </p:cNvCxnSpPr>
          <p:nvPr/>
        </p:nvCxnSpPr>
        <p:spPr bwMode="auto">
          <a:xfrm flipH="1">
            <a:off x="1559496" y="1791866"/>
            <a:ext cx="5904656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03787F-3CF1-2F28-D518-0F115CE10C2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lang="ja-JP" altLang="en-US" sz="11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F5720ED1-0054-5927-9FBF-D2D9C3E9AC8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47528" y="4821535"/>
            <a:ext cx="561662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368594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2.1)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次スライドでは置換されます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ADDB107-39EB-6243-66F0-FD68AF863A6A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B7281CD-70F3-65C0-8EA9-DCF08C79776E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513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2.2)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980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熊本県産和栗の濃厚クリーム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9A5A94C-8646-407F-C31F-C0CE0170D834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variable_replacement_sample1.pptx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9622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3.1)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19038"/>
            <a:ext cx="381642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変数名は同じでも、ひとつ前の</a:t>
            </a:r>
            <a:endParaRPr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サンプルとは別な値に置換されます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5565F6C-35C1-212B-1209-7536AA8210DD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43AC135-09CD-645F-E1C1-15230765961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8784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3.2) 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980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</a:t>
            </a: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0E0CCF2-D95E-8E45-D973-E5341B421C40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variable_replacement_sample2.pptx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240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29752</TotalTime>
  <Words>784</Words>
  <Application>Microsoft Office PowerPoint</Application>
  <PresentationFormat>ワイド画面</PresentationFormat>
  <Paragraphs>157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BIZ UDPゴシック</vt:lpstr>
      <vt:lpstr>FOT-UD丸ゴ_ラージ Pr6 M</vt:lpstr>
      <vt:lpstr>Arial</vt:lpstr>
      <vt:lpstr>Garamond</vt:lpstr>
      <vt:lpstr>Wingdings</vt:lpstr>
      <vt:lpstr>Edge</vt:lpstr>
      <vt:lpstr>スライド中の変数置換</vt:lpstr>
      <vt:lpstr>結合指示書サンプル</vt:lpstr>
      <vt:lpstr>変数参照サンプル</vt:lpstr>
      <vt:lpstr>変数参照サンプル</vt:lpstr>
      <vt:lpstr>変数参照サンプル</vt:lpstr>
      <vt:lpstr>変数参照サンプル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4041</cp:revision>
  <dcterms:modified xsi:type="dcterms:W3CDTF">2026-06-06T13:11:41Z</dcterms:modified>
</cp:coreProperties>
</file>