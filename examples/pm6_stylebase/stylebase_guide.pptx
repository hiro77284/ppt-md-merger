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6"/>
  </p:notesMasterIdLst>
  <p:sldIdLst>
    <p:sldId id="1785" r:id="rId2"/>
    <p:sldId id="1786" r:id="rId3"/>
    <p:sldId id="1783" r:id="rId4"/>
    <p:sldId id="1782" r:id="rId5"/>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a:srgbClr val="FFFF00"/>
    <a:srgbClr val="FFFFCC"/>
    <a:srgbClr val="FFCCFF"/>
    <a:srgbClr val="CCECFF"/>
    <a:srgbClr val="99FFCC"/>
    <a:srgbClr val="FF6347"/>
    <a:srgbClr val="FF9933"/>
    <a:srgbClr val="CC66FF"/>
    <a:srgbClr val="E342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3713" autoAdjust="0"/>
  </p:normalViewPr>
  <p:slideViewPr>
    <p:cSldViewPr>
      <p:cViewPr varScale="1">
        <p:scale>
          <a:sx n="88" d="100"/>
          <a:sy n="88" d="100"/>
        </p:scale>
        <p:origin x="534"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extracted/figures/&lt;__BASEFILENAME__&gt;_slide&lt;__SLIDENUM__&gt;_fig.png</a:t>
            </a:r>
          </a:p>
          <a:p>
            <a:endParaRPr lang="en-US"/>
          </a:p>
          <a:p>
            <a:r>
              <a:rPr lang="en-US"/>
              <a:t>===BLOCK===</a:t>
            </a:r>
          </a:p>
          <a:p>
            <a:r>
              <a:rPr lang="en-US"/>
              <a:t>{{BLOCK:IMAGE}}</a:t>
            </a:r>
          </a:p>
          <a:p>
            <a:endParaRPr lang="en-US"/>
          </a:p>
          <a:p>
            <a:r>
              <a:rPr lang="en-US"/>
              <a:t>export-image-mode: slide_with_rectpct</a:t>
            </a:r>
          </a:p>
          <a:p>
            <a:r>
              <a:rPr lang="en-US"/>
              <a:t>export-image-target: keyvisual</a:t>
            </a:r>
          </a:p>
          <a:p>
            <a:r>
              <a:rPr lang="en-US"/>
              <a:t>export-image: extracted/figures/&lt;__BASEFILENAME__&gt;_keyvisual.png</a:t>
            </a:r>
          </a:p>
          <a:p>
            <a:endParaRPr/>
          </a:p>
          <a:p>
            <a:r>
              <a:t>===BLOCK===</a:t>
            </a:r>
          </a:p>
          <a:p>
            <a:r>
              <a:t>{{BLOCK:MD:LONG}}</a:t>
            </a:r>
          </a:p>
          <a:p>
            <a:endParaRPr/>
          </a:p>
          <a:p>
            <a:r>
              <a:t>export-note: extracted/&lt;__BASEFILENAME__&gt;_slide&lt;__SLIDENUM__&gt;_md.md</a:t>
            </a:r>
          </a:p>
          <a:p>
            <a:r>
              <a:t>{{#id:section:&lt;__BASEFILENAME__&gt;:slide&lt;__SLIDENUM__&gt;}}</a:t>
            </a:r>
          </a:p>
          <a:p>
            <a:r>
              <a:t>## &lt;__TITLE__&gt;</a:t>
            </a:r>
          </a:p>
          <a:p>
            <a:endParaRPr/>
          </a:p>
          <a:p>
            <a:r>
              <a:t>pptxをマージする際、基準とするスタイルをコンテンツとは別に指定することができます。</a:t>
            </a:r>
          </a:p>
          <a:p>
            <a:endParaRPr/>
          </a:p>
          <a:p>
            <a:endParaRPr/>
          </a:p>
          <a:p>
            <a:r>
              <a:t>```{=latex}</a:t>
            </a:r>
          </a:p>
          <a:p>
            <a:r>
              <a:t>\par\vspace{1\baselineskip}</a:t>
            </a:r>
          </a:p>
          <a:p>
            <a:r>
              <a:t>\begin{center}</a:t>
            </a:r>
          </a:p>
          <a:p>
            <a:r>
              <a:t>```</a:t>
            </a:r>
          </a:p>
          <a:p>
            <a:endParaRPr/>
          </a:p>
          <a:p>
            <a:r>
              <a:t>![](figures/&lt;__BASEFILENAME__&gt;_slide&lt;__SLIDENUM__&gt;_fig.png){ width=95% }</a:t>
            </a:r>
          </a:p>
          <a:p>
            <a:endParaRPr lang="en-US"/>
          </a:p>
          <a:p>
            <a:r>
              <a:rPr lang="en-US"/>
              <a:t>![](figures/&lt;__BASEFILENAME__&gt;_keyvisual.png){ width=80% }</a:t>
            </a:r>
          </a:p>
          <a:p>
            <a:endParaRPr lang="en-US"/>
          </a:p>
          <a:p>
            <a:endParaRPr/>
          </a:p>
          <a:p>
            <a:r>
              <a:t>```{=latex}</a:t>
            </a:r>
          </a:p>
          <a:p>
            <a:r>
              <a:t>\end{center}</a:t>
            </a:r>
          </a:p>
          <a:p>
            <a:r>
              <a:t>\par\vspace{1\baselineskip}</a:t>
            </a:r>
          </a:p>
          <a:p>
            <a:r>
              <a:t>```</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3366661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extracted/figures/&lt;__BASEFILENAME__&gt;_slide&lt;__SLIDENUM__&gt;_fig.png</a:t>
            </a:r>
          </a:p>
          <a:p>
            <a:endParaRPr/>
          </a:p>
          <a:p>
            <a:r>
              <a:t>===BLOCK===</a:t>
            </a:r>
          </a:p>
          <a:p>
            <a:r>
              <a:t>{{BLOCK:MD:LONG}}</a:t>
            </a:r>
          </a:p>
          <a:p>
            <a:endParaRPr/>
          </a:p>
          <a:p>
            <a:r>
              <a:t>export-note: extracted/&lt;__BASEFILENAME__&gt;_slide&lt;__SLIDENUM__&gt;_md.md</a:t>
            </a:r>
          </a:p>
          <a:p>
            <a:r>
              <a:t>{{#id:section:&lt;__BASEFILENAME__&gt;:slide&lt;__SLIDENUM__&gt;}}</a:t>
            </a:r>
          </a:p>
          <a:p>
            <a:r>
              <a:t>## &lt;__TITLE__&gt;</a:t>
            </a:r>
          </a:p>
          <a:p>
            <a:endParaRPr/>
          </a:p>
          <a:p>
            <a:r>
              <a:t>一般に、pptxファイルにはスタイル情報とコンテンツが含まれており、複数のファイルの</a:t>
            </a:r>
          </a:p>
          <a:p>
            <a:r>
              <a:t>マージ処理(pptmerge)では　「コンテンツ」 を結合します。</a:t>
            </a:r>
          </a:p>
          <a:p>
            <a:endParaRPr/>
          </a:p>
          <a:p>
            <a:r>
              <a:t>スタイル情報は最初のファイルのものだけが使われます。</a:t>
            </a:r>
          </a:p>
          <a:p>
            <a:endParaRPr/>
          </a:p>
          <a:p>
            <a:r>
              <a:t>```{=latex}</a:t>
            </a:r>
          </a:p>
          <a:p>
            <a:r>
              <a:t>\par\vspace{1\baselineskip}</a:t>
            </a:r>
          </a:p>
          <a:p>
            <a:r>
              <a:t>\begin{center}</a:t>
            </a:r>
          </a:p>
          <a:p>
            <a:r>
              <a:t>```</a:t>
            </a:r>
          </a:p>
          <a:p>
            <a:endParaRPr/>
          </a:p>
          <a:p>
            <a:r>
              <a:t>![](figures/&lt;__BASEFILENAME__&gt;_slide&lt;__SLIDENUM__&gt;_fig.png){ width=95% }</a:t>
            </a:r>
          </a:p>
          <a:p>
            <a:endParaRPr/>
          </a:p>
          <a:p>
            <a:r>
              <a:t>```{=latex}</a:t>
            </a:r>
          </a:p>
          <a:p>
            <a:r>
              <a:t>\end{center}</a:t>
            </a:r>
          </a:p>
          <a:p>
            <a:r>
              <a:t>\par\vspace{1\baselineskip}</a:t>
            </a:r>
          </a:p>
          <a:p>
            <a:r>
              <a:t>```</a:t>
            </a:r>
          </a:p>
          <a:p>
            <a:endParaRPr/>
          </a:p>
          <a:p>
            <a:r>
              <a:t>しかし、コンテンツファイルは一般に頻繁に更新されるものです。</a:t>
            </a:r>
          </a:p>
          <a:p>
            <a:endParaRPr/>
          </a:p>
          <a:p>
            <a:r>
              <a:t>コンテンツとスタイルを混在させていると　 **「うっかり、スタイルまで更新してしまう」** 　事態が起きます。　</a:t>
            </a:r>
          </a:p>
          <a:p>
            <a:endParaRPr/>
          </a:p>
          <a:p>
            <a:r>
              <a:t>スタイルが合わないとレイアウト崩れ、配色崩れなどが起きるため、スタイル情報はコンテンツとは別に管理することが望ましいのです。</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3604238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extracted/figures/&lt;__BASEFILENAME__&gt;_slide&lt;__SLIDENUM__&gt;_fig.png</a:t>
            </a:r>
          </a:p>
          <a:p>
            <a:endParaRPr/>
          </a:p>
          <a:p>
            <a:r>
              <a:t>===BLOCK===</a:t>
            </a:r>
          </a:p>
          <a:p>
            <a:r>
              <a:t>{{BLOCK:MD:LONG}}</a:t>
            </a:r>
          </a:p>
          <a:p>
            <a:endParaRPr/>
          </a:p>
          <a:p>
            <a:r>
              <a:t>export-note: extracted/&lt;__BASEFILENAME__&gt;_slide&lt;__SLIDENUM__&gt;_md.md</a:t>
            </a:r>
          </a:p>
          <a:p>
            <a:r>
              <a:t>{{#id:section:&lt;__BASEFILENAME__&gt;:slide&lt;__SLIDENUM__&gt;}}</a:t>
            </a:r>
          </a:p>
          <a:p>
            <a:r>
              <a:t>## &lt;__TITLE__&gt;</a:t>
            </a:r>
          </a:p>
          <a:p>
            <a:endParaRPr/>
          </a:p>
          <a:p>
            <a:r>
              <a:t>そこで、スタイル情報を別のファイルに分離することを推奨します。　</a:t>
            </a:r>
          </a:p>
          <a:p>
            <a:endParaRPr/>
          </a:p>
          <a:p>
            <a:r>
              <a:t>スタイル情報は一般に、複数の文書、複数のプロジェクトで共通に使われるものなので、共通資材フォルダに置くとよいでしょう。</a:t>
            </a:r>
          </a:p>
          <a:p>
            <a:endParaRPr/>
          </a:p>
          <a:p>
            <a:r>
              <a:t>```{=latex}</a:t>
            </a:r>
          </a:p>
          <a:p>
            <a:r>
              <a:t>\par\vspace{1\baselineskip}</a:t>
            </a:r>
          </a:p>
          <a:p>
            <a:r>
              <a:t>\begin{center}</a:t>
            </a:r>
          </a:p>
          <a:p>
            <a:r>
              <a:t>```</a:t>
            </a:r>
          </a:p>
          <a:p>
            <a:endParaRPr/>
          </a:p>
          <a:p>
            <a:r>
              <a:t>![](figures/&lt;__BASEFILENAME__&gt;_slide&lt;__SLIDENUM__&gt;_fig.png){ width=95% }</a:t>
            </a:r>
          </a:p>
          <a:p>
            <a:endParaRPr/>
          </a:p>
          <a:p>
            <a:r>
              <a:t>```{=latex}</a:t>
            </a:r>
          </a:p>
          <a:p>
            <a:r>
              <a:t>\end{center}</a:t>
            </a:r>
          </a:p>
          <a:p>
            <a:r>
              <a:t>\par\vspace{1\baselineskip}</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1161000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t>export-image: extracted/figures/&lt;__BASEFILENAME__&gt;_slide&lt;__SLIDENUM__&gt;_fig.png</a:t>
            </a:r>
          </a:p>
          <a:p>
            <a:endParaRPr/>
          </a:p>
          <a:p>
            <a:r>
              <a:t>===BLOCK===</a:t>
            </a:r>
          </a:p>
          <a:p>
            <a:r>
              <a:t>{{BLOCK:MD:LONG}}</a:t>
            </a:r>
          </a:p>
          <a:p>
            <a:endParaRPr/>
          </a:p>
          <a:p>
            <a:r>
              <a:t>export-note: extracted/&lt;__BASEFILENAME__&gt;_slide&lt;__SLIDENUM__&gt;_md.md</a:t>
            </a:r>
          </a:p>
          <a:p>
            <a:r>
              <a:t>{{#id:section:&lt;__BASEFILENAME__&gt;:slide&lt;__SLIDENUM__&gt;}}</a:t>
            </a:r>
          </a:p>
          <a:p>
            <a:r>
              <a:t>## &lt;__TITLE__&gt;</a:t>
            </a:r>
          </a:p>
          <a:p>
            <a:endParaRPr/>
          </a:p>
          <a:p>
            <a:r>
              <a:t>サンプルファイルとして、マージによってスタイルが変わる例を格納してあります。</a:t>
            </a:r>
          </a:p>
          <a:p>
            <a:endParaRPr/>
          </a:p>
          <a:p>
            <a:r>
              <a:t>different_style_sample.pptx は simple_stylebase.pptx とは違うスタイルで作られていますが、マージ後の stylebase_merged.pptx を見ると simple_stylebase.pptx のスタイルに変更されています。</a:t>
            </a:r>
          </a:p>
          <a:p>
            <a:endParaRPr/>
          </a:p>
          <a:p>
            <a:r>
              <a:t>```{=latex}</a:t>
            </a:r>
          </a:p>
          <a:p>
            <a:r>
              <a:t>\par\vspace{1\baselineskip}</a:t>
            </a:r>
          </a:p>
          <a:p>
            <a:r>
              <a:t>\begin{center}</a:t>
            </a:r>
          </a:p>
          <a:p>
            <a:r>
              <a:t>```</a:t>
            </a:r>
          </a:p>
          <a:p>
            <a:endParaRPr/>
          </a:p>
          <a:p>
            <a:r>
              <a:t>![](figures/&lt;__BASEFILENAME__&gt;_slide&lt;__SLIDENUM__&gt;_fig.png){ width=95% }</a:t>
            </a:r>
          </a:p>
          <a:p>
            <a:endParaRPr/>
          </a:p>
          <a:p>
            <a:r>
              <a:t>```{=latex}</a:t>
            </a:r>
          </a:p>
          <a:p>
            <a:r>
              <a:t>\end{center}</a:t>
            </a:r>
          </a:p>
          <a:p>
            <a:r>
              <a:t>\par\vspace{1\baselineskip}</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1931775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xportrange">
            <a:extLst>
              <a:ext uri="{FF2B5EF4-FFF2-40B4-BE49-F238E27FC236}">
                <a16:creationId xmlns:a16="http://schemas.microsoft.com/office/drawing/2014/main" id="{FA348A50-F865-3288-50D2-F2BE63C24CC1}"/>
              </a:ext>
            </a:extLst>
          </p:cNvPr>
          <p:cNvSpPr/>
          <p:nvPr/>
        </p:nvSpPr>
        <p:spPr bwMode="auto">
          <a:xfrm>
            <a:off x="623391" y="912997"/>
            <a:ext cx="10162949" cy="1915523"/>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keyvisual">
            <a:extLst>
              <a:ext uri="{FF2B5EF4-FFF2-40B4-BE49-F238E27FC236}">
                <a16:creationId xmlns:a16="http://schemas.microsoft.com/office/drawing/2014/main" id="{C43663AB-17A8-8115-5D5E-18956950C71A}"/>
              </a:ext>
            </a:extLst>
          </p:cNvPr>
          <p:cNvSpPr/>
          <p:nvPr/>
        </p:nvSpPr>
        <p:spPr bwMode="auto">
          <a:xfrm>
            <a:off x="739027" y="2904486"/>
            <a:ext cx="9883396" cy="354885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stylebase</a:t>
            </a:r>
            <a:r>
              <a:rPr kumimoji="1" lang="ja-JP" altLang="en-US"/>
              <a:t>を別に指定する機能</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stylebase_recipe.yaml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17537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600" kern="0">
                <a:latin typeface="BIZ UDPゴシック" panose="020B0400000000000000" pitchFamily="50" charset="-128"/>
                <a:ea typeface="BIZ UDPゴシック" panose="020B0400000000000000" pitchFamily="50" charset="-128"/>
              </a:rPr>
              <a:t>結合対象のコンテンツとは別にスタイル情報のみ使用するファイルを別途指定する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"stylebase"</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F73B6D62-BDC9-6F7C-180D-CB981C27FAC5}"/>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6602273-ABE3-64F1-05A5-0BAA2D0ED607}"/>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pm6_stylebase</a:t>
            </a:r>
            <a:endParaRPr kumimoji="1" lang="en-US" altLang="ja-JP" sz="1600" kern="0">
              <a:latin typeface="BIZ UDPゴシック" panose="020B0400000000000000" pitchFamily="50" charset="-128"/>
              <a:ea typeface="BIZ UDPゴシック" panose="020B0400000000000000" pitchFamily="50" charset="-128"/>
            </a:endParaRPr>
          </a:p>
        </p:txBody>
      </p:sp>
      <p:grpSp>
        <p:nvGrpSpPr>
          <p:cNvPr id="18" name="グループ化 17">
            <a:extLst>
              <a:ext uri="{FF2B5EF4-FFF2-40B4-BE49-F238E27FC236}">
                <a16:creationId xmlns:a16="http://schemas.microsoft.com/office/drawing/2014/main" id="{8F7862ED-FE61-D539-F806-47AE7FC40402}"/>
              </a:ext>
            </a:extLst>
          </p:cNvPr>
          <p:cNvGrpSpPr/>
          <p:nvPr/>
        </p:nvGrpSpPr>
        <p:grpSpPr>
          <a:xfrm>
            <a:off x="1569577" y="4914935"/>
            <a:ext cx="1996061" cy="683731"/>
            <a:chOff x="2443755" y="3613700"/>
            <a:chExt cx="1996061" cy="683731"/>
          </a:xfrm>
        </p:grpSpPr>
        <p:sp>
          <p:nvSpPr>
            <p:cNvPr id="4" name="正方形/長方形 3">
              <a:extLst>
                <a:ext uri="{FF2B5EF4-FFF2-40B4-BE49-F238E27FC236}">
                  <a16:creationId xmlns:a16="http://schemas.microsoft.com/office/drawing/2014/main" id="{E25E8B59-A9AF-B900-C34B-DAF80BDA8C59}"/>
                </a:ext>
              </a:extLst>
            </p:cNvPr>
            <p:cNvSpPr/>
            <p:nvPr/>
          </p:nvSpPr>
          <p:spPr bwMode="auto">
            <a:xfrm>
              <a:off x="2443755" y="3613700"/>
              <a:ext cx="1996061" cy="68373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r" eaLnBrk="1" hangingPunct="1"/>
              <a:r>
                <a:rPr lang="en-US" altLang="ja-JP" kern="0">
                  <a:latin typeface="BIZ UDPゴシック" panose="020B0400000000000000" pitchFamily="50" charset="-128"/>
                  <a:ea typeface="BIZ UDPゴシック" panose="020B0400000000000000" pitchFamily="50" charset="-128"/>
                </a:rPr>
                <a:t>A.pptx</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6" name="図 15">
              <a:extLst>
                <a:ext uri="{FF2B5EF4-FFF2-40B4-BE49-F238E27FC236}">
                  <a16:creationId xmlns:a16="http://schemas.microsoft.com/office/drawing/2014/main" id="{CF94B3E5-5ED0-EE6C-3641-1BD8352881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8462" y="3704786"/>
              <a:ext cx="523272" cy="501559"/>
            </a:xfrm>
            <a:prstGeom prst="rect">
              <a:avLst/>
            </a:prstGeom>
          </p:spPr>
        </p:pic>
      </p:grpSp>
      <p:grpSp>
        <p:nvGrpSpPr>
          <p:cNvPr id="19" name="グループ化 18">
            <a:extLst>
              <a:ext uri="{FF2B5EF4-FFF2-40B4-BE49-F238E27FC236}">
                <a16:creationId xmlns:a16="http://schemas.microsoft.com/office/drawing/2014/main" id="{F87B9839-0FE9-E5E1-AB5C-C93D1A641868}"/>
              </a:ext>
            </a:extLst>
          </p:cNvPr>
          <p:cNvGrpSpPr/>
          <p:nvPr/>
        </p:nvGrpSpPr>
        <p:grpSpPr>
          <a:xfrm>
            <a:off x="1569576" y="5719392"/>
            <a:ext cx="1996062" cy="653492"/>
            <a:chOff x="2443754" y="5463298"/>
            <a:chExt cx="1996062" cy="653492"/>
          </a:xfrm>
        </p:grpSpPr>
        <p:sp>
          <p:nvSpPr>
            <p:cNvPr id="7" name="正方形/長方形 6">
              <a:extLst>
                <a:ext uri="{FF2B5EF4-FFF2-40B4-BE49-F238E27FC236}">
                  <a16:creationId xmlns:a16="http://schemas.microsoft.com/office/drawing/2014/main" id="{40B30D01-EC9D-0B99-494F-13BAF499FBF3}"/>
                </a:ext>
              </a:extLst>
            </p:cNvPr>
            <p:cNvSpPr/>
            <p:nvPr/>
          </p:nvSpPr>
          <p:spPr bwMode="auto">
            <a:xfrm>
              <a:off x="2443754" y="5463298"/>
              <a:ext cx="1996062" cy="65349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r" eaLnBrk="1" hangingPunct="1"/>
              <a:r>
                <a:rPr lang="en-US" altLang="ja-JP" kern="0">
                  <a:latin typeface="BIZ UDPゴシック" panose="020B0400000000000000" pitchFamily="50" charset="-128"/>
                  <a:ea typeface="BIZ UDPゴシック" panose="020B0400000000000000" pitchFamily="50" charset="-128"/>
                </a:rPr>
                <a:t>B.pptx</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D512E56F-7D4D-5658-A552-D65E87101D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8462" y="5539265"/>
              <a:ext cx="523272" cy="501559"/>
            </a:xfrm>
            <a:prstGeom prst="rect">
              <a:avLst/>
            </a:prstGeom>
          </p:spPr>
        </p:pic>
      </p:grpSp>
      <p:grpSp>
        <p:nvGrpSpPr>
          <p:cNvPr id="20" name="グループ化 19">
            <a:extLst>
              <a:ext uri="{FF2B5EF4-FFF2-40B4-BE49-F238E27FC236}">
                <a16:creationId xmlns:a16="http://schemas.microsoft.com/office/drawing/2014/main" id="{F22B069D-942D-9A46-46B5-210532C86AB4}"/>
              </a:ext>
            </a:extLst>
          </p:cNvPr>
          <p:cNvGrpSpPr/>
          <p:nvPr/>
        </p:nvGrpSpPr>
        <p:grpSpPr>
          <a:xfrm>
            <a:off x="1189375" y="3881768"/>
            <a:ext cx="2376264" cy="683731"/>
            <a:chOff x="2063553" y="3613700"/>
            <a:chExt cx="2376264" cy="683731"/>
          </a:xfrm>
        </p:grpSpPr>
        <p:sp>
          <p:nvSpPr>
            <p:cNvPr id="21" name="正方形/長方形 20">
              <a:extLst>
                <a:ext uri="{FF2B5EF4-FFF2-40B4-BE49-F238E27FC236}">
                  <a16:creationId xmlns:a16="http://schemas.microsoft.com/office/drawing/2014/main" id="{C2A2A3DF-1C3A-54BB-97A5-99212BB7B49E}"/>
                </a:ext>
              </a:extLst>
            </p:cNvPr>
            <p:cNvSpPr/>
            <p:nvPr/>
          </p:nvSpPr>
          <p:spPr bwMode="auto">
            <a:xfrm>
              <a:off x="2063553" y="3613700"/>
              <a:ext cx="2376264" cy="68373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r" eaLnBrk="1" hangingPunct="1"/>
              <a:r>
                <a:rPr lang="en-US" altLang="ja-JP" kern="0">
                  <a:latin typeface="BIZ UDPゴシック" panose="020B0400000000000000" pitchFamily="50" charset="-128"/>
                  <a:ea typeface="BIZ UDPゴシック" panose="020B0400000000000000" pitchFamily="50" charset="-128"/>
                </a:rPr>
                <a:t>stylebase</a:t>
              </a:r>
            </a:p>
            <a:p>
              <a:pPr algn="r" eaLnBrk="1" hangingPunct="1"/>
              <a:r>
                <a:rPr lang="en-US" altLang="ja-JP" kern="0">
                  <a:latin typeface="BIZ UDPゴシック" panose="020B0400000000000000" pitchFamily="50" charset="-128"/>
                  <a:ea typeface="BIZ UDPゴシック" panose="020B0400000000000000" pitchFamily="50" charset="-128"/>
                </a:rPr>
                <a:t>.pptx</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25" name="図 24">
              <a:extLst>
                <a:ext uri="{FF2B5EF4-FFF2-40B4-BE49-F238E27FC236}">
                  <a16:creationId xmlns:a16="http://schemas.microsoft.com/office/drawing/2014/main" id="{EB98A991-4CFA-08FB-349D-B5F85E58A1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79837" y="3704786"/>
              <a:ext cx="523272" cy="501559"/>
            </a:xfrm>
            <a:prstGeom prst="rect">
              <a:avLst/>
            </a:prstGeom>
          </p:spPr>
        </p:pic>
      </p:grpSp>
      <p:sp>
        <p:nvSpPr>
          <p:cNvPr id="30" name="右中かっこ 29">
            <a:extLst>
              <a:ext uri="{FF2B5EF4-FFF2-40B4-BE49-F238E27FC236}">
                <a16:creationId xmlns:a16="http://schemas.microsoft.com/office/drawing/2014/main" id="{F13C6333-FD68-C629-DAEA-23CFF4AC1A99}"/>
              </a:ext>
            </a:extLst>
          </p:cNvPr>
          <p:cNvSpPr/>
          <p:nvPr/>
        </p:nvSpPr>
        <p:spPr bwMode="auto">
          <a:xfrm>
            <a:off x="3853670" y="4842916"/>
            <a:ext cx="337751" cy="1631765"/>
          </a:xfrm>
          <a:prstGeom prst="rightBrace">
            <a:avLst>
              <a:gd name="adj1" fmla="val 40821"/>
              <a:gd name="adj2" fmla="val 50000"/>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EA1D9512-F11F-D14A-4817-88A09550D87F}"/>
              </a:ext>
            </a:extLst>
          </p:cNvPr>
          <p:cNvSpPr txBox="1"/>
          <p:nvPr/>
        </p:nvSpPr>
        <p:spPr bwMode="auto">
          <a:xfrm>
            <a:off x="4351622" y="5466789"/>
            <a:ext cx="3488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コンテンツを含むファイル</a:t>
            </a:r>
          </a:p>
        </p:txBody>
      </p:sp>
      <p:sp>
        <p:nvSpPr>
          <p:cNvPr id="42" name="テキスト ボックス 41">
            <a:extLst>
              <a:ext uri="{FF2B5EF4-FFF2-40B4-BE49-F238E27FC236}">
                <a16:creationId xmlns:a16="http://schemas.microsoft.com/office/drawing/2014/main" id="{2E691D5E-CC6C-BB5C-92C9-D2C1F9E0A13B}"/>
              </a:ext>
            </a:extLst>
          </p:cNvPr>
          <p:cNvSpPr txBox="1"/>
          <p:nvPr/>
        </p:nvSpPr>
        <p:spPr bwMode="auto">
          <a:xfrm>
            <a:off x="3998624" y="3889586"/>
            <a:ext cx="692895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テーマ（配色、フォント、効果）、スライドマスター、レイアウト</a:t>
            </a:r>
            <a:endParaRPr kumimoji="1" lang="en-US" altLang="ja-JP" kern="0">
              <a:latin typeface="BIZ UDPゴシック" panose="020B0400000000000000" pitchFamily="50" charset="-128"/>
              <a:ea typeface="BIZ UDPゴシック" panose="020B0400000000000000" pitchFamily="50" charset="-128"/>
            </a:endParaRPr>
          </a:p>
          <a:p>
            <a:pPr algn="l"/>
            <a:r>
              <a:rPr kumimoji="1" lang="ja-JP" altLang="en-US" kern="0">
                <a:latin typeface="BIZ UDPゴシック" panose="020B0400000000000000" pitchFamily="50" charset="-128"/>
                <a:ea typeface="BIZ UDPゴシック" panose="020B0400000000000000" pitchFamily="50" charset="-128"/>
              </a:rPr>
              <a:t>などのスタイル情報を持つファイル</a:t>
            </a:r>
          </a:p>
        </p:txBody>
      </p:sp>
      <p:sp>
        <p:nvSpPr>
          <p:cNvPr id="43" name="テキスト ボックス 42">
            <a:extLst>
              <a:ext uri="{FF2B5EF4-FFF2-40B4-BE49-F238E27FC236}">
                <a16:creationId xmlns:a16="http://schemas.microsoft.com/office/drawing/2014/main" id="{23FBF853-E58D-E677-7F52-D9A7C096ED00}"/>
              </a:ext>
            </a:extLst>
          </p:cNvPr>
          <p:cNvSpPr txBox="1"/>
          <p:nvPr/>
        </p:nvSpPr>
        <p:spPr bwMode="auto">
          <a:xfrm>
            <a:off x="739026" y="2942798"/>
            <a:ext cx="105415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kern="0">
                <a:latin typeface="BIZ UDPゴシック" panose="020B0400000000000000" pitchFamily="50" charset="-128"/>
                <a:ea typeface="BIZ UDPゴシック" panose="020B0400000000000000" pitchFamily="50" charset="-128"/>
              </a:rPr>
              <a:t>pptx</a:t>
            </a:r>
            <a:r>
              <a:rPr kumimoji="1" lang="ja-JP" altLang="en-US" kern="0">
                <a:latin typeface="BIZ UDPゴシック" panose="020B0400000000000000" pitchFamily="50" charset="-128"/>
                <a:ea typeface="BIZ UDPゴシック" panose="020B0400000000000000" pitchFamily="50" charset="-128"/>
              </a:rPr>
              <a:t>ファイルを結合する際、コンテンツとは別にスタイル情報のみ使用するファイルを</a:t>
            </a:r>
            <a:endParaRPr kumimoji="1" lang="en-US" altLang="ja-JP" kern="0">
              <a:latin typeface="BIZ UDPゴシック" panose="020B0400000000000000" pitchFamily="50" charset="-128"/>
              <a:ea typeface="BIZ UDPゴシック" panose="020B0400000000000000" pitchFamily="50" charset="-128"/>
            </a:endParaRPr>
          </a:p>
          <a:p>
            <a:pPr algn="l"/>
            <a:r>
              <a:rPr kumimoji="1" lang="ja-JP" altLang="en-US" kern="0">
                <a:latin typeface="BIZ UDPゴシック" panose="020B0400000000000000" pitchFamily="50" charset="-128"/>
                <a:ea typeface="BIZ UDPゴシック" panose="020B0400000000000000" pitchFamily="50" charset="-128"/>
              </a:rPr>
              <a:t>別途指定することができます</a:t>
            </a:r>
          </a:p>
        </p:txBody>
      </p:sp>
      <p:sp>
        <p:nvSpPr>
          <p:cNvPr id="5" name="正方形/長方形 4">
            <a:extLst>
              <a:ext uri="{FF2B5EF4-FFF2-40B4-BE49-F238E27FC236}">
                <a16:creationId xmlns:a16="http://schemas.microsoft.com/office/drawing/2014/main" id="{83C0C3C4-C6BC-3D04-C753-83A60A0E80D1}"/>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&lt;__FILENAME__&gt;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16542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7" name="exportrange">
            <a:extLst>
              <a:ext uri="{FF2B5EF4-FFF2-40B4-BE49-F238E27FC236}">
                <a16:creationId xmlns:a16="http://schemas.microsoft.com/office/drawing/2014/main" id="{2864F0C8-37E0-5875-75FA-A7CE7C3AE15E}"/>
              </a:ext>
            </a:extLst>
          </p:cNvPr>
          <p:cNvSpPr/>
          <p:nvPr/>
        </p:nvSpPr>
        <p:spPr bwMode="auto">
          <a:xfrm>
            <a:off x="623392" y="2559388"/>
            <a:ext cx="10957984" cy="2444339"/>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なぜ</a:t>
            </a:r>
            <a:r>
              <a:rPr lang="en-US" altLang="ja-JP"/>
              <a:t>stylebase</a:t>
            </a:r>
            <a:r>
              <a:rPr lang="ja-JP" altLang="en-US"/>
              <a:t>を別途指定すべき？</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8B4D3DC3-523E-645B-19BF-DB9E898E8038}"/>
              </a:ext>
            </a:extLst>
          </p:cNvPr>
          <p:cNvSpPr/>
          <p:nvPr/>
        </p:nvSpPr>
        <p:spPr bwMode="auto">
          <a:xfrm>
            <a:off x="1127448" y="3260423"/>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CA0CF410-0C49-01AD-ADAA-344E723EF0A1}"/>
              </a:ext>
            </a:extLst>
          </p:cNvPr>
          <p:cNvSpPr txBox="1"/>
          <p:nvPr/>
        </p:nvSpPr>
        <p:spPr bwMode="auto">
          <a:xfrm>
            <a:off x="1859811" y="2718657"/>
            <a:ext cx="1211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784A8307-1ADD-52FA-7E15-F3A1640C7C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4387" y="2650232"/>
            <a:ext cx="523272" cy="501559"/>
          </a:xfrm>
          <a:prstGeom prst="rect">
            <a:avLst/>
          </a:prstGeom>
        </p:spPr>
      </p:pic>
      <p:sp>
        <p:nvSpPr>
          <p:cNvPr id="13" name="正方形/長方形 12">
            <a:extLst>
              <a:ext uri="{FF2B5EF4-FFF2-40B4-BE49-F238E27FC236}">
                <a16:creationId xmlns:a16="http://schemas.microsoft.com/office/drawing/2014/main" id="{077CC570-68C8-5BC2-235B-EC202CCC14E3}"/>
              </a:ext>
            </a:extLst>
          </p:cNvPr>
          <p:cNvSpPr/>
          <p:nvPr/>
        </p:nvSpPr>
        <p:spPr bwMode="auto">
          <a:xfrm>
            <a:off x="1321215" y="3964690"/>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コンテンツＡ</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B9A68271-9F2C-9F12-A23D-CCBCACFBD8C3}"/>
              </a:ext>
            </a:extLst>
          </p:cNvPr>
          <p:cNvSpPr/>
          <p:nvPr/>
        </p:nvSpPr>
        <p:spPr bwMode="auto">
          <a:xfrm>
            <a:off x="1321215" y="3440443"/>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スタイルＡ</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A6A80364-612F-7B18-0A38-37CB2AF9E7A8}"/>
              </a:ext>
            </a:extLst>
          </p:cNvPr>
          <p:cNvSpPr/>
          <p:nvPr/>
        </p:nvSpPr>
        <p:spPr bwMode="auto">
          <a:xfrm>
            <a:off x="3359696" y="3260423"/>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C2867C7E-5734-EE1F-3912-8D4CCB2F29B1}"/>
              </a:ext>
            </a:extLst>
          </p:cNvPr>
          <p:cNvSpPr txBox="1"/>
          <p:nvPr/>
        </p:nvSpPr>
        <p:spPr bwMode="auto">
          <a:xfrm>
            <a:off x="4092059" y="2718657"/>
            <a:ext cx="1211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C7D2A03D-7A7E-9B4A-6D0C-DF07623E68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6635" y="2650232"/>
            <a:ext cx="523272" cy="501559"/>
          </a:xfrm>
          <a:prstGeom prst="rect">
            <a:avLst/>
          </a:prstGeom>
        </p:spPr>
      </p:pic>
      <p:sp>
        <p:nvSpPr>
          <p:cNvPr id="18" name="正方形/長方形 17">
            <a:extLst>
              <a:ext uri="{FF2B5EF4-FFF2-40B4-BE49-F238E27FC236}">
                <a16:creationId xmlns:a16="http://schemas.microsoft.com/office/drawing/2014/main" id="{CF14F2C7-EFB7-EE76-A4EE-5AF8F0FDBB7E}"/>
              </a:ext>
            </a:extLst>
          </p:cNvPr>
          <p:cNvSpPr/>
          <p:nvPr/>
        </p:nvSpPr>
        <p:spPr bwMode="auto">
          <a:xfrm>
            <a:off x="3553463" y="3964690"/>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BADBB6E5-A53C-39BF-EDBD-B19580FB0552}"/>
              </a:ext>
            </a:extLst>
          </p:cNvPr>
          <p:cNvSpPr/>
          <p:nvPr/>
        </p:nvSpPr>
        <p:spPr bwMode="auto">
          <a:xfrm>
            <a:off x="3553463" y="3440443"/>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21" name="直線矢印コネクタ 20">
            <a:extLst>
              <a:ext uri="{FF2B5EF4-FFF2-40B4-BE49-F238E27FC236}">
                <a16:creationId xmlns:a16="http://schemas.microsoft.com/office/drawing/2014/main" id="{91C44322-EE98-41CA-63E9-B18F17C16F42}"/>
              </a:ext>
            </a:extLst>
          </p:cNvPr>
          <p:cNvCxnSpPr/>
          <p:nvPr/>
        </p:nvCxnSpPr>
        <p:spPr bwMode="auto">
          <a:xfrm>
            <a:off x="5736233" y="3963456"/>
            <a:ext cx="1656184"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2" name="正方形/長方形 21">
            <a:extLst>
              <a:ext uri="{FF2B5EF4-FFF2-40B4-BE49-F238E27FC236}">
                <a16:creationId xmlns:a16="http://schemas.microsoft.com/office/drawing/2014/main" id="{B293ADC9-89FB-72F5-64BD-977ECD0FFD51}"/>
              </a:ext>
            </a:extLst>
          </p:cNvPr>
          <p:cNvSpPr/>
          <p:nvPr/>
        </p:nvSpPr>
        <p:spPr bwMode="auto">
          <a:xfrm>
            <a:off x="7824192" y="3260422"/>
            <a:ext cx="1844833" cy="156712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F8F002AA-25C1-1EB2-DF7A-449A9589DB4B}"/>
              </a:ext>
            </a:extLst>
          </p:cNvPr>
          <p:cNvSpPr txBox="1"/>
          <p:nvPr/>
        </p:nvSpPr>
        <p:spPr bwMode="auto">
          <a:xfrm>
            <a:off x="8073224" y="2718657"/>
            <a:ext cx="20039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24" name="図 23">
            <a:extLst>
              <a:ext uri="{FF2B5EF4-FFF2-40B4-BE49-F238E27FC236}">
                <a16:creationId xmlns:a16="http://schemas.microsoft.com/office/drawing/2014/main" id="{2A3E70DC-1194-F4C8-B452-C996622ABB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7800" y="2650232"/>
            <a:ext cx="523272" cy="501559"/>
          </a:xfrm>
          <a:prstGeom prst="rect">
            <a:avLst/>
          </a:prstGeom>
        </p:spPr>
      </p:pic>
      <p:sp>
        <p:nvSpPr>
          <p:cNvPr id="25" name="正方形/長方形 24">
            <a:extLst>
              <a:ext uri="{FF2B5EF4-FFF2-40B4-BE49-F238E27FC236}">
                <a16:creationId xmlns:a16="http://schemas.microsoft.com/office/drawing/2014/main" id="{6A54C80E-EE3F-71F5-6B4B-D8C53137B289}"/>
              </a:ext>
            </a:extLst>
          </p:cNvPr>
          <p:cNvSpPr/>
          <p:nvPr/>
        </p:nvSpPr>
        <p:spPr bwMode="auto">
          <a:xfrm>
            <a:off x="8017959" y="3964690"/>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A</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8F63A0AE-CC92-9792-EA10-21011A83B477}"/>
              </a:ext>
            </a:extLst>
          </p:cNvPr>
          <p:cNvSpPr/>
          <p:nvPr/>
        </p:nvSpPr>
        <p:spPr bwMode="auto">
          <a:xfrm>
            <a:off x="8017959" y="3440443"/>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A</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AED29F5B-948D-D497-C7D9-61B610BA07D7}"/>
              </a:ext>
            </a:extLst>
          </p:cNvPr>
          <p:cNvSpPr/>
          <p:nvPr/>
        </p:nvSpPr>
        <p:spPr bwMode="auto">
          <a:xfrm>
            <a:off x="8017959" y="4360072"/>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73689CAB-4087-9F99-7B18-3F97EDB1A2AC}"/>
              </a:ext>
            </a:extLst>
          </p:cNvPr>
          <p:cNvSpPr txBox="1"/>
          <p:nvPr/>
        </p:nvSpPr>
        <p:spPr bwMode="auto">
          <a:xfrm>
            <a:off x="739026" y="1007124"/>
            <a:ext cx="105415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一般に、</a:t>
            </a:r>
            <a:r>
              <a:rPr kumimoji="1" lang="en-US" altLang="ja-JP" kern="0">
                <a:latin typeface="BIZ UDPゴシック" panose="020B0400000000000000" pitchFamily="50" charset="-128"/>
                <a:ea typeface="BIZ UDPゴシック" panose="020B0400000000000000" pitchFamily="50" charset="-128"/>
              </a:rPr>
              <a:t>pptx</a:t>
            </a:r>
            <a:r>
              <a:rPr kumimoji="1" lang="ja-JP" altLang="en-US" kern="0">
                <a:latin typeface="BIZ UDPゴシック" panose="020B0400000000000000" pitchFamily="50" charset="-128"/>
                <a:ea typeface="BIZ UDPゴシック" panose="020B0400000000000000" pitchFamily="50" charset="-128"/>
              </a:rPr>
              <a:t>ファイルにはスタイル情報とコンテンツが含まれており、複数のファイルの</a:t>
            </a:r>
            <a:endParaRPr kumimoji="1" lang="en-US" altLang="ja-JP" kern="0">
              <a:latin typeface="BIZ UDPゴシック" panose="020B0400000000000000" pitchFamily="50" charset="-128"/>
              <a:ea typeface="BIZ UDPゴシック" panose="020B0400000000000000" pitchFamily="50" charset="-128"/>
            </a:endParaRPr>
          </a:p>
          <a:p>
            <a:r>
              <a:rPr kumimoji="1" lang="ja-JP" altLang="en-US" kern="0">
                <a:latin typeface="BIZ UDPゴシック" panose="020B0400000000000000" pitchFamily="50" charset="-128"/>
                <a:ea typeface="BIZ UDPゴシック" panose="020B0400000000000000" pitchFamily="50" charset="-128"/>
              </a:rPr>
              <a:t>マージ処理</a:t>
            </a:r>
            <a:r>
              <a:rPr kumimoji="1" lang="en-US" altLang="ja-JP" kern="0">
                <a:latin typeface="BIZ UDPゴシック" panose="020B0400000000000000" pitchFamily="50" charset="-128"/>
                <a:ea typeface="BIZ UDPゴシック" panose="020B0400000000000000" pitchFamily="50" charset="-128"/>
              </a:rPr>
              <a:t>(pptmerge)</a:t>
            </a:r>
            <a:r>
              <a:rPr kumimoji="1" lang="ja-JP" altLang="en-US" kern="0">
                <a:latin typeface="BIZ UDPゴシック" panose="020B0400000000000000" pitchFamily="50" charset="-128"/>
                <a:ea typeface="BIZ UDPゴシック" panose="020B0400000000000000" pitchFamily="50" charset="-128"/>
              </a:rPr>
              <a:t>では　「</a:t>
            </a:r>
            <a:r>
              <a:rPr lang="ja-JP" altLang="en-US" kern="0">
                <a:latin typeface="BIZ UDPゴシック" panose="020B0400000000000000" pitchFamily="50" charset="-128"/>
                <a:ea typeface="BIZ UDPゴシック" panose="020B0400000000000000" pitchFamily="50" charset="-128"/>
              </a:rPr>
              <a:t>コンテンツ」 を結合します。</a:t>
            </a:r>
            <a:endParaRPr lang="en-US" altLang="ja-JP" kern="0">
              <a:latin typeface="BIZ UDPゴシック" panose="020B0400000000000000" pitchFamily="50" charset="-128"/>
              <a:ea typeface="BIZ UDPゴシック" panose="020B0400000000000000" pitchFamily="50" charset="-128"/>
            </a:endParaRPr>
          </a:p>
          <a:p>
            <a:endParaRPr kumimoji="1" lang="en-US" altLang="ja-JP" kern="0">
              <a:latin typeface="BIZ UDPゴシック" panose="020B0400000000000000" pitchFamily="50" charset="-128"/>
              <a:ea typeface="BIZ UDPゴシック" panose="020B0400000000000000" pitchFamily="50" charset="-128"/>
            </a:endParaRPr>
          </a:p>
          <a:p>
            <a:r>
              <a:rPr kumimoji="1" lang="ja-JP" altLang="en-US" kern="0">
                <a:solidFill>
                  <a:srgbClr val="FF0000"/>
                </a:solidFill>
                <a:latin typeface="BIZ UDPゴシック" panose="020B0400000000000000" pitchFamily="50" charset="-128"/>
                <a:ea typeface="BIZ UDPゴシック" panose="020B0400000000000000" pitchFamily="50" charset="-128"/>
              </a:rPr>
              <a:t>スタイル情報は最初のファイルのものだけ</a:t>
            </a:r>
            <a:r>
              <a:rPr lang="ja-JP" altLang="en-US" kern="0">
                <a:latin typeface="BIZ UDPゴシック" panose="020B0400000000000000" pitchFamily="50" charset="-128"/>
                <a:ea typeface="BIZ UDPゴシック" panose="020B0400000000000000" pitchFamily="50" charset="-128"/>
              </a:rPr>
              <a:t>が使われます。</a:t>
            </a:r>
            <a:endParaRPr kumimoji="1" lang="ja-JP" altLang="en-US"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52A511B-6B57-04D5-E490-047B462942C3}"/>
              </a:ext>
            </a:extLst>
          </p:cNvPr>
          <p:cNvSpPr txBox="1"/>
          <p:nvPr/>
        </p:nvSpPr>
        <p:spPr bwMode="auto">
          <a:xfrm>
            <a:off x="5851176" y="3476746"/>
            <a:ext cx="16129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pptmerge</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A0192C7A-4D11-9A6E-34A5-BAAF507D18AC}"/>
              </a:ext>
            </a:extLst>
          </p:cNvPr>
          <p:cNvSpPr txBox="1"/>
          <p:nvPr/>
        </p:nvSpPr>
        <p:spPr bwMode="auto">
          <a:xfrm>
            <a:off x="9980225" y="3284984"/>
            <a:ext cx="161297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スタイル</a:t>
            </a:r>
            <a:r>
              <a:rPr kumimoji="1" lang="en-US" altLang="ja-JP" sz="1800" kern="0">
                <a:latin typeface="BIZ UDPゴシック" panose="020B0400000000000000" pitchFamily="50" charset="-128"/>
                <a:ea typeface="BIZ UDPゴシック" panose="020B0400000000000000" pitchFamily="50" charset="-128"/>
              </a:rPr>
              <a:t>B</a:t>
            </a:r>
            <a:r>
              <a:rPr kumimoji="1" lang="ja-JP" altLang="en-US" sz="1800" kern="0">
                <a:latin typeface="BIZ UDPゴシック" panose="020B0400000000000000" pitchFamily="50" charset="-128"/>
                <a:ea typeface="BIZ UDPゴシック" panose="020B0400000000000000" pitchFamily="50" charset="-128"/>
              </a:rPr>
              <a:t>は</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残らない</a:t>
            </a:r>
          </a:p>
        </p:txBody>
      </p:sp>
      <p:cxnSp>
        <p:nvCxnSpPr>
          <p:cNvPr id="31" name="直線矢印コネクタ 30">
            <a:extLst>
              <a:ext uri="{FF2B5EF4-FFF2-40B4-BE49-F238E27FC236}">
                <a16:creationId xmlns:a16="http://schemas.microsoft.com/office/drawing/2014/main" id="{D3933333-F79D-BD7F-9DB3-7894542AE5C6}"/>
              </a:ext>
            </a:extLst>
          </p:cNvPr>
          <p:cNvCxnSpPr>
            <a:cxnSpLocks/>
            <a:stCxn id="30" idx="1"/>
            <a:endCxn id="26" idx="3"/>
          </p:cNvCxnSpPr>
          <p:nvPr/>
        </p:nvCxnSpPr>
        <p:spPr bwMode="auto">
          <a:xfrm flipH="1">
            <a:off x="9493433" y="3608150"/>
            <a:ext cx="486792" cy="2536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34" name="テキスト ボックス 33">
            <a:extLst>
              <a:ext uri="{FF2B5EF4-FFF2-40B4-BE49-F238E27FC236}">
                <a16:creationId xmlns:a16="http://schemas.microsoft.com/office/drawing/2014/main" id="{0F7FFB5B-A715-B6C1-EACE-D55A67B61655}"/>
              </a:ext>
            </a:extLst>
          </p:cNvPr>
          <p:cNvSpPr txBox="1"/>
          <p:nvPr/>
        </p:nvSpPr>
        <p:spPr bwMode="auto">
          <a:xfrm>
            <a:off x="739026" y="5056376"/>
            <a:ext cx="105415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しかし、コンテンツファイルは一般に頻繁に更新されるものです。</a:t>
            </a:r>
            <a:endParaRPr kumimoji="1" lang="en-US" altLang="ja-JP" kern="0">
              <a:latin typeface="BIZ UDPゴシック" panose="020B0400000000000000" pitchFamily="50" charset="-128"/>
              <a:ea typeface="BIZ UDPゴシック" panose="020B0400000000000000" pitchFamily="50" charset="-128"/>
            </a:endParaRPr>
          </a:p>
          <a:p>
            <a:r>
              <a:rPr kumimoji="1" lang="ja-JP" altLang="en-US" kern="0">
                <a:latin typeface="BIZ UDPゴシック" panose="020B0400000000000000" pitchFamily="50" charset="-128"/>
                <a:ea typeface="BIZ UDPゴシック" panose="020B0400000000000000" pitchFamily="50" charset="-128"/>
              </a:rPr>
              <a:t>コンテンツとスタイルを混在させていると　「うっかり、スタイルまで更新してしまう」　事態が起きます。　スタイルが合わないとレイアウト崩れ、配色崩れなどが起きるため、スタイル情報はコンテンツとは別に管理することが望ましいのです。</a:t>
            </a:r>
          </a:p>
        </p:txBody>
      </p:sp>
      <p:sp>
        <p:nvSpPr>
          <p:cNvPr id="5" name="正方形/長方形 4">
            <a:extLst>
              <a:ext uri="{FF2B5EF4-FFF2-40B4-BE49-F238E27FC236}">
                <a16:creationId xmlns:a16="http://schemas.microsoft.com/office/drawing/2014/main" id="{C68DE26D-7789-1C09-816F-86B70806C6F3}"/>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25006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0639CB12-C7B6-E971-D87F-7A778DB65745}"/>
              </a:ext>
            </a:extLst>
          </p:cNvPr>
          <p:cNvSpPr/>
          <p:nvPr/>
        </p:nvSpPr>
        <p:spPr bwMode="auto">
          <a:xfrm>
            <a:off x="623392" y="2292803"/>
            <a:ext cx="11089232" cy="427948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stylebase</a:t>
            </a:r>
            <a:r>
              <a:rPr lang="ja-JP" altLang="en-US"/>
              <a:t>を別途指定するしくみ</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8B4D3DC3-523E-645B-19BF-DB9E898E8038}"/>
              </a:ext>
            </a:extLst>
          </p:cNvPr>
          <p:cNvSpPr/>
          <p:nvPr/>
        </p:nvSpPr>
        <p:spPr bwMode="auto">
          <a:xfrm>
            <a:off x="3406198" y="2988322"/>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CA0CF410-0C49-01AD-ADAA-344E723EF0A1}"/>
              </a:ext>
            </a:extLst>
          </p:cNvPr>
          <p:cNvSpPr txBox="1"/>
          <p:nvPr/>
        </p:nvSpPr>
        <p:spPr bwMode="auto">
          <a:xfrm>
            <a:off x="4138561" y="2446556"/>
            <a:ext cx="1211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784A8307-1ADD-52FA-7E15-F3A1640C7C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93137" y="2378131"/>
            <a:ext cx="523272" cy="501559"/>
          </a:xfrm>
          <a:prstGeom prst="rect">
            <a:avLst/>
          </a:prstGeom>
        </p:spPr>
      </p:pic>
      <p:sp>
        <p:nvSpPr>
          <p:cNvPr id="13" name="正方形/長方形 12">
            <a:extLst>
              <a:ext uri="{FF2B5EF4-FFF2-40B4-BE49-F238E27FC236}">
                <a16:creationId xmlns:a16="http://schemas.microsoft.com/office/drawing/2014/main" id="{077CC570-68C8-5BC2-235B-EC202CCC14E3}"/>
              </a:ext>
            </a:extLst>
          </p:cNvPr>
          <p:cNvSpPr/>
          <p:nvPr/>
        </p:nvSpPr>
        <p:spPr bwMode="auto">
          <a:xfrm>
            <a:off x="3599965" y="3692589"/>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コンテンツＡ</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B9A68271-9F2C-9F12-A23D-CCBCACFBD8C3}"/>
              </a:ext>
            </a:extLst>
          </p:cNvPr>
          <p:cNvSpPr/>
          <p:nvPr/>
        </p:nvSpPr>
        <p:spPr bwMode="auto">
          <a:xfrm>
            <a:off x="3599965" y="3168342"/>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スタイルＡ</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A6A80364-612F-7B18-0A38-37CB2AF9E7A8}"/>
              </a:ext>
            </a:extLst>
          </p:cNvPr>
          <p:cNvSpPr/>
          <p:nvPr/>
        </p:nvSpPr>
        <p:spPr bwMode="auto">
          <a:xfrm>
            <a:off x="5638446" y="2988322"/>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C2867C7E-5734-EE1F-3912-8D4CCB2F29B1}"/>
              </a:ext>
            </a:extLst>
          </p:cNvPr>
          <p:cNvSpPr txBox="1"/>
          <p:nvPr/>
        </p:nvSpPr>
        <p:spPr bwMode="auto">
          <a:xfrm>
            <a:off x="6370809" y="2446556"/>
            <a:ext cx="1211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C7D2A03D-7A7E-9B4A-6D0C-DF07623E68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25385" y="2378131"/>
            <a:ext cx="523272" cy="501559"/>
          </a:xfrm>
          <a:prstGeom prst="rect">
            <a:avLst/>
          </a:prstGeom>
        </p:spPr>
      </p:pic>
      <p:sp>
        <p:nvSpPr>
          <p:cNvPr id="18" name="正方形/長方形 17">
            <a:extLst>
              <a:ext uri="{FF2B5EF4-FFF2-40B4-BE49-F238E27FC236}">
                <a16:creationId xmlns:a16="http://schemas.microsoft.com/office/drawing/2014/main" id="{CF14F2C7-EFB7-EE76-A4EE-5AF8F0FDBB7E}"/>
              </a:ext>
            </a:extLst>
          </p:cNvPr>
          <p:cNvSpPr/>
          <p:nvPr/>
        </p:nvSpPr>
        <p:spPr bwMode="auto">
          <a:xfrm>
            <a:off x="5832213" y="3692589"/>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BADBB6E5-A53C-39BF-EDBD-B19580FB0552}"/>
              </a:ext>
            </a:extLst>
          </p:cNvPr>
          <p:cNvSpPr/>
          <p:nvPr/>
        </p:nvSpPr>
        <p:spPr bwMode="auto">
          <a:xfrm>
            <a:off x="5832213" y="3168342"/>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21" name="直線矢印コネクタ 20">
            <a:extLst>
              <a:ext uri="{FF2B5EF4-FFF2-40B4-BE49-F238E27FC236}">
                <a16:creationId xmlns:a16="http://schemas.microsoft.com/office/drawing/2014/main" id="{91C44322-EE98-41CA-63E9-B18F17C16F42}"/>
              </a:ext>
            </a:extLst>
          </p:cNvPr>
          <p:cNvCxnSpPr/>
          <p:nvPr/>
        </p:nvCxnSpPr>
        <p:spPr bwMode="auto">
          <a:xfrm>
            <a:off x="7630011" y="3691355"/>
            <a:ext cx="1656184"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2" name="正方形/長方形 21">
            <a:extLst>
              <a:ext uri="{FF2B5EF4-FFF2-40B4-BE49-F238E27FC236}">
                <a16:creationId xmlns:a16="http://schemas.microsoft.com/office/drawing/2014/main" id="{B293ADC9-89FB-72F5-64BD-977ECD0FFD51}"/>
              </a:ext>
            </a:extLst>
          </p:cNvPr>
          <p:cNvSpPr/>
          <p:nvPr/>
        </p:nvSpPr>
        <p:spPr bwMode="auto">
          <a:xfrm>
            <a:off x="9582587" y="2988321"/>
            <a:ext cx="1844833" cy="156712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F8F002AA-25C1-1EB2-DF7A-449A9589DB4B}"/>
              </a:ext>
            </a:extLst>
          </p:cNvPr>
          <p:cNvSpPr txBox="1"/>
          <p:nvPr/>
        </p:nvSpPr>
        <p:spPr bwMode="auto">
          <a:xfrm>
            <a:off x="9831619" y="2446556"/>
            <a:ext cx="20039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24" name="図 23">
            <a:extLst>
              <a:ext uri="{FF2B5EF4-FFF2-40B4-BE49-F238E27FC236}">
                <a16:creationId xmlns:a16="http://schemas.microsoft.com/office/drawing/2014/main" id="{2A3E70DC-1194-F4C8-B452-C996622ABB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6195" y="2378131"/>
            <a:ext cx="523272" cy="501559"/>
          </a:xfrm>
          <a:prstGeom prst="rect">
            <a:avLst/>
          </a:prstGeom>
        </p:spPr>
      </p:pic>
      <p:sp>
        <p:nvSpPr>
          <p:cNvPr id="25" name="正方形/長方形 24">
            <a:extLst>
              <a:ext uri="{FF2B5EF4-FFF2-40B4-BE49-F238E27FC236}">
                <a16:creationId xmlns:a16="http://schemas.microsoft.com/office/drawing/2014/main" id="{6A54C80E-EE3F-71F5-6B4B-D8C53137B289}"/>
              </a:ext>
            </a:extLst>
          </p:cNvPr>
          <p:cNvSpPr/>
          <p:nvPr/>
        </p:nvSpPr>
        <p:spPr bwMode="auto">
          <a:xfrm>
            <a:off x="9776354" y="3692589"/>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A</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8F63A0AE-CC92-9792-EA10-21011A83B477}"/>
              </a:ext>
            </a:extLst>
          </p:cNvPr>
          <p:cNvSpPr/>
          <p:nvPr/>
        </p:nvSpPr>
        <p:spPr bwMode="auto">
          <a:xfrm>
            <a:off x="9776354" y="3168342"/>
            <a:ext cx="1475474" cy="386143"/>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S</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AED29F5B-948D-D497-C7D9-61B610BA07D7}"/>
              </a:ext>
            </a:extLst>
          </p:cNvPr>
          <p:cNvSpPr/>
          <p:nvPr/>
        </p:nvSpPr>
        <p:spPr bwMode="auto">
          <a:xfrm>
            <a:off x="9776354" y="4087971"/>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73689CAB-4087-9F99-7B18-3F97EDB1A2AC}"/>
              </a:ext>
            </a:extLst>
          </p:cNvPr>
          <p:cNvSpPr txBox="1"/>
          <p:nvPr/>
        </p:nvSpPr>
        <p:spPr bwMode="auto">
          <a:xfrm>
            <a:off x="739026" y="1007124"/>
            <a:ext cx="105415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kern="0">
                <a:latin typeface="BIZ UDPゴシック" panose="020B0400000000000000" pitchFamily="50" charset="-128"/>
                <a:ea typeface="BIZ UDPゴシック" panose="020B0400000000000000" pitchFamily="50" charset="-128"/>
              </a:rPr>
              <a:t>そこで、スタイル情報を別のファイルに分離することを推奨します。　</a:t>
            </a:r>
            <a:endParaRPr lang="en-US" altLang="ja-JP" kern="0">
              <a:latin typeface="BIZ UDPゴシック" panose="020B0400000000000000" pitchFamily="50" charset="-128"/>
              <a:ea typeface="BIZ UDPゴシック" panose="020B0400000000000000" pitchFamily="50" charset="-128"/>
            </a:endParaRPr>
          </a:p>
          <a:p>
            <a:r>
              <a:rPr lang="ja-JP" altLang="en-US" kern="0">
                <a:latin typeface="BIZ UDPゴシック" panose="020B0400000000000000" pitchFamily="50" charset="-128"/>
                <a:ea typeface="BIZ UDPゴシック" panose="020B0400000000000000" pitchFamily="50" charset="-128"/>
              </a:rPr>
              <a:t>スタイル情報は一般に、複数の文書、複数のプロジェクトで共通に使われるものなので、共通資材フォルダに置くとよいでしょう。</a:t>
            </a:r>
            <a:endParaRPr lang="en-US" altLang="ja-JP"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52A511B-6B57-04D5-E490-047B462942C3}"/>
              </a:ext>
            </a:extLst>
          </p:cNvPr>
          <p:cNvSpPr txBox="1"/>
          <p:nvPr/>
        </p:nvSpPr>
        <p:spPr bwMode="auto">
          <a:xfrm>
            <a:off x="7744954" y="3204645"/>
            <a:ext cx="16129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pptmerge</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35" name="正方形/長方形 34">
            <a:extLst>
              <a:ext uri="{FF2B5EF4-FFF2-40B4-BE49-F238E27FC236}">
                <a16:creationId xmlns:a16="http://schemas.microsoft.com/office/drawing/2014/main" id="{4B0AAFFC-8FCA-85AE-0B53-3CB204F7372E}"/>
              </a:ext>
            </a:extLst>
          </p:cNvPr>
          <p:cNvSpPr/>
          <p:nvPr/>
        </p:nvSpPr>
        <p:spPr bwMode="auto">
          <a:xfrm>
            <a:off x="1216676" y="2988322"/>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02753175-99CE-0127-AE64-E6590AB5AD4F}"/>
              </a:ext>
            </a:extLst>
          </p:cNvPr>
          <p:cNvSpPr txBox="1"/>
          <p:nvPr/>
        </p:nvSpPr>
        <p:spPr bwMode="auto">
          <a:xfrm>
            <a:off x="1694231" y="2292803"/>
            <a:ext cx="1466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stylebase.pptx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37" name="図 36">
            <a:extLst>
              <a:ext uri="{FF2B5EF4-FFF2-40B4-BE49-F238E27FC236}">
                <a16:creationId xmlns:a16="http://schemas.microsoft.com/office/drawing/2014/main" id="{37A6AF87-321E-4109-3184-443E659EE7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8939" y="2378131"/>
            <a:ext cx="523272" cy="501559"/>
          </a:xfrm>
          <a:prstGeom prst="rect">
            <a:avLst/>
          </a:prstGeom>
        </p:spPr>
      </p:pic>
      <p:sp>
        <p:nvSpPr>
          <p:cNvPr id="38" name="正方形/長方形 37">
            <a:extLst>
              <a:ext uri="{FF2B5EF4-FFF2-40B4-BE49-F238E27FC236}">
                <a16:creationId xmlns:a16="http://schemas.microsoft.com/office/drawing/2014/main" id="{33C6119A-942B-D935-2A08-1C7062C57FD2}"/>
              </a:ext>
            </a:extLst>
          </p:cNvPr>
          <p:cNvSpPr/>
          <p:nvPr/>
        </p:nvSpPr>
        <p:spPr bwMode="auto">
          <a:xfrm>
            <a:off x="1410443" y="3692589"/>
            <a:ext cx="1475474" cy="386143"/>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S</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F9A40447-E015-2FDA-0CE5-8CBADD0F0E95}"/>
              </a:ext>
            </a:extLst>
          </p:cNvPr>
          <p:cNvSpPr/>
          <p:nvPr/>
        </p:nvSpPr>
        <p:spPr bwMode="auto">
          <a:xfrm>
            <a:off x="1410443" y="3168342"/>
            <a:ext cx="1475474" cy="386143"/>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S</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0" name="右中かっこ 39">
            <a:extLst>
              <a:ext uri="{FF2B5EF4-FFF2-40B4-BE49-F238E27FC236}">
                <a16:creationId xmlns:a16="http://schemas.microsoft.com/office/drawing/2014/main" id="{1C4259E1-A979-A575-10B4-ADCB288CF1A9}"/>
              </a:ext>
            </a:extLst>
          </p:cNvPr>
          <p:cNvSpPr/>
          <p:nvPr/>
        </p:nvSpPr>
        <p:spPr bwMode="auto">
          <a:xfrm rot="5400000">
            <a:off x="5324041" y="2386453"/>
            <a:ext cx="337751" cy="4179488"/>
          </a:xfrm>
          <a:prstGeom prst="rightBrace">
            <a:avLst>
              <a:gd name="adj1" fmla="val 40821"/>
              <a:gd name="adj2" fmla="val 50000"/>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AEAD641E-91AE-3026-8614-C02EF42CFA77}"/>
              </a:ext>
            </a:extLst>
          </p:cNvPr>
          <p:cNvSpPr txBox="1"/>
          <p:nvPr/>
        </p:nvSpPr>
        <p:spPr bwMode="auto">
          <a:xfrm>
            <a:off x="3403172" y="4595328"/>
            <a:ext cx="417948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operation: insertpptx </a:t>
            </a:r>
            <a:r>
              <a:rPr kumimoji="1" lang="ja-JP" altLang="en-US" sz="1800" kern="0">
                <a:latin typeface="BIZ UDPゴシック" panose="020B0400000000000000" pitchFamily="50" charset="-128"/>
                <a:ea typeface="BIZ UDPゴシック" panose="020B0400000000000000" pitchFamily="50" charset="-128"/>
              </a:rPr>
              <a:t>の </a:t>
            </a:r>
            <a:r>
              <a:rPr kumimoji="1" lang="en-US" altLang="ja-JP" sz="1800" kern="0">
                <a:latin typeface="BIZ UDPゴシック" panose="020B0400000000000000" pitchFamily="50" charset="-128"/>
                <a:ea typeface="BIZ UDPゴシック" panose="020B0400000000000000" pitchFamily="50" charset="-128"/>
              </a:rPr>
              <a:t>pptxfilename </a:t>
            </a:r>
            <a:r>
              <a:rPr kumimoji="1" lang="ja-JP" altLang="en-US" sz="1800" kern="0">
                <a:latin typeface="BIZ UDPゴシック" panose="020B0400000000000000" pitchFamily="50" charset="-128"/>
                <a:ea typeface="BIZ UDPゴシック" panose="020B0400000000000000" pitchFamily="50" charset="-128"/>
              </a:rPr>
              <a:t>で指定する。</a:t>
            </a:r>
          </a:p>
        </p:txBody>
      </p:sp>
      <p:sp>
        <p:nvSpPr>
          <p:cNvPr id="42" name="テキスト ボックス 41">
            <a:extLst>
              <a:ext uri="{FF2B5EF4-FFF2-40B4-BE49-F238E27FC236}">
                <a16:creationId xmlns:a16="http://schemas.microsoft.com/office/drawing/2014/main" id="{19A68A0D-DFB0-1988-545C-5B093924F9BD}"/>
              </a:ext>
            </a:extLst>
          </p:cNvPr>
          <p:cNvSpPr txBox="1"/>
          <p:nvPr/>
        </p:nvSpPr>
        <p:spPr bwMode="auto">
          <a:xfrm>
            <a:off x="1098198" y="5444475"/>
            <a:ext cx="41794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latin typeface="BIZ UDPゴシック" panose="020B0400000000000000" pitchFamily="50" charset="-128"/>
                <a:ea typeface="BIZ UDPゴシック" panose="020B0400000000000000" pitchFamily="50" charset="-128"/>
              </a:rPr>
              <a:t>pptmerge.stylebase</a:t>
            </a:r>
            <a:r>
              <a:rPr kumimoji="1" lang="en-US" altLang="ja-JP" sz="1800" kern="0">
                <a:latin typeface="BIZ UDPゴシック" panose="020B0400000000000000" pitchFamily="50" charset="-128"/>
                <a:ea typeface="BIZ UDPゴシック" panose="020B0400000000000000" pitchFamily="50" charset="-128"/>
              </a:rPr>
              <a:t> </a:t>
            </a:r>
            <a:r>
              <a:rPr kumimoji="1" lang="ja-JP" altLang="en-US" sz="1800" kern="0">
                <a:latin typeface="BIZ UDPゴシック" panose="020B0400000000000000" pitchFamily="50" charset="-128"/>
                <a:ea typeface="BIZ UDPゴシック" panose="020B0400000000000000" pitchFamily="50" charset="-128"/>
              </a:rPr>
              <a:t>で指定する。</a:t>
            </a:r>
          </a:p>
        </p:txBody>
      </p:sp>
      <p:cxnSp>
        <p:nvCxnSpPr>
          <p:cNvPr id="44" name="直線矢印コネクタ 43">
            <a:extLst>
              <a:ext uri="{FF2B5EF4-FFF2-40B4-BE49-F238E27FC236}">
                <a16:creationId xmlns:a16="http://schemas.microsoft.com/office/drawing/2014/main" id="{EE047ECB-06F6-E83C-1ED1-03982DCE4CF7}"/>
              </a:ext>
            </a:extLst>
          </p:cNvPr>
          <p:cNvCxnSpPr>
            <a:cxnSpLocks/>
          </p:cNvCxnSpPr>
          <p:nvPr/>
        </p:nvCxnSpPr>
        <p:spPr bwMode="auto">
          <a:xfrm flipV="1">
            <a:off x="2136100" y="4394237"/>
            <a:ext cx="0" cy="1033274"/>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5" name="テキスト ボックス 44">
            <a:extLst>
              <a:ext uri="{FF2B5EF4-FFF2-40B4-BE49-F238E27FC236}">
                <a16:creationId xmlns:a16="http://schemas.microsoft.com/office/drawing/2014/main" id="{C628EEB8-1D76-8954-E98B-FC3569587DD0}"/>
              </a:ext>
            </a:extLst>
          </p:cNvPr>
          <p:cNvSpPr txBox="1"/>
          <p:nvPr/>
        </p:nvSpPr>
        <p:spPr bwMode="auto">
          <a:xfrm>
            <a:off x="1098198" y="5850876"/>
            <a:ext cx="66467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コンテンツＳは利用されないが、スタイル確認用のコンテンツを数枚含めておくことを推奨（マージ結果には入りません）。</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CBD04916-AA98-C1CB-828D-86203F3B9925}"/>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49297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7" name="exportrange">
            <a:extLst>
              <a:ext uri="{FF2B5EF4-FFF2-40B4-BE49-F238E27FC236}">
                <a16:creationId xmlns:a16="http://schemas.microsoft.com/office/drawing/2014/main" id="{8F3E4AA9-B5E7-3547-CC78-5B60FA457B34}"/>
              </a:ext>
            </a:extLst>
          </p:cNvPr>
          <p:cNvSpPr/>
          <p:nvPr/>
        </p:nvSpPr>
        <p:spPr bwMode="auto">
          <a:xfrm>
            <a:off x="623392" y="1151181"/>
            <a:ext cx="9289032" cy="508613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E7E72456-A560-97A2-35B8-97B38DB20E81}"/>
              </a:ext>
            </a:extLst>
          </p:cNvPr>
          <p:cNvSpPr/>
          <p:nvPr/>
        </p:nvSpPr>
        <p:spPr bwMode="auto">
          <a:xfrm>
            <a:off x="925138" y="1779184"/>
            <a:ext cx="8699254" cy="306230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altLang="ja-JP" sz="1400"/>
              <a:t># </a:t>
            </a:r>
            <a:r>
              <a:rPr lang="ja-JP" altLang="en-US" sz="1400"/>
              <a:t>出力ファイル名</a:t>
            </a:r>
          </a:p>
          <a:p>
            <a:r>
              <a:rPr lang="en-US" altLang="ja-JP" sz="1400"/>
              <a:t>output: </a:t>
            </a:r>
          </a:p>
          <a:p>
            <a:r>
              <a:rPr lang="en-US" altLang="ja-JP" sz="1400"/>
              <a:t>  pptxfilename: stylebase_merged.pptx        # </a:t>
            </a:r>
            <a:r>
              <a:rPr lang="ja-JP" altLang="en-US" sz="1400"/>
              <a:t>マージ後の</a:t>
            </a:r>
            <a:r>
              <a:rPr lang="en-US" altLang="ja-JP" sz="1400"/>
              <a:t>pptx</a:t>
            </a:r>
            <a:r>
              <a:rPr lang="ja-JP" altLang="en-US" sz="1400"/>
              <a:t>ファイルのファイル名</a:t>
            </a:r>
          </a:p>
          <a:p>
            <a:endParaRPr lang="ja-JP" altLang="en-US" sz="1400"/>
          </a:p>
          <a:p>
            <a:r>
              <a:rPr lang="en-US" altLang="ja-JP" sz="1400"/>
              <a:t>pptmerge:</a:t>
            </a:r>
          </a:p>
          <a:p>
            <a:r>
              <a:rPr lang="en-US" altLang="ja-JP" sz="1400"/>
              <a:t>  stylebase: simple_stylebase.pptx           # stylebase </a:t>
            </a:r>
            <a:r>
              <a:rPr lang="ja-JP" altLang="en-US" sz="1400"/>
              <a:t>として使用する </a:t>
            </a:r>
            <a:r>
              <a:rPr lang="en-US" altLang="ja-JP" sz="1400"/>
              <a:t>pptx </a:t>
            </a:r>
            <a:r>
              <a:rPr lang="ja-JP" altLang="en-US" sz="1400"/>
              <a:t>ファイルのパス</a:t>
            </a:r>
          </a:p>
          <a:p>
            <a:endParaRPr lang="ja-JP" altLang="en-US" sz="1400"/>
          </a:p>
          <a:p>
            <a:r>
              <a:rPr lang="en-US" altLang="ja-JP" sz="1400"/>
              <a:t># </a:t>
            </a:r>
            <a:r>
              <a:rPr lang="ja-JP" altLang="en-US" sz="1400"/>
              <a:t>結合手順： </a:t>
            </a:r>
            <a:r>
              <a:rPr lang="en-US" altLang="ja-JP" sz="1400"/>
              <a:t>"operation: insertpptx" </a:t>
            </a:r>
            <a:r>
              <a:rPr lang="ja-JP" altLang="en-US" sz="1400"/>
              <a:t>で、結合したいファイルを結合順に記載する</a:t>
            </a:r>
          </a:p>
          <a:p>
            <a:r>
              <a:rPr lang="en-US" altLang="ja-JP" sz="1400"/>
              <a:t>procedure:</a:t>
            </a:r>
          </a:p>
          <a:p>
            <a:r>
              <a:rPr lang="en-US" altLang="ja-JP" sz="1400"/>
              <a:t>  - operation: insertpptx</a:t>
            </a:r>
          </a:p>
          <a:p>
            <a:r>
              <a:rPr lang="en-US" altLang="ja-JP" sz="1400"/>
              <a:t>    pptxfilename: stylebase_guide.pptx</a:t>
            </a:r>
          </a:p>
          <a:p>
            <a:endParaRPr lang="en-US" altLang="ja-JP" sz="1400"/>
          </a:p>
          <a:p>
            <a:r>
              <a:rPr lang="en-US" altLang="ja-JP" sz="1400"/>
              <a:t>  - operation: insertpptx</a:t>
            </a:r>
          </a:p>
          <a:p>
            <a:r>
              <a:rPr lang="en-US" altLang="ja-JP" sz="1400"/>
              <a:t>    pptxfilename: different_style_sample.pptx</a:t>
            </a: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結合指示書サンプル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cxnSp>
        <p:nvCxnSpPr>
          <p:cNvPr id="8" name="直線矢印コネクタ 7">
            <a:extLst>
              <a:ext uri="{FF2B5EF4-FFF2-40B4-BE49-F238E27FC236}">
                <a16:creationId xmlns:a16="http://schemas.microsoft.com/office/drawing/2014/main" id="{105B7A23-F61B-F203-AE22-573E3D2A2931}"/>
              </a:ext>
            </a:extLst>
          </p:cNvPr>
          <p:cNvCxnSpPr>
            <a:cxnSpLocks/>
          </p:cNvCxnSpPr>
          <p:nvPr/>
        </p:nvCxnSpPr>
        <p:spPr bwMode="auto">
          <a:xfrm flipH="1">
            <a:off x="2535967" y="1644564"/>
            <a:ext cx="823729" cy="120769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F21F8D47-3F8E-C9C5-EAB9-38673A30248E}"/>
              </a:ext>
            </a:extLst>
          </p:cNvPr>
          <p:cNvSpPr txBox="1"/>
          <p:nvPr/>
        </p:nvSpPr>
        <p:spPr bwMode="auto">
          <a:xfrm>
            <a:off x="2891644" y="1215865"/>
            <a:ext cx="64087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kern="0">
                <a:solidFill>
                  <a:srgbClr val="FF0000"/>
                </a:solidFill>
                <a:latin typeface="BIZ UDPゴシック" panose="020B0400000000000000" pitchFamily="50" charset="-128"/>
                <a:ea typeface="BIZ UDPゴシック" panose="020B0400000000000000" pitchFamily="50" charset="-128"/>
              </a:rPr>
              <a:t>stylebase </a:t>
            </a:r>
            <a:r>
              <a:rPr kumimoji="1" lang="ja-JP" altLang="en-US" kern="0">
                <a:solidFill>
                  <a:srgbClr val="FF0000"/>
                </a:solidFill>
                <a:latin typeface="BIZ UDPゴシック" panose="020B0400000000000000" pitchFamily="50" charset="-128"/>
                <a:ea typeface="BIZ UDPゴシック" panose="020B0400000000000000" pitchFamily="50" charset="-128"/>
              </a:rPr>
              <a:t>の指定</a:t>
            </a:r>
          </a:p>
        </p:txBody>
      </p:sp>
      <p:cxnSp>
        <p:nvCxnSpPr>
          <p:cNvPr id="14" name="直線矢印コネクタ 13">
            <a:extLst>
              <a:ext uri="{FF2B5EF4-FFF2-40B4-BE49-F238E27FC236}">
                <a16:creationId xmlns:a16="http://schemas.microsoft.com/office/drawing/2014/main" id="{62EF488E-B825-0DAB-B8A0-2C7799B6EFD8}"/>
              </a:ext>
            </a:extLst>
          </p:cNvPr>
          <p:cNvCxnSpPr>
            <a:cxnSpLocks/>
          </p:cNvCxnSpPr>
          <p:nvPr/>
        </p:nvCxnSpPr>
        <p:spPr bwMode="auto">
          <a:xfrm flipH="1" flipV="1">
            <a:off x="3071664" y="4805562"/>
            <a:ext cx="432048" cy="638884"/>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E41B5F56-B338-8CEB-1969-111608E23C76}"/>
              </a:ext>
            </a:extLst>
          </p:cNvPr>
          <p:cNvSpPr txBox="1"/>
          <p:nvPr/>
        </p:nvSpPr>
        <p:spPr bwMode="auto">
          <a:xfrm>
            <a:off x="2823999" y="5444446"/>
            <a:ext cx="6334393" cy="738664"/>
          </a:xfrm>
          <a:prstGeom prst="rect">
            <a:avLst/>
          </a:prstGeom>
          <a:solidFill>
            <a:schemeClr val="bg1"/>
          </a:solidFill>
          <a:ln>
            <a:noFill/>
          </a:ln>
        </p:spPr>
        <p:txBody>
          <a:bodyPr vert="horz" wrap="square" lIns="91440" tIns="45720" rIns="91440" bIns="45720" numCol="1" rtlCol="0" anchor="t" anchorCtr="0" compatLnSpc="1">
            <a:prstTxWarp prst="textNoShape">
              <a:avLst/>
            </a:prstTxWarp>
            <a:spAutoFit/>
          </a:bodyPr>
          <a:lstStyle/>
          <a:p>
            <a:r>
              <a:rPr lang="ja-JP" altLang="en-US" sz="1400" kern="0">
                <a:solidFill>
                  <a:srgbClr val="FF0000"/>
                </a:solidFill>
                <a:latin typeface="BIZ UDPゴシック" panose="020B0400000000000000" pitchFamily="50" charset="-128"/>
                <a:ea typeface="BIZ UDPゴシック" panose="020B0400000000000000" pitchFamily="50" charset="-128"/>
              </a:rPr>
              <a:t>スタイルの違うファイルをマージ</a:t>
            </a:r>
            <a:r>
              <a:rPr kumimoji="1" lang="ja-JP" altLang="en-US" sz="1400" kern="0">
                <a:solidFill>
                  <a:srgbClr val="FF0000"/>
                </a:solidFill>
                <a:latin typeface="BIZ UDPゴシック" panose="020B0400000000000000" pitchFamily="50" charset="-128"/>
                <a:ea typeface="BIZ UDPゴシック" panose="020B0400000000000000" pitchFamily="50" charset="-128"/>
              </a:rPr>
              <a:t>する例を最後につけてあります。</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a:p>
            <a:pPr algn="l"/>
            <a:r>
              <a:rPr kumimoji="1" lang="ja-JP" altLang="en-US" sz="1400" kern="0">
                <a:solidFill>
                  <a:srgbClr val="FF0000"/>
                </a:solidFill>
                <a:latin typeface="BIZ UDPゴシック" panose="020B0400000000000000" pitchFamily="50" charset="-128"/>
                <a:ea typeface="BIZ UDPゴシック" panose="020B0400000000000000" pitchFamily="50" charset="-128"/>
              </a:rPr>
              <a:t>マージ後は</a:t>
            </a:r>
            <a:r>
              <a:rPr kumimoji="1" lang="en-US" altLang="ja-JP" sz="1400" kern="0">
                <a:solidFill>
                  <a:srgbClr val="FF0000"/>
                </a:solidFill>
                <a:latin typeface="BIZ UDPゴシック" panose="020B0400000000000000" pitchFamily="50" charset="-128"/>
                <a:ea typeface="BIZ UDPゴシック" panose="020B0400000000000000" pitchFamily="50" charset="-128"/>
              </a:rPr>
              <a:t>stylebase</a:t>
            </a:r>
            <a:r>
              <a:rPr kumimoji="1" lang="ja-JP" altLang="en-US" sz="1400" kern="0">
                <a:solidFill>
                  <a:srgbClr val="FF0000"/>
                </a:solidFill>
                <a:latin typeface="BIZ UDPゴシック" panose="020B0400000000000000" pitchFamily="50" charset="-128"/>
                <a:ea typeface="BIZ UDPゴシック" panose="020B0400000000000000" pitchFamily="50" charset="-128"/>
              </a:rPr>
              <a:t>が強制適用されるため、原本ファイルと違う見え方になります。</a:t>
            </a:r>
          </a:p>
        </p:txBody>
      </p:sp>
      <p:sp>
        <p:nvSpPr>
          <p:cNvPr id="4" name="正方形/長方形 3">
            <a:extLst>
              <a:ext uri="{FF2B5EF4-FFF2-40B4-BE49-F238E27FC236}">
                <a16:creationId xmlns:a16="http://schemas.microsoft.com/office/drawing/2014/main" id="{5A09E36D-4A2F-1421-6EEE-1DE7A5ED7622}"/>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93627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29878</TotalTime>
  <Words>1201</Words>
  <Application>Microsoft Office PowerPoint</Application>
  <PresentationFormat>ワイド画面</PresentationFormat>
  <Paragraphs>230</Paragraphs>
  <Slides>4</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vt:i4>
      </vt:variant>
    </vt:vector>
  </HeadingPairs>
  <TitlesOfParts>
    <vt:vector size="10" baseType="lpstr">
      <vt:lpstr>BIZ UDPゴシック</vt:lpstr>
      <vt:lpstr>FOT-UD丸ゴ_ラージ Pr6 M</vt:lpstr>
      <vt:lpstr>Arial</vt:lpstr>
      <vt:lpstr>Garamond</vt:lpstr>
      <vt:lpstr>Wingdings</vt:lpstr>
      <vt:lpstr>Edge</vt:lpstr>
      <vt:lpstr>stylebaseを別に指定する機能</vt:lpstr>
      <vt:lpstr>なぜstylebaseを別途指定すべき？</vt:lpstr>
      <vt:lpstr>stylebaseを別途指定するしくみ</vt:lpstr>
      <vt:lpstr>結合指示書サンプル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4099</cp:revision>
  <dcterms:modified xsi:type="dcterms:W3CDTF">2026-05-24T03:19:27Z</dcterms:modified>
</cp:coreProperties>
</file>