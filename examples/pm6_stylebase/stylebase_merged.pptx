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7"/>
  </p:notesMasterIdLst>
  <p:sldIdLst>
    <p:sldId id="1785" r:id="rId2"/>
    <p:sldId id="1786" r:id="rId3"/>
    <p:sldId id="1783" r:id="rId4"/>
    <p:sldId id="1782" r:id="rId5"/>
    <p:sldId id="1787" r:id="rId6"/>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347"/>
    <a:srgbClr val="FF9933"/>
    <a:srgbClr val="CC66FF"/>
    <a:srgbClr val="E34234"/>
    <a:srgbClr val="292929"/>
    <a:srgbClr val="FF7F50"/>
    <a:srgbClr val="FF3300"/>
    <a:srgbClr val="C8EED0"/>
    <a:srgbClr val="5E5E5E"/>
    <a:srgbClr val="3333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63345" autoAdjust="0"/>
  </p:normalViewPr>
  <p:slideViewPr>
    <p:cSldViewPr>
      <p:cViewPr varScale="1">
        <p:scale>
          <a:sx n="71" d="100"/>
          <a:sy n="71" d="100"/>
        </p:scale>
        <p:origin x="1164" y="54"/>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2026/6/4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extracted/figures/stylebase_guide_slide1_fig.png</a:t>
            </a:r>
          </a:p>
          <a:p/>
          <a:p>
            <a:r>
              <a:t>===BLOCK===</a:t>
            </a:r>
          </a:p>
          <a:p>
            <a:r>
              <a:t>{{BLOCK:IMAGE}}</a:t>
            </a:r>
          </a:p>
          <a:p/>
          <a:p>
            <a:r>
              <a:t>export-image-mode: slide_with_rectpct</a:t>
            </a:r>
          </a:p>
          <a:p>
            <a:r>
              <a:t>export-image-target: keyvisual</a:t>
            </a:r>
          </a:p>
          <a:p>
            <a:r>
              <a:t>export-image: extracted/figures/stylebase_guide_keyvisual.png</a:t>
            </a:r>
          </a:p>
          <a:p/>
          <a:p>
            <a:r>
              <a:t>===BLOCK===</a:t>
            </a:r>
          </a:p>
          <a:p>
            <a:r>
              <a:t>{{BLOCK:MD:LONG}}</a:t>
            </a:r>
          </a:p>
          <a:p/>
          <a:p>
            <a:r>
              <a:t>export-note: extracted/stylebase_guide_slide1_md.md</a:t>
            </a:r>
          </a:p>
          <a:p>
            <a:r>
              <a:t>{{#id:section:stylebase_guide:slide1}}</a:t>
            </a:r>
          </a:p>
          <a:p>
            <a:r>
              <a:t>## stylebaseを別に指定する機能</a:t>
            </a:r>
          </a:p>
          <a:p/>
          <a:p>
            <a:r>
              <a:t>pptxをマージする際、基準とするスタイルをコンテンツとは別に指定することができます。</a:t>
            </a:r>
          </a:p>
          <a:p/>
          <a:p/>
          <a:p>
            <a:r>
              <a:t>```{=latex}</a:t>
            </a:r>
          </a:p>
          <a:p>
            <a:r>
              <a:t>\par\vspace{1\baselineskip}</a:t>
            </a:r>
          </a:p>
          <a:p>
            <a:r>
              <a:t>\begin{center}</a:t>
            </a:r>
          </a:p>
          <a:p>
            <a:r>
              <a:t>```</a:t>
            </a:r>
          </a:p>
          <a:p/>
          <a:p>
            <a:r>
              <a:t>![](figures/stylebase_guide_slide1_fig.png){ width=95% }</a:t>
            </a:r>
          </a:p>
          <a:p/>
          <a:p>
            <a:r>
              <a:t>![](figures/stylebase_guide_keyvisual.png){ width=80% }</a:t>
            </a:r>
          </a:p>
          <a:p/>
          <a:p/>
          <a:p>
            <a:r>
              <a:t>```{=latex}</a:t>
            </a:r>
          </a:p>
          <a:p>
            <a:r>
              <a:t>\end{center}</a:t>
            </a:r>
          </a:p>
          <a:p>
            <a:r>
              <a:t>\par\vspace{1\baselineskip}</a:t>
            </a:r>
          </a:p>
          <a:p>
            <a:r>
              <a:t>```</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32333473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extracted/figures/stylebase_guide_slide2_fig.png</a:t>
            </a:r>
          </a:p>
          <a:p/>
          <a:p>
            <a:r>
              <a:t>===BLOCK===</a:t>
            </a:r>
          </a:p>
          <a:p>
            <a:r>
              <a:t>{{BLOCK:MD:LONG}}</a:t>
            </a:r>
          </a:p>
          <a:p/>
          <a:p>
            <a:r>
              <a:t>export-note: extracted/stylebase_guide_slide2_md.md</a:t>
            </a:r>
          </a:p>
          <a:p>
            <a:r>
              <a:t>{{#id:section:stylebase_guide:slide2}}</a:t>
            </a:r>
          </a:p>
          <a:p>
            <a:r>
              <a:t>## なぜstylebaseを別途指定すべき？</a:t>
            </a:r>
          </a:p>
          <a:p/>
          <a:p>
            <a:r>
              <a:t>一般に、pptxファイルにはスタイル情報とコンテンツが含まれており、複数のファイルの</a:t>
            </a:r>
          </a:p>
          <a:p>
            <a:r>
              <a:t>マージ処理(pptmerge)では　「コンテンツ」 を結合します。</a:t>
            </a:r>
          </a:p>
          <a:p/>
          <a:p>
            <a:r>
              <a:t>スタイル情報は最初のファイルのものだけが使われます。</a:t>
            </a:r>
          </a:p>
          <a:p/>
          <a:p>
            <a:r>
              <a:t>```{=latex}</a:t>
            </a:r>
          </a:p>
          <a:p>
            <a:r>
              <a:t>\par\vspace{1\baselineskip}</a:t>
            </a:r>
          </a:p>
          <a:p>
            <a:r>
              <a:t>\begin{center}</a:t>
            </a:r>
          </a:p>
          <a:p>
            <a:r>
              <a:t>```</a:t>
            </a:r>
          </a:p>
          <a:p/>
          <a:p>
            <a:r>
              <a:t>![](figures/stylebase_guide_slide2_fig.png){ width=95% }</a:t>
            </a:r>
          </a:p>
          <a:p/>
          <a:p>
            <a:r>
              <a:t>```{=latex}</a:t>
            </a:r>
          </a:p>
          <a:p>
            <a:r>
              <a:t>\end{center}</a:t>
            </a:r>
          </a:p>
          <a:p>
            <a:r>
              <a:t>\par\vspace{1\baselineskip}</a:t>
            </a:r>
          </a:p>
          <a:p>
            <a:r>
              <a:t>```</a:t>
            </a:r>
          </a:p>
          <a:p/>
          <a:p>
            <a:r>
              <a:t>しかし、コンテンツファイルは一般に頻繁に更新されるものです。</a:t>
            </a:r>
          </a:p>
          <a:p/>
          <a:p>
            <a:r>
              <a:t>コンテンツとスタイルを混在させていると　 **「うっかり、スタイルまで更新してしまう」** 　事態が起きます。　</a:t>
            </a:r>
          </a:p>
          <a:p/>
          <a:p>
            <a:r>
              <a:t>スタイルが合わないとレイアウト崩れ、配色崩れなどが起きるため、スタイル情報はコンテンツとは別に管理することが望ましいのです。</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13779218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extracted/figures/stylebase_guide_slide3_fig.png</a:t>
            </a:r>
          </a:p>
          <a:p/>
          <a:p>
            <a:r>
              <a:t>===BLOCK===</a:t>
            </a:r>
          </a:p>
          <a:p>
            <a:r>
              <a:t>{{BLOCK:MD:LONG}}</a:t>
            </a:r>
          </a:p>
          <a:p/>
          <a:p>
            <a:r>
              <a:t>export-note: extracted/stylebase_guide_slide3_md.md</a:t>
            </a:r>
          </a:p>
          <a:p>
            <a:r>
              <a:t>{{#id:section:stylebase_guide:slide3}}</a:t>
            </a:r>
          </a:p>
          <a:p>
            <a:r>
              <a:t>## stylebaseを別途指定するしくみ</a:t>
            </a:r>
          </a:p>
          <a:p/>
          <a:p>
            <a:r>
              <a:t>そこで、スタイル情報を別のファイルに分離することを推奨します。　</a:t>
            </a:r>
          </a:p>
          <a:p/>
          <a:p>
            <a:r>
              <a:t>スタイル情報は一般に、複数の文書、複数のプロジェクトで共通に使われるものなので、共通資材フォルダに置くとよいでしょう。</a:t>
            </a:r>
          </a:p>
          <a:p/>
          <a:p>
            <a:r>
              <a:t>```{=latex}</a:t>
            </a:r>
          </a:p>
          <a:p>
            <a:r>
              <a:t>\par\vspace{1\baselineskip}</a:t>
            </a:r>
          </a:p>
          <a:p>
            <a:r>
              <a:t>\begin{center}</a:t>
            </a:r>
          </a:p>
          <a:p>
            <a:r>
              <a:t>```</a:t>
            </a:r>
          </a:p>
          <a:p/>
          <a:p>
            <a:r>
              <a:t>![](figures/stylebase_guide_slide3_fig.png){ width=95% }</a:t>
            </a:r>
          </a:p>
          <a:p/>
          <a:p>
            <a:r>
              <a:t>```{=latex}</a:t>
            </a:r>
          </a:p>
          <a:p>
            <a:r>
              <a:t>\end{center}</a:t>
            </a:r>
          </a:p>
          <a:p>
            <a:r>
              <a:t>\par\vspace{1\baselineskip}</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4142993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extracted/figures/stylebase_guide_slide4_fig.png</a:t>
            </a:r>
          </a:p>
          <a:p/>
          <a:p>
            <a:r>
              <a:t>===BLOCK===</a:t>
            </a:r>
          </a:p>
          <a:p>
            <a:r>
              <a:t>{{BLOCK:MD:LONG}}</a:t>
            </a:r>
          </a:p>
          <a:p/>
          <a:p>
            <a:r>
              <a:t>export-note: extracted/stylebase_guide_slide4_md.md</a:t>
            </a:r>
          </a:p>
          <a:p>
            <a:r>
              <a:t>{{#id:section:stylebase_guide:slide4}}</a:t>
            </a:r>
          </a:p>
          <a:p>
            <a:r>
              <a:t>## 結合指示書サンプル</a:t>
            </a:r>
          </a:p>
          <a:p/>
          <a:p>
            <a:r>
              <a:t>サンプルファイルとして、マージによってスタイルが変わる例を格納してあります。</a:t>
            </a:r>
          </a:p>
          <a:p/>
          <a:p>
            <a:r>
              <a:t>different_style_sample.pptx は simple_stylebase.pptx とは違うスタイルで作られていますが、マージ後の stylebase_merged.pptx を見ると simple_stylebase.pptx のスタイルに変更されています。</a:t>
            </a:r>
          </a:p>
          <a:p/>
          <a:p>
            <a:r>
              <a:t>```{=latex}</a:t>
            </a:r>
          </a:p>
          <a:p>
            <a:r>
              <a:t>\par\vspace{1\baselineskip}</a:t>
            </a:r>
          </a:p>
          <a:p>
            <a:r>
              <a:t>\begin{center}</a:t>
            </a:r>
          </a:p>
          <a:p>
            <a:r>
              <a:t>```</a:t>
            </a:r>
          </a:p>
          <a:p/>
          <a:p>
            <a:r>
              <a:t>![](figures/stylebase_guide_slide4_fig.png){ width=95% }</a:t>
            </a:r>
          </a:p>
          <a:p/>
          <a:p>
            <a:r>
              <a:t>```{=latex}</a:t>
            </a:r>
          </a:p>
          <a:p>
            <a:r>
              <a:t>\end{center}</a:t>
            </a:r>
          </a:p>
          <a:p>
            <a:r>
              <a:t>\par\vspace{1\baselineskip}</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3</a:t>
            </a:fld>
            <a:endParaRPr kumimoji="1" lang="ja-JP" altLang="en-US"/>
          </a:p>
        </p:txBody>
      </p:sp>
    </p:spTree>
    <p:extLst>
      <p:ext uri="{BB962C8B-B14F-4D97-AF65-F5344CB8AC3E}">
        <p14:creationId xmlns:p14="http://schemas.microsoft.com/office/powerpoint/2010/main" val="2517860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extracted/figures/different_style_sample_slide1_fig.png</a:t>
            </a:r>
          </a:p>
          <a:p/>
          <a:p>
            <a:r>
              <a:t>===BLOCK===</a:t>
            </a:r>
          </a:p>
          <a:p>
            <a:r>
              <a:t>{{BLOCK:MD:LONG}}</a:t>
            </a:r>
          </a:p>
          <a:p/>
          <a:p>
            <a:r>
              <a:t>export-note: extracted/different_style_sample_slide1_md.md</a:t>
            </a:r>
          </a:p>
          <a:p>
            <a:r>
              <a:t>{{#id:section:different_style_sample:slide1}}</a:t>
            </a:r>
          </a:p>
          <a:p>
            <a:r>
              <a:t>## styleの違うサンプル</a:t>
            </a:r>
          </a:p>
          <a:p/>
          <a:p>
            <a:r>
              <a:t>左側が different_style_sample.pptx のスタイルです。　それがマージ後の stylebase_merged.pptx 末尾では右側のスタイルに変更されていることを確認してください。</a:t>
            </a:r>
          </a:p>
          <a:p/>
          <a:p>
            <a:r>
              <a:t>```{=latex}</a:t>
            </a:r>
          </a:p>
          <a:p>
            <a:r>
              <a:t>\par\vspace{1\baselineskip}</a:t>
            </a:r>
          </a:p>
          <a:p>
            <a:r>
              <a:t>\begin{center}</a:t>
            </a:r>
          </a:p>
          <a:p>
            <a:r>
              <a:t>```</a:t>
            </a:r>
          </a:p>
          <a:p/>
          <a:p>
            <a:r>
              <a:t>![](figures/different_style_sample_slide1_fig.png){ width=95% }</a:t>
            </a:r>
          </a:p>
          <a:p/>
          <a:p>
            <a:r>
              <a:t>```{=latex}</a:t>
            </a:r>
          </a:p>
          <a:p>
            <a:r>
              <a:t>\end{center}</a:t>
            </a:r>
          </a:p>
          <a:p>
            <a:r>
              <a:t>\par\vspace{1\baselineskip}</a:t>
            </a:r>
          </a:p>
          <a:p>
            <a:r>
              <a:t>```</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4</a:t>
            </a:fld>
            <a:endParaRPr kumimoji="1" lang="ja-JP" altLang="en-US"/>
          </a:p>
        </p:txBody>
      </p:sp>
    </p:spTree>
    <p:extLst>
      <p:ext uri="{BB962C8B-B14F-4D97-AF65-F5344CB8AC3E}">
        <p14:creationId xmlns:p14="http://schemas.microsoft.com/office/powerpoint/2010/main" val="1598138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exportrange">
            <a:extLst>
              <a:ext uri="{FF2B5EF4-FFF2-40B4-BE49-F238E27FC236}">
                <a16:creationId xmlns:a16="http://schemas.microsoft.com/office/drawing/2014/main" id="{FA348A50-F865-3288-50D2-F2BE63C24CC1}"/>
              </a:ext>
            </a:extLst>
          </p:cNvPr>
          <p:cNvSpPr/>
          <p:nvPr/>
        </p:nvSpPr>
        <p:spPr bwMode="auto">
          <a:xfrm>
            <a:off x="623391" y="912997"/>
            <a:ext cx="10162949" cy="1915523"/>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8" name="keyvisual">
            <a:extLst>
              <a:ext uri="{FF2B5EF4-FFF2-40B4-BE49-F238E27FC236}">
                <a16:creationId xmlns:a16="http://schemas.microsoft.com/office/drawing/2014/main" id="{C43663AB-17A8-8115-5D5E-18956950C71A}"/>
              </a:ext>
            </a:extLst>
          </p:cNvPr>
          <p:cNvSpPr/>
          <p:nvPr/>
        </p:nvSpPr>
        <p:spPr bwMode="auto">
          <a:xfrm>
            <a:off x="739027" y="2904486"/>
            <a:ext cx="9883396" cy="354885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stylebase</a:t>
            </a:r>
            <a:r>
              <a:rPr kumimoji="1" lang="ja-JP" altLang="en-US"/>
              <a:t>を別に指定する機能</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stylebase_recipe.yaml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175374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600" kern="0">
                <a:latin typeface="BIZ UDPゴシック" panose="020B0400000000000000" pitchFamily="50" charset="-128"/>
                <a:ea typeface="BIZ UDPゴシック" panose="020B0400000000000000" pitchFamily="50" charset="-128"/>
              </a:rPr>
              <a:t>結合対象のコンテンツとは別にスタイル情報のみ使用するファイルを別途指定する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"stylebase"</a:t>
            </a:r>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F73B6D62-BDC9-6F7C-180D-CB981C27FAC5}"/>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F6602273-ABE3-64F1-05A5-0BAA2D0ED607}"/>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pm6_stylebase</a:t>
            </a:r>
            <a:endParaRPr kumimoji="1" lang="en-US" altLang="ja-JP" sz="1600" kern="0">
              <a:latin typeface="BIZ UDPゴシック" panose="020B0400000000000000" pitchFamily="50" charset="-128"/>
              <a:ea typeface="BIZ UDPゴシック" panose="020B0400000000000000" pitchFamily="50" charset="-128"/>
            </a:endParaRPr>
          </a:p>
        </p:txBody>
      </p:sp>
      <p:grpSp>
        <p:nvGrpSpPr>
          <p:cNvPr id="18" name="グループ化 17">
            <a:extLst>
              <a:ext uri="{FF2B5EF4-FFF2-40B4-BE49-F238E27FC236}">
                <a16:creationId xmlns:a16="http://schemas.microsoft.com/office/drawing/2014/main" id="{8F7862ED-FE61-D539-F806-47AE7FC40402}"/>
              </a:ext>
            </a:extLst>
          </p:cNvPr>
          <p:cNvGrpSpPr/>
          <p:nvPr/>
        </p:nvGrpSpPr>
        <p:grpSpPr>
          <a:xfrm>
            <a:off x="1569577" y="4914935"/>
            <a:ext cx="1996061" cy="683731"/>
            <a:chOff x="2443755" y="3613700"/>
            <a:chExt cx="1996061" cy="683731"/>
          </a:xfrm>
        </p:grpSpPr>
        <p:sp>
          <p:nvSpPr>
            <p:cNvPr id="4" name="正方形/長方形 3">
              <a:extLst>
                <a:ext uri="{FF2B5EF4-FFF2-40B4-BE49-F238E27FC236}">
                  <a16:creationId xmlns:a16="http://schemas.microsoft.com/office/drawing/2014/main" id="{E25E8B59-A9AF-B900-C34B-DAF80BDA8C59}"/>
                </a:ext>
              </a:extLst>
            </p:cNvPr>
            <p:cNvSpPr/>
            <p:nvPr/>
          </p:nvSpPr>
          <p:spPr bwMode="auto">
            <a:xfrm>
              <a:off x="2443755" y="3613700"/>
              <a:ext cx="1996061" cy="68373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r" eaLnBrk="1" hangingPunct="1"/>
              <a:r>
                <a:rPr lang="en-US" altLang="ja-JP" kern="0">
                  <a:latin typeface="BIZ UDPゴシック" panose="020B0400000000000000" pitchFamily="50" charset="-128"/>
                  <a:ea typeface="BIZ UDPゴシック" panose="020B0400000000000000" pitchFamily="50" charset="-128"/>
                </a:rPr>
                <a:t>A.pptx</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6" name="図 15">
              <a:extLst>
                <a:ext uri="{FF2B5EF4-FFF2-40B4-BE49-F238E27FC236}">
                  <a16:creationId xmlns:a16="http://schemas.microsoft.com/office/drawing/2014/main" id="{CF94B3E5-5ED0-EE6C-3641-1BD8352881D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78462" y="3704786"/>
              <a:ext cx="523272" cy="501559"/>
            </a:xfrm>
            <a:prstGeom prst="rect">
              <a:avLst/>
            </a:prstGeom>
          </p:spPr>
        </p:pic>
      </p:grpSp>
      <p:grpSp>
        <p:nvGrpSpPr>
          <p:cNvPr id="19" name="グループ化 18">
            <a:extLst>
              <a:ext uri="{FF2B5EF4-FFF2-40B4-BE49-F238E27FC236}">
                <a16:creationId xmlns:a16="http://schemas.microsoft.com/office/drawing/2014/main" id="{F87B9839-0FE9-E5E1-AB5C-C93D1A641868}"/>
              </a:ext>
            </a:extLst>
          </p:cNvPr>
          <p:cNvGrpSpPr/>
          <p:nvPr/>
        </p:nvGrpSpPr>
        <p:grpSpPr>
          <a:xfrm>
            <a:off x="1569576" y="5719392"/>
            <a:ext cx="1996062" cy="653492"/>
            <a:chOff x="2443754" y="5463298"/>
            <a:chExt cx="1996062" cy="653492"/>
          </a:xfrm>
        </p:grpSpPr>
        <p:sp>
          <p:nvSpPr>
            <p:cNvPr id="7" name="正方形/長方形 6">
              <a:extLst>
                <a:ext uri="{FF2B5EF4-FFF2-40B4-BE49-F238E27FC236}">
                  <a16:creationId xmlns:a16="http://schemas.microsoft.com/office/drawing/2014/main" id="{40B30D01-EC9D-0B99-494F-13BAF499FBF3}"/>
                </a:ext>
              </a:extLst>
            </p:cNvPr>
            <p:cNvSpPr/>
            <p:nvPr/>
          </p:nvSpPr>
          <p:spPr bwMode="auto">
            <a:xfrm>
              <a:off x="2443754" y="5463298"/>
              <a:ext cx="1996062" cy="65349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r" eaLnBrk="1" hangingPunct="1"/>
              <a:r>
                <a:rPr lang="en-US" altLang="ja-JP" kern="0">
                  <a:latin typeface="BIZ UDPゴシック" panose="020B0400000000000000" pitchFamily="50" charset="-128"/>
                  <a:ea typeface="BIZ UDPゴシック" panose="020B0400000000000000" pitchFamily="50" charset="-128"/>
                </a:rPr>
                <a:t>B.pptx</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7" name="図 16">
              <a:extLst>
                <a:ext uri="{FF2B5EF4-FFF2-40B4-BE49-F238E27FC236}">
                  <a16:creationId xmlns:a16="http://schemas.microsoft.com/office/drawing/2014/main" id="{D512E56F-7D4D-5658-A552-D65E87101D0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78462" y="5539265"/>
              <a:ext cx="523272" cy="501559"/>
            </a:xfrm>
            <a:prstGeom prst="rect">
              <a:avLst/>
            </a:prstGeom>
          </p:spPr>
        </p:pic>
      </p:grpSp>
      <p:grpSp>
        <p:nvGrpSpPr>
          <p:cNvPr id="20" name="グループ化 19">
            <a:extLst>
              <a:ext uri="{FF2B5EF4-FFF2-40B4-BE49-F238E27FC236}">
                <a16:creationId xmlns:a16="http://schemas.microsoft.com/office/drawing/2014/main" id="{F22B069D-942D-9A46-46B5-210532C86AB4}"/>
              </a:ext>
            </a:extLst>
          </p:cNvPr>
          <p:cNvGrpSpPr/>
          <p:nvPr/>
        </p:nvGrpSpPr>
        <p:grpSpPr>
          <a:xfrm>
            <a:off x="1189375" y="3881768"/>
            <a:ext cx="2376264" cy="683731"/>
            <a:chOff x="2063553" y="3613700"/>
            <a:chExt cx="2376264" cy="683731"/>
          </a:xfrm>
        </p:grpSpPr>
        <p:sp>
          <p:nvSpPr>
            <p:cNvPr id="21" name="正方形/長方形 20">
              <a:extLst>
                <a:ext uri="{FF2B5EF4-FFF2-40B4-BE49-F238E27FC236}">
                  <a16:creationId xmlns:a16="http://schemas.microsoft.com/office/drawing/2014/main" id="{C2A2A3DF-1C3A-54BB-97A5-99212BB7B49E}"/>
                </a:ext>
              </a:extLst>
            </p:cNvPr>
            <p:cNvSpPr/>
            <p:nvPr/>
          </p:nvSpPr>
          <p:spPr bwMode="auto">
            <a:xfrm>
              <a:off x="2063553" y="3613700"/>
              <a:ext cx="2376264" cy="68373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r" eaLnBrk="1" hangingPunct="1"/>
              <a:r>
                <a:rPr lang="en-US" altLang="ja-JP" kern="0">
                  <a:latin typeface="BIZ UDPゴシック" panose="020B0400000000000000" pitchFamily="50" charset="-128"/>
                  <a:ea typeface="BIZ UDPゴシック" panose="020B0400000000000000" pitchFamily="50" charset="-128"/>
                </a:rPr>
                <a:t>stylebase</a:t>
              </a:r>
            </a:p>
            <a:p>
              <a:pPr algn="r" eaLnBrk="1" hangingPunct="1"/>
              <a:r>
                <a:rPr lang="en-US" altLang="ja-JP" kern="0">
                  <a:latin typeface="BIZ UDPゴシック" panose="020B0400000000000000" pitchFamily="50" charset="-128"/>
                  <a:ea typeface="BIZ UDPゴシック" panose="020B0400000000000000" pitchFamily="50" charset="-128"/>
                </a:rPr>
                <a:t>.pptx</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25" name="図 24">
              <a:extLst>
                <a:ext uri="{FF2B5EF4-FFF2-40B4-BE49-F238E27FC236}">
                  <a16:creationId xmlns:a16="http://schemas.microsoft.com/office/drawing/2014/main" id="{EB98A991-4CFA-08FB-349D-B5F85E58A13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79837" y="3704786"/>
              <a:ext cx="523272" cy="501559"/>
            </a:xfrm>
            <a:prstGeom prst="rect">
              <a:avLst/>
            </a:prstGeom>
          </p:spPr>
        </p:pic>
      </p:grpSp>
      <p:sp>
        <p:nvSpPr>
          <p:cNvPr id="30" name="右中かっこ 29">
            <a:extLst>
              <a:ext uri="{FF2B5EF4-FFF2-40B4-BE49-F238E27FC236}">
                <a16:creationId xmlns:a16="http://schemas.microsoft.com/office/drawing/2014/main" id="{F13C6333-FD68-C629-DAEA-23CFF4AC1A99}"/>
              </a:ext>
            </a:extLst>
          </p:cNvPr>
          <p:cNvSpPr/>
          <p:nvPr/>
        </p:nvSpPr>
        <p:spPr bwMode="auto">
          <a:xfrm>
            <a:off x="3853670" y="4842916"/>
            <a:ext cx="337751" cy="1631765"/>
          </a:xfrm>
          <a:prstGeom prst="rightBrace">
            <a:avLst>
              <a:gd name="adj1" fmla="val 40821"/>
              <a:gd name="adj2" fmla="val 50000"/>
            </a:avLst>
          </a:prstGeom>
          <a:noFill/>
          <a:ln w="28575"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EA1D9512-F11F-D14A-4817-88A09550D87F}"/>
              </a:ext>
            </a:extLst>
          </p:cNvPr>
          <p:cNvSpPr txBox="1"/>
          <p:nvPr/>
        </p:nvSpPr>
        <p:spPr bwMode="auto">
          <a:xfrm>
            <a:off x="4351622" y="5466789"/>
            <a:ext cx="348875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コンテンツを含むファイル</a:t>
            </a:r>
          </a:p>
        </p:txBody>
      </p:sp>
      <p:sp>
        <p:nvSpPr>
          <p:cNvPr id="42" name="テキスト ボックス 41">
            <a:extLst>
              <a:ext uri="{FF2B5EF4-FFF2-40B4-BE49-F238E27FC236}">
                <a16:creationId xmlns:a16="http://schemas.microsoft.com/office/drawing/2014/main" id="{2E691D5E-CC6C-BB5C-92C9-D2C1F9E0A13B}"/>
              </a:ext>
            </a:extLst>
          </p:cNvPr>
          <p:cNvSpPr txBox="1"/>
          <p:nvPr/>
        </p:nvSpPr>
        <p:spPr bwMode="auto">
          <a:xfrm>
            <a:off x="3998624" y="3889586"/>
            <a:ext cx="6928954"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テーマ（配色、フォント、効果）、スライドマスター、レイアウト</a:t>
            </a:r>
            <a:endParaRPr kumimoji="1" lang="en-US" altLang="ja-JP" kern="0">
              <a:latin typeface="BIZ UDPゴシック" panose="020B0400000000000000" pitchFamily="50" charset="-128"/>
              <a:ea typeface="BIZ UDPゴシック" panose="020B0400000000000000" pitchFamily="50" charset="-128"/>
            </a:endParaRPr>
          </a:p>
          <a:p>
            <a:pPr algn="l"/>
            <a:r>
              <a:rPr kumimoji="1" lang="ja-JP" altLang="en-US" kern="0">
                <a:latin typeface="BIZ UDPゴシック" panose="020B0400000000000000" pitchFamily="50" charset="-128"/>
                <a:ea typeface="BIZ UDPゴシック" panose="020B0400000000000000" pitchFamily="50" charset="-128"/>
              </a:rPr>
              <a:t>などのスタイル情報を持つファイル</a:t>
            </a:r>
          </a:p>
        </p:txBody>
      </p:sp>
      <p:sp>
        <p:nvSpPr>
          <p:cNvPr id="43" name="テキスト ボックス 42">
            <a:extLst>
              <a:ext uri="{FF2B5EF4-FFF2-40B4-BE49-F238E27FC236}">
                <a16:creationId xmlns:a16="http://schemas.microsoft.com/office/drawing/2014/main" id="{23FBF853-E58D-E677-7F52-D9A7C096ED00}"/>
              </a:ext>
            </a:extLst>
          </p:cNvPr>
          <p:cNvSpPr txBox="1"/>
          <p:nvPr/>
        </p:nvSpPr>
        <p:spPr bwMode="auto">
          <a:xfrm>
            <a:off x="739026" y="2942798"/>
            <a:ext cx="10541550"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kern="0">
                <a:latin typeface="BIZ UDPゴシック" panose="020B0400000000000000" pitchFamily="50" charset="-128"/>
                <a:ea typeface="BIZ UDPゴシック" panose="020B0400000000000000" pitchFamily="50" charset="-128"/>
              </a:rPr>
              <a:t>pptx</a:t>
            </a:r>
            <a:r>
              <a:rPr kumimoji="1" lang="ja-JP" altLang="en-US" kern="0">
                <a:latin typeface="BIZ UDPゴシック" panose="020B0400000000000000" pitchFamily="50" charset="-128"/>
                <a:ea typeface="BIZ UDPゴシック" panose="020B0400000000000000" pitchFamily="50" charset="-128"/>
              </a:rPr>
              <a:t>ファイルを結合する際、コンテンツとは別にスタイル情報のみ使用するファイルを</a:t>
            </a:r>
            <a:endParaRPr kumimoji="1" lang="en-US" altLang="ja-JP" kern="0">
              <a:latin typeface="BIZ UDPゴシック" panose="020B0400000000000000" pitchFamily="50" charset="-128"/>
              <a:ea typeface="BIZ UDPゴシック" panose="020B0400000000000000" pitchFamily="50" charset="-128"/>
            </a:endParaRPr>
          </a:p>
          <a:p>
            <a:pPr algn="l"/>
            <a:r>
              <a:rPr kumimoji="1" lang="ja-JP" altLang="en-US" kern="0">
                <a:latin typeface="BIZ UDPゴシック" panose="020B0400000000000000" pitchFamily="50" charset="-128"/>
                <a:ea typeface="BIZ UDPゴシック" panose="020B0400000000000000" pitchFamily="50" charset="-128"/>
              </a:rPr>
              <a:t>別途指定することができます</a:t>
            </a:r>
          </a:p>
        </p:txBody>
      </p:sp>
      <p:sp>
        <p:nvSpPr>
          <p:cNvPr id="5" name="正方形/長方形 4">
            <a:extLst>
              <a:ext uri="{FF2B5EF4-FFF2-40B4-BE49-F238E27FC236}">
                <a16:creationId xmlns:a16="http://schemas.microsoft.com/office/drawing/2014/main" id="{83C0C3C4-C6BC-3D04-C753-83A60A0E80D1}"/>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stylebase_guide.pptx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6132271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7" name="exportrange">
            <a:extLst>
              <a:ext uri="{FF2B5EF4-FFF2-40B4-BE49-F238E27FC236}">
                <a16:creationId xmlns:a16="http://schemas.microsoft.com/office/drawing/2014/main" id="{2864F0C8-37E0-5875-75FA-A7CE7C3AE15E}"/>
              </a:ext>
            </a:extLst>
          </p:cNvPr>
          <p:cNvSpPr/>
          <p:nvPr/>
        </p:nvSpPr>
        <p:spPr bwMode="auto">
          <a:xfrm>
            <a:off x="623392" y="2559388"/>
            <a:ext cx="10957984" cy="2444339"/>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なぜ</a:t>
            </a:r>
            <a:r>
              <a:rPr lang="en-US" altLang="ja-JP"/>
              <a:t>stylebase</a:t>
            </a:r>
            <a:r>
              <a:rPr lang="ja-JP" altLang="en-US"/>
              <a:t>を別途指定すべき？</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正方形/長方形 3">
            <a:extLst>
              <a:ext uri="{FF2B5EF4-FFF2-40B4-BE49-F238E27FC236}">
                <a16:creationId xmlns:a16="http://schemas.microsoft.com/office/drawing/2014/main" id="{8B4D3DC3-523E-645B-19BF-DB9E898E8038}"/>
              </a:ext>
            </a:extLst>
          </p:cNvPr>
          <p:cNvSpPr/>
          <p:nvPr/>
        </p:nvSpPr>
        <p:spPr bwMode="auto">
          <a:xfrm>
            <a:off x="1127448" y="3260423"/>
            <a:ext cx="1844833" cy="126014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CA0CF410-0C49-01AD-ADAA-344E723EF0A1}"/>
              </a:ext>
            </a:extLst>
          </p:cNvPr>
          <p:cNvSpPr txBox="1"/>
          <p:nvPr/>
        </p:nvSpPr>
        <p:spPr bwMode="auto">
          <a:xfrm>
            <a:off x="1859811" y="2718657"/>
            <a:ext cx="121185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12" name="図 11">
            <a:extLst>
              <a:ext uri="{FF2B5EF4-FFF2-40B4-BE49-F238E27FC236}">
                <a16:creationId xmlns:a16="http://schemas.microsoft.com/office/drawing/2014/main" id="{784A8307-1ADD-52FA-7E15-F3A1640C7C0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14387" y="2650232"/>
            <a:ext cx="523272" cy="501559"/>
          </a:xfrm>
          <a:prstGeom prst="rect">
            <a:avLst/>
          </a:prstGeom>
        </p:spPr>
      </p:pic>
      <p:sp>
        <p:nvSpPr>
          <p:cNvPr id="13" name="正方形/長方形 12">
            <a:extLst>
              <a:ext uri="{FF2B5EF4-FFF2-40B4-BE49-F238E27FC236}">
                <a16:creationId xmlns:a16="http://schemas.microsoft.com/office/drawing/2014/main" id="{077CC570-68C8-5BC2-235B-EC202CCC14E3}"/>
              </a:ext>
            </a:extLst>
          </p:cNvPr>
          <p:cNvSpPr/>
          <p:nvPr/>
        </p:nvSpPr>
        <p:spPr bwMode="auto">
          <a:xfrm>
            <a:off x="1321215" y="3964690"/>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コンテンツＡ</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4" name="正方形/長方形 13">
            <a:extLst>
              <a:ext uri="{FF2B5EF4-FFF2-40B4-BE49-F238E27FC236}">
                <a16:creationId xmlns:a16="http://schemas.microsoft.com/office/drawing/2014/main" id="{B9A68271-9F2C-9F12-A23D-CCBCACFBD8C3}"/>
              </a:ext>
            </a:extLst>
          </p:cNvPr>
          <p:cNvSpPr/>
          <p:nvPr/>
        </p:nvSpPr>
        <p:spPr bwMode="auto">
          <a:xfrm>
            <a:off x="1321215" y="3440443"/>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スタイルＡ</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A6A80364-612F-7B18-0A38-37CB2AF9E7A8}"/>
              </a:ext>
            </a:extLst>
          </p:cNvPr>
          <p:cNvSpPr/>
          <p:nvPr/>
        </p:nvSpPr>
        <p:spPr bwMode="auto">
          <a:xfrm>
            <a:off x="3359696" y="3260423"/>
            <a:ext cx="1844833" cy="126014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C2867C7E-5734-EE1F-3912-8D4CCB2F29B1}"/>
              </a:ext>
            </a:extLst>
          </p:cNvPr>
          <p:cNvSpPr txBox="1"/>
          <p:nvPr/>
        </p:nvSpPr>
        <p:spPr bwMode="auto">
          <a:xfrm>
            <a:off x="4092059" y="2718657"/>
            <a:ext cx="121185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17" name="図 16">
            <a:extLst>
              <a:ext uri="{FF2B5EF4-FFF2-40B4-BE49-F238E27FC236}">
                <a16:creationId xmlns:a16="http://schemas.microsoft.com/office/drawing/2014/main" id="{C7D2A03D-7A7E-9B4A-6D0C-DF07623E683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46635" y="2650232"/>
            <a:ext cx="523272" cy="501559"/>
          </a:xfrm>
          <a:prstGeom prst="rect">
            <a:avLst/>
          </a:prstGeom>
        </p:spPr>
      </p:pic>
      <p:sp>
        <p:nvSpPr>
          <p:cNvPr id="18" name="正方形/長方形 17">
            <a:extLst>
              <a:ext uri="{FF2B5EF4-FFF2-40B4-BE49-F238E27FC236}">
                <a16:creationId xmlns:a16="http://schemas.microsoft.com/office/drawing/2014/main" id="{CF14F2C7-EFB7-EE76-A4EE-5AF8F0FDBB7E}"/>
              </a:ext>
            </a:extLst>
          </p:cNvPr>
          <p:cNvSpPr/>
          <p:nvPr/>
        </p:nvSpPr>
        <p:spPr bwMode="auto">
          <a:xfrm>
            <a:off x="3553463" y="3964690"/>
            <a:ext cx="1475474" cy="386143"/>
          </a:xfrm>
          <a:prstGeom prst="rect">
            <a:avLst/>
          </a:prstGeom>
          <a:solidFill>
            <a:srgbClr val="66FF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B</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BADBB6E5-A53C-39BF-EDBD-B19580FB0552}"/>
              </a:ext>
            </a:extLst>
          </p:cNvPr>
          <p:cNvSpPr/>
          <p:nvPr/>
        </p:nvSpPr>
        <p:spPr bwMode="auto">
          <a:xfrm>
            <a:off x="3553463" y="3440443"/>
            <a:ext cx="1475474" cy="386143"/>
          </a:xfrm>
          <a:prstGeom prst="rect">
            <a:avLst/>
          </a:prstGeom>
          <a:solidFill>
            <a:srgbClr val="66FF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B</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21" name="直線矢印コネクタ 20">
            <a:extLst>
              <a:ext uri="{FF2B5EF4-FFF2-40B4-BE49-F238E27FC236}">
                <a16:creationId xmlns:a16="http://schemas.microsoft.com/office/drawing/2014/main" id="{91C44322-EE98-41CA-63E9-B18F17C16F42}"/>
              </a:ext>
            </a:extLst>
          </p:cNvPr>
          <p:cNvCxnSpPr/>
          <p:nvPr/>
        </p:nvCxnSpPr>
        <p:spPr bwMode="auto">
          <a:xfrm>
            <a:off x="5736233" y="3963456"/>
            <a:ext cx="1656184"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2" name="正方形/長方形 21">
            <a:extLst>
              <a:ext uri="{FF2B5EF4-FFF2-40B4-BE49-F238E27FC236}">
                <a16:creationId xmlns:a16="http://schemas.microsoft.com/office/drawing/2014/main" id="{B293ADC9-89FB-72F5-64BD-977ECD0FFD51}"/>
              </a:ext>
            </a:extLst>
          </p:cNvPr>
          <p:cNvSpPr/>
          <p:nvPr/>
        </p:nvSpPr>
        <p:spPr bwMode="auto">
          <a:xfrm>
            <a:off x="7824192" y="3260422"/>
            <a:ext cx="1844833" cy="156712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テキスト ボックス 22">
            <a:extLst>
              <a:ext uri="{FF2B5EF4-FFF2-40B4-BE49-F238E27FC236}">
                <a16:creationId xmlns:a16="http://schemas.microsoft.com/office/drawing/2014/main" id="{F8F002AA-25C1-1EB2-DF7A-449A9589DB4B}"/>
              </a:ext>
            </a:extLst>
          </p:cNvPr>
          <p:cNvSpPr txBox="1"/>
          <p:nvPr/>
        </p:nvSpPr>
        <p:spPr bwMode="auto">
          <a:xfrm>
            <a:off x="8073224" y="2718657"/>
            <a:ext cx="200394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24" name="図 23">
            <a:extLst>
              <a:ext uri="{FF2B5EF4-FFF2-40B4-BE49-F238E27FC236}">
                <a16:creationId xmlns:a16="http://schemas.microsoft.com/office/drawing/2014/main" id="{2A3E70DC-1194-F4C8-B452-C996622ABB4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27800" y="2650232"/>
            <a:ext cx="523272" cy="501559"/>
          </a:xfrm>
          <a:prstGeom prst="rect">
            <a:avLst/>
          </a:prstGeom>
        </p:spPr>
      </p:pic>
      <p:sp>
        <p:nvSpPr>
          <p:cNvPr id="25" name="正方形/長方形 24">
            <a:extLst>
              <a:ext uri="{FF2B5EF4-FFF2-40B4-BE49-F238E27FC236}">
                <a16:creationId xmlns:a16="http://schemas.microsoft.com/office/drawing/2014/main" id="{6A54C80E-EE3F-71F5-6B4B-D8C53137B289}"/>
              </a:ext>
            </a:extLst>
          </p:cNvPr>
          <p:cNvSpPr/>
          <p:nvPr/>
        </p:nvSpPr>
        <p:spPr bwMode="auto">
          <a:xfrm>
            <a:off x="8017959" y="3964690"/>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A</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6" name="正方形/長方形 25">
            <a:extLst>
              <a:ext uri="{FF2B5EF4-FFF2-40B4-BE49-F238E27FC236}">
                <a16:creationId xmlns:a16="http://schemas.microsoft.com/office/drawing/2014/main" id="{8F63A0AE-CC92-9792-EA10-21011A83B477}"/>
              </a:ext>
            </a:extLst>
          </p:cNvPr>
          <p:cNvSpPr/>
          <p:nvPr/>
        </p:nvSpPr>
        <p:spPr bwMode="auto">
          <a:xfrm>
            <a:off x="8017959" y="3440443"/>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A</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7" name="正方形/長方形 26">
            <a:extLst>
              <a:ext uri="{FF2B5EF4-FFF2-40B4-BE49-F238E27FC236}">
                <a16:creationId xmlns:a16="http://schemas.microsoft.com/office/drawing/2014/main" id="{AED29F5B-948D-D497-C7D9-61B610BA07D7}"/>
              </a:ext>
            </a:extLst>
          </p:cNvPr>
          <p:cNvSpPr/>
          <p:nvPr/>
        </p:nvSpPr>
        <p:spPr bwMode="auto">
          <a:xfrm>
            <a:off x="8017959" y="4360072"/>
            <a:ext cx="1475474" cy="386143"/>
          </a:xfrm>
          <a:prstGeom prst="rect">
            <a:avLst/>
          </a:prstGeom>
          <a:solidFill>
            <a:srgbClr val="66FF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B</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73689CAB-4087-9F99-7B18-3F97EDB1A2AC}"/>
              </a:ext>
            </a:extLst>
          </p:cNvPr>
          <p:cNvSpPr txBox="1"/>
          <p:nvPr/>
        </p:nvSpPr>
        <p:spPr bwMode="auto">
          <a:xfrm>
            <a:off x="739026" y="1007124"/>
            <a:ext cx="10541550"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一般に、</a:t>
            </a:r>
            <a:r>
              <a:rPr kumimoji="1" lang="en-US" altLang="ja-JP" kern="0">
                <a:latin typeface="BIZ UDPゴシック" panose="020B0400000000000000" pitchFamily="50" charset="-128"/>
                <a:ea typeface="BIZ UDPゴシック" panose="020B0400000000000000" pitchFamily="50" charset="-128"/>
              </a:rPr>
              <a:t>pptx</a:t>
            </a:r>
            <a:r>
              <a:rPr kumimoji="1" lang="ja-JP" altLang="en-US" kern="0">
                <a:latin typeface="BIZ UDPゴシック" panose="020B0400000000000000" pitchFamily="50" charset="-128"/>
                <a:ea typeface="BIZ UDPゴシック" panose="020B0400000000000000" pitchFamily="50" charset="-128"/>
              </a:rPr>
              <a:t>ファイルにはスタイル情報とコンテンツが含まれており、複数のファイルの</a:t>
            </a:r>
            <a:endParaRPr kumimoji="1" lang="en-US" altLang="ja-JP" kern="0">
              <a:latin typeface="BIZ UDPゴシック" panose="020B0400000000000000" pitchFamily="50" charset="-128"/>
              <a:ea typeface="BIZ UDPゴシック" panose="020B0400000000000000" pitchFamily="50" charset="-128"/>
            </a:endParaRPr>
          </a:p>
          <a:p>
            <a:r>
              <a:rPr kumimoji="1" lang="ja-JP" altLang="en-US" kern="0">
                <a:latin typeface="BIZ UDPゴシック" panose="020B0400000000000000" pitchFamily="50" charset="-128"/>
                <a:ea typeface="BIZ UDPゴシック" panose="020B0400000000000000" pitchFamily="50" charset="-128"/>
              </a:rPr>
              <a:t>マージ処理</a:t>
            </a:r>
            <a:r>
              <a:rPr kumimoji="1" lang="en-US" altLang="ja-JP" kern="0">
                <a:latin typeface="BIZ UDPゴシック" panose="020B0400000000000000" pitchFamily="50" charset="-128"/>
                <a:ea typeface="BIZ UDPゴシック" panose="020B0400000000000000" pitchFamily="50" charset="-128"/>
              </a:rPr>
              <a:t>(pptmerge)</a:t>
            </a:r>
            <a:r>
              <a:rPr kumimoji="1" lang="ja-JP" altLang="en-US" kern="0">
                <a:latin typeface="BIZ UDPゴシック" panose="020B0400000000000000" pitchFamily="50" charset="-128"/>
                <a:ea typeface="BIZ UDPゴシック" panose="020B0400000000000000" pitchFamily="50" charset="-128"/>
              </a:rPr>
              <a:t>では　「</a:t>
            </a:r>
            <a:r>
              <a:rPr lang="ja-JP" altLang="en-US" kern="0">
                <a:latin typeface="BIZ UDPゴシック" panose="020B0400000000000000" pitchFamily="50" charset="-128"/>
                <a:ea typeface="BIZ UDPゴシック" panose="020B0400000000000000" pitchFamily="50" charset="-128"/>
              </a:rPr>
              <a:t>コンテンツ」 を結合します。</a:t>
            </a:r>
            <a:endParaRPr lang="en-US" altLang="ja-JP" kern="0">
              <a:latin typeface="BIZ UDPゴシック" panose="020B0400000000000000" pitchFamily="50" charset="-128"/>
              <a:ea typeface="BIZ UDPゴシック" panose="020B0400000000000000" pitchFamily="50" charset="-128"/>
            </a:endParaRPr>
          </a:p>
          <a:p>
            <a:endParaRPr kumimoji="1" lang="en-US" altLang="ja-JP" kern="0">
              <a:latin typeface="BIZ UDPゴシック" panose="020B0400000000000000" pitchFamily="50" charset="-128"/>
              <a:ea typeface="BIZ UDPゴシック" panose="020B0400000000000000" pitchFamily="50" charset="-128"/>
            </a:endParaRPr>
          </a:p>
          <a:p>
            <a:r>
              <a:rPr kumimoji="1" lang="ja-JP" altLang="en-US" kern="0">
                <a:solidFill>
                  <a:srgbClr val="FF0000"/>
                </a:solidFill>
                <a:latin typeface="BIZ UDPゴシック" panose="020B0400000000000000" pitchFamily="50" charset="-128"/>
                <a:ea typeface="BIZ UDPゴシック" panose="020B0400000000000000" pitchFamily="50" charset="-128"/>
              </a:rPr>
              <a:t>スタイル情報は最初のファイルのものだけ</a:t>
            </a:r>
            <a:r>
              <a:rPr lang="ja-JP" altLang="en-US" kern="0">
                <a:latin typeface="BIZ UDPゴシック" panose="020B0400000000000000" pitchFamily="50" charset="-128"/>
                <a:ea typeface="BIZ UDPゴシック" panose="020B0400000000000000" pitchFamily="50" charset="-128"/>
              </a:rPr>
              <a:t>が使われます。</a:t>
            </a:r>
            <a:endParaRPr kumimoji="1" lang="ja-JP" altLang="en-US" kern="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152A511B-6B57-04D5-E490-047B462942C3}"/>
              </a:ext>
            </a:extLst>
          </p:cNvPr>
          <p:cNvSpPr txBox="1"/>
          <p:nvPr/>
        </p:nvSpPr>
        <p:spPr bwMode="auto">
          <a:xfrm>
            <a:off x="5851176" y="3476746"/>
            <a:ext cx="16129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pptmerge</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30" name="テキスト ボックス 29">
            <a:extLst>
              <a:ext uri="{FF2B5EF4-FFF2-40B4-BE49-F238E27FC236}">
                <a16:creationId xmlns:a16="http://schemas.microsoft.com/office/drawing/2014/main" id="{A0192C7A-4D11-9A6E-34A5-BAAF507D18AC}"/>
              </a:ext>
            </a:extLst>
          </p:cNvPr>
          <p:cNvSpPr txBox="1"/>
          <p:nvPr/>
        </p:nvSpPr>
        <p:spPr bwMode="auto">
          <a:xfrm>
            <a:off x="9980225" y="3284984"/>
            <a:ext cx="1612976"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スタイル</a:t>
            </a:r>
            <a:r>
              <a:rPr kumimoji="1" lang="en-US" altLang="ja-JP" sz="1800" kern="0">
                <a:latin typeface="BIZ UDPゴシック" panose="020B0400000000000000" pitchFamily="50" charset="-128"/>
                <a:ea typeface="BIZ UDPゴシック" panose="020B0400000000000000" pitchFamily="50" charset="-128"/>
              </a:rPr>
              <a:t>B</a:t>
            </a:r>
            <a:r>
              <a:rPr kumimoji="1" lang="ja-JP" altLang="en-US" sz="1800" kern="0">
                <a:latin typeface="BIZ UDPゴシック" panose="020B0400000000000000" pitchFamily="50" charset="-128"/>
                <a:ea typeface="BIZ UDPゴシック" panose="020B0400000000000000" pitchFamily="50" charset="-128"/>
              </a:rPr>
              <a:t>は</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残らない</a:t>
            </a:r>
          </a:p>
        </p:txBody>
      </p:sp>
      <p:cxnSp>
        <p:nvCxnSpPr>
          <p:cNvPr id="31" name="直線矢印コネクタ 30">
            <a:extLst>
              <a:ext uri="{FF2B5EF4-FFF2-40B4-BE49-F238E27FC236}">
                <a16:creationId xmlns:a16="http://schemas.microsoft.com/office/drawing/2014/main" id="{D3933333-F79D-BD7F-9DB3-7894542AE5C6}"/>
              </a:ext>
            </a:extLst>
          </p:cNvPr>
          <p:cNvCxnSpPr>
            <a:cxnSpLocks/>
            <a:stCxn id="30" idx="1"/>
            <a:endCxn id="26" idx="3"/>
          </p:cNvCxnSpPr>
          <p:nvPr/>
        </p:nvCxnSpPr>
        <p:spPr bwMode="auto">
          <a:xfrm flipH="1">
            <a:off x="9493433" y="3608150"/>
            <a:ext cx="486792" cy="2536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34" name="テキスト ボックス 33">
            <a:extLst>
              <a:ext uri="{FF2B5EF4-FFF2-40B4-BE49-F238E27FC236}">
                <a16:creationId xmlns:a16="http://schemas.microsoft.com/office/drawing/2014/main" id="{0F7FFB5B-A715-B6C1-EACE-D55A67B61655}"/>
              </a:ext>
            </a:extLst>
          </p:cNvPr>
          <p:cNvSpPr txBox="1"/>
          <p:nvPr/>
        </p:nvSpPr>
        <p:spPr bwMode="auto">
          <a:xfrm>
            <a:off x="739026" y="5056376"/>
            <a:ext cx="10541550"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しかし、コンテンツファイルは一般に頻繁に更新されるものです。</a:t>
            </a:r>
            <a:endParaRPr kumimoji="1" lang="en-US" altLang="ja-JP" kern="0">
              <a:latin typeface="BIZ UDPゴシック" panose="020B0400000000000000" pitchFamily="50" charset="-128"/>
              <a:ea typeface="BIZ UDPゴシック" panose="020B0400000000000000" pitchFamily="50" charset="-128"/>
            </a:endParaRPr>
          </a:p>
          <a:p>
            <a:r>
              <a:rPr kumimoji="1" lang="ja-JP" altLang="en-US" kern="0">
                <a:latin typeface="BIZ UDPゴシック" panose="020B0400000000000000" pitchFamily="50" charset="-128"/>
                <a:ea typeface="BIZ UDPゴシック" panose="020B0400000000000000" pitchFamily="50" charset="-128"/>
              </a:rPr>
              <a:t>コンテンツとスタイルを混在させていると　「うっかり、スタイルまで更新してしまう」　事態が起きます。　スタイルが合わないとレイアウト崩れ、配色崩れなどが起きるため、スタイル情報はコンテンツとは別に管理することが望ましいのです。</a:t>
            </a:r>
          </a:p>
        </p:txBody>
      </p:sp>
      <p:sp>
        <p:nvSpPr>
          <p:cNvPr id="5" name="正方形/長方形 4">
            <a:extLst>
              <a:ext uri="{FF2B5EF4-FFF2-40B4-BE49-F238E27FC236}">
                <a16:creationId xmlns:a16="http://schemas.microsoft.com/office/drawing/2014/main" id="{C68DE26D-7789-1C09-816F-86B70806C6F3}"/>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stylebase_guide.pptx</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13746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0639CB12-C7B6-E971-D87F-7A778DB65745}"/>
              </a:ext>
            </a:extLst>
          </p:cNvPr>
          <p:cNvSpPr/>
          <p:nvPr/>
        </p:nvSpPr>
        <p:spPr bwMode="auto">
          <a:xfrm>
            <a:off x="623392" y="2292803"/>
            <a:ext cx="11089232" cy="427948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stylebase</a:t>
            </a:r>
            <a:r>
              <a:rPr lang="ja-JP" altLang="en-US"/>
              <a:t>を別途指定するしくみ</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正方形/長方形 3">
            <a:extLst>
              <a:ext uri="{FF2B5EF4-FFF2-40B4-BE49-F238E27FC236}">
                <a16:creationId xmlns:a16="http://schemas.microsoft.com/office/drawing/2014/main" id="{8B4D3DC3-523E-645B-19BF-DB9E898E8038}"/>
              </a:ext>
            </a:extLst>
          </p:cNvPr>
          <p:cNvSpPr/>
          <p:nvPr/>
        </p:nvSpPr>
        <p:spPr bwMode="auto">
          <a:xfrm>
            <a:off x="3406198" y="2988322"/>
            <a:ext cx="1844833" cy="126014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CA0CF410-0C49-01AD-ADAA-344E723EF0A1}"/>
              </a:ext>
            </a:extLst>
          </p:cNvPr>
          <p:cNvSpPr txBox="1"/>
          <p:nvPr/>
        </p:nvSpPr>
        <p:spPr bwMode="auto">
          <a:xfrm>
            <a:off x="4138561" y="2446556"/>
            <a:ext cx="121185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12" name="図 11">
            <a:extLst>
              <a:ext uri="{FF2B5EF4-FFF2-40B4-BE49-F238E27FC236}">
                <a16:creationId xmlns:a16="http://schemas.microsoft.com/office/drawing/2014/main" id="{784A8307-1ADD-52FA-7E15-F3A1640C7C0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93137" y="2378131"/>
            <a:ext cx="523272" cy="501559"/>
          </a:xfrm>
          <a:prstGeom prst="rect">
            <a:avLst/>
          </a:prstGeom>
        </p:spPr>
      </p:pic>
      <p:sp>
        <p:nvSpPr>
          <p:cNvPr id="13" name="正方形/長方形 12">
            <a:extLst>
              <a:ext uri="{FF2B5EF4-FFF2-40B4-BE49-F238E27FC236}">
                <a16:creationId xmlns:a16="http://schemas.microsoft.com/office/drawing/2014/main" id="{077CC570-68C8-5BC2-235B-EC202CCC14E3}"/>
              </a:ext>
            </a:extLst>
          </p:cNvPr>
          <p:cNvSpPr/>
          <p:nvPr/>
        </p:nvSpPr>
        <p:spPr bwMode="auto">
          <a:xfrm>
            <a:off x="3599965" y="3692589"/>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コンテンツＡ</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4" name="正方形/長方形 13">
            <a:extLst>
              <a:ext uri="{FF2B5EF4-FFF2-40B4-BE49-F238E27FC236}">
                <a16:creationId xmlns:a16="http://schemas.microsoft.com/office/drawing/2014/main" id="{B9A68271-9F2C-9F12-A23D-CCBCACFBD8C3}"/>
              </a:ext>
            </a:extLst>
          </p:cNvPr>
          <p:cNvSpPr/>
          <p:nvPr/>
        </p:nvSpPr>
        <p:spPr bwMode="auto">
          <a:xfrm>
            <a:off x="3599965" y="3168342"/>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スタイルＡ</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A6A80364-612F-7B18-0A38-37CB2AF9E7A8}"/>
              </a:ext>
            </a:extLst>
          </p:cNvPr>
          <p:cNvSpPr/>
          <p:nvPr/>
        </p:nvSpPr>
        <p:spPr bwMode="auto">
          <a:xfrm>
            <a:off x="5638446" y="2988322"/>
            <a:ext cx="1844833" cy="126014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C2867C7E-5734-EE1F-3912-8D4CCB2F29B1}"/>
              </a:ext>
            </a:extLst>
          </p:cNvPr>
          <p:cNvSpPr txBox="1"/>
          <p:nvPr/>
        </p:nvSpPr>
        <p:spPr bwMode="auto">
          <a:xfrm>
            <a:off x="6370809" y="2446556"/>
            <a:ext cx="121185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17" name="図 16">
            <a:extLst>
              <a:ext uri="{FF2B5EF4-FFF2-40B4-BE49-F238E27FC236}">
                <a16:creationId xmlns:a16="http://schemas.microsoft.com/office/drawing/2014/main" id="{C7D2A03D-7A7E-9B4A-6D0C-DF07623E683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825385" y="2378131"/>
            <a:ext cx="523272" cy="501559"/>
          </a:xfrm>
          <a:prstGeom prst="rect">
            <a:avLst/>
          </a:prstGeom>
        </p:spPr>
      </p:pic>
      <p:sp>
        <p:nvSpPr>
          <p:cNvPr id="18" name="正方形/長方形 17">
            <a:extLst>
              <a:ext uri="{FF2B5EF4-FFF2-40B4-BE49-F238E27FC236}">
                <a16:creationId xmlns:a16="http://schemas.microsoft.com/office/drawing/2014/main" id="{CF14F2C7-EFB7-EE76-A4EE-5AF8F0FDBB7E}"/>
              </a:ext>
            </a:extLst>
          </p:cNvPr>
          <p:cNvSpPr/>
          <p:nvPr/>
        </p:nvSpPr>
        <p:spPr bwMode="auto">
          <a:xfrm>
            <a:off x="5832213" y="3692589"/>
            <a:ext cx="1475474" cy="386143"/>
          </a:xfrm>
          <a:prstGeom prst="rect">
            <a:avLst/>
          </a:prstGeom>
          <a:solidFill>
            <a:srgbClr val="66FF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B</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BADBB6E5-A53C-39BF-EDBD-B19580FB0552}"/>
              </a:ext>
            </a:extLst>
          </p:cNvPr>
          <p:cNvSpPr/>
          <p:nvPr/>
        </p:nvSpPr>
        <p:spPr bwMode="auto">
          <a:xfrm>
            <a:off x="5832213" y="3168342"/>
            <a:ext cx="1475474" cy="386143"/>
          </a:xfrm>
          <a:prstGeom prst="rect">
            <a:avLst/>
          </a:prstGeom>
          <a:solidFill>
            <a:srgbClr val="66FF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B</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21" name="直線矢印コネクタ 20">
            <a:extLst>
              <a:ext uri="{FF2B5EF4-FFF2-40B4-BE49-F238E27FC236}">
                <a16:creationId xmlns:a16="http://schemas.microsoft.com/office/drawing/2014/main" id="{91C44322-EE98-41CA-63E9-B18F17C16F42}"/>
              </a:ext>
            </a:extLst>
          </p:cNvPr>
          <p:cNvCxnSpPr/>
          <p:nvPr/>
        </p:nvCxnSpPr>
        <p:spPr bwMode="auto">
          <a:xfrm>
            <a:off x="7630011" y="3691355"/>
            <a:ext cx="1656184"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2" name="正方形/長方形 21">
            <a:extLst>
              <a:ext uri="{FF2B5EF4-FFF2-40B4-BE49-F238E27FC236}">
                <a16:creationId xmlns:a16="http://schemas.microsoft.com/office/drawing/2014/main" id="{B293ADC9-89FB-72F5-64BD-977ECD0FFD51}"/>
              </a:ext>
            </a:extLst>
          </p:cNvPr>
          <p:cNvSpPr/>
          <p:nvPr/>
        </p:nvSpPr>
        <p:spPr bwMode="auto">
          <a:xfrm>
            <a:off x="9582587" y="2988321"/>
            <a:ext cx="1844833" cy="156712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テキスト ボックス 22">
            <a:extLst>
              <a:ext uri="{FF2B5EF4-FFF2-40B4-BE49-F238E27FC236}">
                <a16:creationId xmlns:a16="http://schemas.microsoft.com/office/drawing/2014/main" id="{F8F002AA-25C1-1EB2-DF7A-449A9589DB4B}"/>
              </a:ext>
            </a:extLst>
          </p:cNvPr>
          <p:cNvSpPr txBox="1"/>
          <p:nvPr/>
        </p:nvSpPr>
        <p:spPr bwMode="auto">
          <a:xfrm>
            <a:off x="9831619" y="2446556"/>
            <a:ext cx="200394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24" name="図 23">
            <a:extLst>
              <a:ext uri="{FF2B5EF4-FFF2-40B4-BE49-F238E27FC236}">
                <a16:creationId xmlns:a16="http://schemas.microsoft.com/office/drawing/2014/main" id="{2A3E70DC-1194-F4C8-B452-C996622ABB4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286195" y="2378131"/>
            <a:ext cx="523272" cy="501559"/>
          </a:xfrm>
          <a:prstGeom prst="rect">
            <a:avLst/>
          </a:prstGeom>
        </p:spPr>
      </p:pic>
      <p:sp>
        <p:nvSpPr>
          <p:cNvPr id="25" name="正方形/長方形 24">
            <a:extLst>
              <a:ext uri="{FF2B5EF4-FFF2-40B4-BE49-F238E27FC236}">
                <a16:creationId xmlns:a16="http://schemas.microsoft.com/office/drawing/2014/main" id="{6A54C80E-EE3F-71F5-6B4B-D8C53137B289}"/>
              </a:ext>
            </a:extLst>
          </p:cNvPr>
          <p:cNvSpPr/>
          <p:nvPr/>
        </p:nvSpPr>
        <p:spPr bwMode="auto">
          <a:xfrm>
            <a:off x="9776354" y="3692589"/>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A</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6" name="正方形/長方形 25">
            <a:extLst>
              <a:ext uri="{FF2B5EF4-FFF2-40B4-BE49-F238E27FC236}">
                <a16:creationId xmlns:a16="http://schemas.microsoft.com/office/drawing/2014/main" id="{8F63A0AE-CC92-9792-EA10-21011A83B477}"/>
              </a:ext>
            </a:extLst>
          </p:cNvPr>
          <p:cNvSpPr/>
          <p:nvPr/>
        </p:nvSpPr>
        <p:spPr bwMode="auto">
          <a:xfrm>
            <a:off x="9776354" y="3168342"/>
            <a:ext cx="1475474" cy="386143"/>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S</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7" name="正方形/長方形 26">
            <a:extLst>
              <a:ext uri="{FF2B5EF4-FFF2-40B4-BE49-F238E27FC236}">
                <a16:creationId xmlns:a16="http://schemas.microsoft.com/office/drawing/2014/main" id="{AED29F5B-948D-D497-C7D9-61B610BA07D7}"/>
              </a:ext>
            </a:extLst>
          </p:cNvPr>
          <p:cNvSpPr/>
          <p:nvPr/>
        </p:nvSpPr>
        <p:spPr bwMode="auto">
          <a:xfrm>
            <a:off x="9776354" y="4087971"/>
            <a:ext cx="1475474" cy="386143"/>
          </a:xfrm>
          <a:prstGeom prst="rect">
            <a:avLst/>
          </a:prstGeom>
          <a:solidFill>
            <a:srgbClr val="66FF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B</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73689CAB-4087-9F99-7B18-3F97EDB1A2AC}"/>
              </a:ext>
            </a:extLst>
          </p:cNvPr>
          <p:cNvSpPr txBox="1"/>
          <p:nvPr/>
        </p:nvSpPr>
        <p:spPr bwMode="auto">
          <a:xfrm>
            <a:off x="739026" y="1007124"/>
            <a:ext cx="10541550"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kern="0">
                <a:latin typeface="BIZ UDPゴシック" panose="020B0400000000000000" pitchFamily="50" charset="-128"/>
                <a:ea typeface="BIZ UDPゴシック" panose="020B0400000000000000" pitchFamily="50" charset="-128"/>
              </a:rPr>
              <a:t>そこで、スタイル情報を別のファイルに分離することを推奨します。　</a:t>
            </a:r>
            <a:endParaRPr lang="en-US" altLang="ja-JP" kern="0">
              <a:latin typeface="BIZ UDPゴシック" panose="020B0400000000000000" pitchFamily="50" charset="-128"/>
              <a:ea typeface="BIZ UDPゴシック" panose="020B0400000000000000" pitchFamily="50" charset="-128"/>
            </a:endParaRPr>
          </a:p>
          <a:p>
            <a:r>
              <a:rPr lang="ja-JP" altLang="en-US" kern="0">
                <a:latin typeface="BIZ UDPゴシック" panose="020B0400000000000000" pitchFamily="50" charset="-128"/>
                <a:ea typeface="BIZ UDPゴシック" panose="020B0400000000000000" pitchFamily="50" charset="-128"/>
              </a:rPr>
              <a:t>スタイル情報は一般に、複数の文書、複数のプロジェクトで共通に使われるものなので、共通資材フォルダに置くとよいでしょう。</a:t>
            </a:r>
            <a:endParaRPr lang="en-US" altLang="ja-JP" kern="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152A511B-6B57-04D5-E490-047B462942C3}"/>
              </a:ext>
            </a:extLst>
          </p:cNvPr>
          <p:cNvSpPr txBox="1"/>
          <p:nvPr/>
        </p:nvSpPr>
        <p:spPr bwMode="auto">
          <a:xfrm>
            <a:off x="7744954" y="3204645"/>
            <a:ext cx="16129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pptmerge</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35" name="正方形/長方形 34">
            <a:extLst>
              <a:ext uri="{FF2B5EF4-FFF2-40B4-BE49-F238E27FC236}">
                <a16:creationId xmlns:a16="http://schemas.microsoft.com/office/drawing/2014/main" id="{4B0AAFFC-8FCA-85AE-0B53-3CB204F7372E}"/>
              </a:ext>
            </a:extLst>
          </p:cNvPr>
          <p:cNvSpPr/>
          <p:nvPr/>
        </p:nvSpPr>
        <p:spPr bwMode="auto">
          <a:xfrm>
            <a:off x="1216676" y="2988322"/>
            <a:ext cx="1844833" cy="126014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36" name="テキスト ボックス 35">
            <a:extLst>
              <a:ext uri="{FF2B5EF4-FFF2-40B4-BE49-F238E27FC236}">
                <a16:creationId xmlns:a16="http://schemas.microsoft.com/office/drawing/2014/main" id="{02753175-99CE-0127-AE64-E6590AB5AD4F}"/>
              </a:ext>
            </a:extLst>
          </p:cNvPr>
          <p:cNvSpPr txBox="1"/>
          <p:nvPr/>
        </p:nvSpPr>
        <p:spPr bwMode="auto">
          <a:xfrm>
            <a:off x="1694231" y="2292803"/>
            <a:ext cx="146666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stylebase.pptx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37" name="図 36">
            <a:extLst>
              <a:ext uri="{FF2B5EF4-FFF2-40B4-BE49-F238E27FC236}">
                <a16:creationId xmlns:a16="http://schemas.microsoft.com/office/drawing/2014/main" id="{37A6AF87-321E-4109-3184-443E659EE70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28939" y="2378131"/>
            <a:ext cx="523272" cy="501559"/>
          </a:xfrm>
          <a:prstGeom prst="rect">
            <a:avLst/>
          </a:prstGeom>
        </p:spPr>
      </p:pic>
      <p:sp>
        <p:nvSpPr>
          <p:cNvPr id="38" name="正方形/長方形 37">
            <a:extLst>
              <a:ext uri="{FF2B5EF4-FFF2-40B4-BE49-F238E27FC236}">
                <a16:creationId xmlns:a16="http://schemas.microsoft.com/office/drawing/2014/main" id="{33C6119A-942B-D935-2A08-1C7062C57FD2}"/>
              </a:ext>
            </a:extLst>
          </p:cNvPr>
          <p:cNvSpPr/>
          <p:nvPr/>
        </p:nvSpPr>
        <p:spPr bwMode="auto">
          <a:xfrm>
            <a:off x="1410443" y="3692589"/>
            <a:ext cx="1475474" cy="386143"/>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S</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F9A40447-E015-2FDA-0CE5-8CBADD0F0E95}"/>
              </a:ext>
            </a:extLst>
          </p:cNvPr>
          <p:cNvSpPr/>
          <p:nvPr/>
        </p:nvSpPr>
        <p:spPr bwMode="auto">
          <a:xfrm>
            <a:off x="1410443" y="3168342"/>
            <a:ext cx="1475474" cy="386143"/>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S</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0" name="右中かっこ 39">
            <a:extLst>
              <a:ext uri="{FF2B5EF4-FFF2-40B4-BE49-F238E27FC236}">
                <a16:creationId xmlns:a16="http://schemas.microsoft.com/office/drawing/2014/main" id="{1C4259E1-A979-A575-10B4-ADCB288CF1A9}"/>
              </a:ext>
            </a:extLst>
          </p:cNvPr>
          <p:cNvSpPr/>
          <p:nvPr/>
        </p:nvSpPr>
        <p:spPr bwMode="auto">
          <a:xfrm rot="5400000">
            <a:off x="5324041" y="2386453"/>
            <a:ext cx="337751" cy="4179488"/>
          </a:xfrm>
          <a:prstGeom prst="rightBrace">
            <a:avLst>
              <a:gd name="adj1" fmla="val 40821"/>
              <a:gd name="adj2" fmla="val 50000"/>
            </a:avLst>
          </a:prstGeom>
          <a:noFill/>
          <a:ln w="28575"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AEAD641E-91AE-3026-8614-C02EF42CFA77}"/>
              </a:ext>
            </a:extLst>
          </p:cNvPr>
          <p:cNvSpPr txBox="1"/>
          <p:nvPr/>
        </p:nvSpPr>
        <p:spPr bwMode="auto">
          <a:xfrm>
            <a:off x="3403172" y="4595328"/>
            <a:ext cx="4179489"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operation: insertpptx </a:t>
            </a:r>
            <a:r>
              <a:rPr kumimoji="1" lang="ja-JP" altLang="en-US" sz="1800" kern="0">
                <a:latin typeface="BIZ UDPゴシック" panose="020B0400000000000000" pitchFamily="50" charset="-128"/>
                <a:ea typeface="BIZ UDPゴシック" panose="020B0400000000000000" pitchFamily="50" charset="-128"/>
              </a:rPr>
              <a:t>の </a:t>
            </a:r>
            <a:r>
              <a:rPr kumimoji="1" lang="en-US" altLang="ja-JP" sz="1800" kern="0">
                <a:latin typeface="BIZ UDPゴシック" panose="020B0400000000000000" pitchFamily="50" charset="-128"/>
                <a:ea typeface="BIZ UDPゴシック" panose="020B0400000000000000" pitchFamily="50" charset="-128"/>
              </a:rPr>
              <a:t>pptxfilename </a:t>
            </a:r>
            <a:r>
              <a:rPr kumimoji="1" lang="ja-JP" altLang="en-US" sz="1800" kern="0">
                <a:latin typeface="BIZ UDPゴシック" panose="020B0400000000000000" pitchFamily="50" charset="-128"/>
                <a:ea typeface="BIZ UDPゴシック" panose="020B0400000000000000" pitchFamily="50" charset="-128"/>
              </a:rPr>
              <a:t>で指定する。</a:t>
            </a:r>
          </a:p>
        </p:txBody>
      </p:sp>
      <p:sp>
        <p:nvSpPr>
          <p:cNvPr id="42" name="テキスト ボックス 41">
            <a:extLst>
              <a:ext uri="{FF2B5EF4-FFF2-40B4-BE49-F238E27FC236}">
                <a16:creationId xmlns:a16="http://schemas.microsoft.com/office/drawing/2014/main" id="{19A68A0D-DFB0-1988-545C-5B093924F9BD}"/>
              </a:ext>
            </a:extLst>
          </p:cNvPr>
          <p:cNvSpPr txBox="1"/>
          <p:nvPr/>
        </p:nvSpPr>
        <p:spPr bwMode="auto">
          <a:xfrm>
            <a:off x="1098198" y="5444475"/>
            <a:ext cx="417948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latin typeface="BIZ UDPゴシック" panose="020B0400000000000000" pitchFamily="50" charset="-128"/>
                <a:ea typeface="BIZ UDPゴシック" panose="020B0400000000000000" pitchFamily="50" charset="-128"/>
              </a:rPr>
              <a:t>pptmerge.stylebase</a:t>
            </a:r>
            <a:r>
              <a:rPr kumimoji="1" lang="en-US" altLang="ja-JP" sz="1800" kern="0">
                <a:latin typeface="BIZ UDPゴシック" panose="020B0400000000000000" pitchFamily="50" charset="-128"/>
                <a:ea typeface="BIZ UDPゴシック" panose="020B0400000000000000" pitchFamily="50" charset="-128"/>
              </a:rPr>
              <a:t> </a:t>
            </a:r>
            <a:r>
              <a:rPr kumimoji="1" lang="ja-JP" altLang="en-US" sz="1800" kern="0">
                <a:latin typeface="BIZ UDPゴシック" panose="020B0400000000000000" pitchFamily="50" charset="-128"/>
                <a:ea typeface="BIZ UDPゴシック" panose="020B0400000000000000" pitchFamily="50" charset="-128"/>
              </a:rPr>
              <a:t>で指定する。</a:t>
            </a:r>
          </a:p>
        </p:txBody>
      </p:sp>
      <p:cxnSp>
        <p:nvCxnSpPr>
          <p:cNvPr id="44" name="直線矢印コネクタ 43">
            <a:extLst>
              <a:ext uri="{FF2B5EF4-FFF2-40B4-BE49-F238E27FC236}">
                <a16:creationId xmlns:a16="http://schemas.microsoft.com/office/drawing/2014/main" id="{EE047ECB-06F6-E83C-1ED1-03982DCE4CF7}"/>
              </a:ext>
            </a:extLst>
          </p:cNvPr>
          <p:cNvCxnSpPr>
            <a:cxnSpLocks/>
          </p:cNvCxnSpPr>
          <p:nvPr/>
        </p:nvCxnSpPr>
        <p:spPr bwMode="auto">
          <a:xfrm flipV="1">
            <a:off x="2136100" y="4394237"/>
            <a:ext cx="0" cy="1033274"/>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45" name="テキスト ボックス 44">
            <a:extLst>
              <a:ext uri="{FF2B5EF4-FFF2-40B4-BE49-F238E27FC236}">
                <a16:creationId xmlns:a16="http://schemas.microsoft.com/office/drawing/2014/main" id="{C628EEB8-1D76-8954-E98B-FC3569587DD0}"/>
              </a:ext>
            </a:extLst>
          </p:cNvPr>
          <p:cNvSpPr txBox="1"/>
          <p:nvPr/>
        </p:nvSpPr>
        <p:spPr bwMode="auto">
          <a:xfrm>
            <a:off x="1098198" y="5850876"/>
            <a:ext cx="6646756"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コンテンツＳは利用されないが、スタイル確認用のコンテンツを数枚含めておくことを推奨（マージ結果には入りません）。</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CBD04916-AA98-C1CB-828D-86203F3B9925}"/>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stylebase_guide.pptx</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31573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7" name="exportrange">
            <a:extLst>
              <a:ext uri="{FF2B5EF4-FFF2-40B4-BE49-F238E27FC236}">
                <a16:creationId xmlns:a16="http://schemas.microsoft.com/office/drawing/2014/main" id="{8F3E4AA9-B5E7-3547-CC78-5B60FA457B34}"/>
              </a:ext>
            </a:extLst>
          </p:cNvPr>
          <p:cNvSpPr/>
          <p:nvPr/>
        </p:nvSpPr>
        <p:spPr bwMode="auto">
          <a:xfrm>
            <a:off x="623392" y="1151181"/>
            <a:ext cx="9289032" cy="508613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E7E72456-A560-97A2-35B8-97B38DB20E81}"/>
              </a:ext>
            </a:extLst>
          </p:cNvPr>
          <p:cNvSpPr/>
          <p:nvPr/>
        </p:nvSpPr>
        <p:spPr bwMode="auto">
          <a:xfrm>
            <a:off x="925138" y="1779184"/>
            <a:ext cx="8699254" cy="306230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en-US" altLang="ja-JP" sz="1400"/>
              <a:t># </a:t>
            </a:r>
            <a:r>
              <a:rPr lang="ja-JP" altLang="en-US" sz="1400"/>
              <a:t>出力ファイル名</a:t>
            </a:r>
          </a:p>
          <a:p>
            <a:r>
              <a:rPr lang="en-US" altLang="ja-JP" sz="1400"/>
              <a:t>output: </a:t>
            </a:r>
          </a:p>
          <a:p>
            <a:r>
              <a:rPr lang="en-US" altLang="ja-JP" sz="1400"/>
              <a:t>  pptxfilename: stylebase_merged.pptx        # </a:t>
            </a:r>
            <a:r>
              <a:rPr lang="ja-JP" altLang="en-US" sz="1400"/>
              <a:t>マージ後の</a:t>
            </a:r>
            <a:r>
              <a:rPr lang="en-US" altLang="ja-JP" sz="1400"/>
              <a:t>pptx</a:t>
            </a:r>
            <a:r>
              <a:rPr lang="ja-JP" altLang="en-US" sz="1400"/>
              <a:t>ファイルのファイル名</a:t>
            </a:r>
          </a:p>
          <a:p>
            <a:endParaRPr lang="ja-JP" altLang="en-US" sz="1400"/>
          </a:p>
          <a:p>
            <a:r>
              <a:rPr lang="en-US" altLang="ja-JP" sz="1400"/>
              <a:t>pptmerge:</a:t>
            </a:r>
          </a:p>
          <a:p>
            <a:r>
              <a:rPr lang="en-US" altLang="ja-JP" sz="1400"/>
              <a:t>  stylebase: simple_stylebase.pptx           # stylebase </a:t>
            </a:r>
            <a:r>
              <a:rPr lang="ja-JP" altLang="en-US" sz="1400"/>
              <a:t>として使用する </a:t>
            </a:r>
            <a:r>
              <a:rPr lang="en-US" altLang="ja-JP" sz="1400"/>
              <a:t>pptx </a:t>
            </a:r>
            <a:r>
              <a:rPr lang="ja-JP" altLang="en-US" sz="1400"/>
              <a:t>ファイルのパス</a:t>
            </a:r>
          </a:p>
          <a:p>
            <a:endParaRPr lang="ja-JP" altLang="en-US" sz="1400"/>
          </a:p>
          <a:p>
            <a:r>
              <a:rPr lang="en-US" altLang="ja-JP" sz="1400"/>
              <a:t># </a:t>
            </a:r>
            <a:r>
              <a:rPr lang="ja-JP" altLang="en-US" sz="1400"/>
              <a:t>結合手順： </a:t>
            </a:r>
            <a:r>
              <a:rPr lang="en-US" altLang="ja-JP" sz="1400"/>
              <a:t>"operation: insertpptx" </a:t>
            </a:r>
            <a:r>
              <a:rPr lang="ja-JP" altLang="en-US" sz="1400"/>
              <a:t>で、結合したいファイルを結合順に記載する</a:t>
            </a:r>
          </a:p>
          <a:p>
            <a:r>
              <a:rPr lang="en-US" altLang="ja-JP" sz="1400"/>
              <a:t>procedure:</a:t>
            </a:r>
          </a:p>
          <a:p>
            <a:r>
              <a:rPr lang="en-US" altLang="ja-JP" sz="1400"/>
              <a:t>  - operation: insertpptx</a:t>
            </a:r>
          </a:p>
          <a:p>
            <a:r>
              <a:rPr lang="en-US" altLang="ja-JP" sz="1400"/>
              <a:t>    pptxfilename: stylebase_guide.pptx</a:t>
            </a:r>
          </a:p>
          <a:p>
            <a:endParaRPr lang="en-US" altLang="ja-JP" sz="1400"/>
          </a:p>
          <a:p>
            <a:r>
              <a:rPr lang="en-US" altLang="ja-JP" sz="1400"/>
              <a:t>  - operation: insertpptx</a:t>
            </a:r>
          </a:p>
          <a:p>
            <a:r>
              <a:rPr lang="en-US" altLang="ja-JP" sz="1400"/>
              <a:t>    pptxfilename: different_style_sample.pptx</a:t>
            </a: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結合指示書サンプル</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cxnSp>
        <p:nvCxnSpPr>
          <p:cNvPr id="8" name="直線矢印コネクタ 7">
            <a:extLst>
              <a:ext uri="{FF2B5EF4-FFF2-40B4-BE49-F238E27FC236}">
                <a16:creationId xmlns:a16="http://schemas.microsoft.com/office/drawing/2014/main" id="{105B7A23-F61B-F203-AE22-573E3D2A2931}"/>
              </a:ext>
            </a:extLst>
          </p:cNvPr>
          <p:cNvCxnSpPr>
            <a:cxnSpLocks/>
          </p:cNvCxnSpPr>
          <p:nvPr/>
        </p:nvCxnSpPr>
        <p:spPr bwMode="auto">
          <a:xfrm flipH="1">
            <a:off x="2535967" y="1644564"/>
            <a:ext cx="823729" cy="120769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3" name="テキスト ボックス 12">
            <a:extLst>
              <a:ext uri="{FF2B5EF4-FFF2-40B4-BE49-F238E27FC236}">
                <a16:creationId xmlns:a16="http://schemas.microsoft.com/office/drawing/2014/main" id="{F21F8D47-3F8E-C9C5-EAB9-38673A30248E}"/>
              </a:ext>
            </a:extLst>
          </p:cNvPr>
          <p:cNvSpPr txBox="1"/>
          <p:nvPr/>
        </p:nvSpPr>
        <p:spPr bwMode="auto">
          <a:xfrm>
            <a:off x="2891644" y="1215865"/>
            <a:ext cx="640871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kern="0">
                <a:solidFill>
                  <a:srgbClr val="FF0000"/>
                </a:solidFill>
                <a:latin typeface="BIZ UDPゴシック" panose="020B0400000000000000" pitchFamily="50" charset="-128"/>
                <a:ea typeface="BIZ UDPゴシック" panose="020B0400000000000000" pitchFamily="50" charset="-128"/>
              </a:rPr>
              <a:t>stylebase </a:t>
            </a:r>
            <a:r>
              <a:rPr kumimoji="1" lang="ja-JP" altLang="en-US" kern="0">
                <a:solidFill>
                  <a:srgbClr val="FF0000"/>
                </a:solidFill>
                <a:latin typeface="BIZ UDPゴシック" panose="020B0400000000000000" pitchFamily="50" charset="-128"/>
                <a:ea typeface="BIZ UDPゴシック" panose="020B0400000000000000" pitchFamily="50" charset="-128"/>
              </a:rPr>
              <a:t>の指定</a:t>
            </a:r>
          </a:p>
        </p:txBody>
      </p:sp>
      <p:cxnSp>
        <p:nvCxnSpPr>
          <p:cNvPr id="14" name="直線矢印コネクタ 13">
            <a:extLst>
              <a:ext uri="{FF2B5EF4-FFF2-40B4-BE49-F238E27FC236}">
                <a16:creationId xmlns:a16="http://schemas.microsoft.com/office/drawing/2014/main" id="{62EF488E-B825-0DAB-B8A0-2C7799B6EFD8}"/>
              </a:ext>
            </a:extLst>
          </p:cNvPr>
          <p:cNvCxnSpPr>
            <a:cxnSpLocks/>
          </p:cNvCxnSpPr>
          <p:nvPr/>
        </p:nvCxnSpPr>
        <p:spPr bwMode="auto">
          <a:xfrm flipH="1" flipV="1">
            <a:off x="3071664" y="4805562"/>
            <a:ext cx="432048" cy="638884"/>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6" name="テキスト ボックス 15">
            <a:extLst>
              <a:ext uri="{FF2B5EF4-FFF2-40B4-BE49-F238E27FC236}">
                <a16:creationId xmlns:a16="http://schemas.microsoft.com/office/drawing/2014/main" id="{E41B5F56-B338-8CEB-1969-111608E23C76}"/>
              </a:ext>
            </a:extLst>
          </p:cNvPr>
          <p:cNvSpPr txBox="1"/>
          <p:nvPr/>
        </p:nvSpPr>
        <p:spPr bwMode="auto">
          <a:xfrm>
            <a:off x="2823999" y="5444446"/>
            <a:ext cx="6334393" cy="738664"/>
          </a:xfrm>
          <a:prstGeom prst="rect">
            <a:avLst/>
          </a:prstGeom>
          <a:solidFill>
            <a:schemeClr val="bg1"/>
          </a:solidFill>
          <a:ln>
            <a:noFill/>
          </a:ln>
        </p:spPr>
        <p:txBody>
          <a:bodyPr vert="horz" wrap="square" lIns="91440" tIns="45720" rIns="91440" bIns="45720" numCol="1" rtlCol="0" anchor="t" anchorCtr="0" compatLnSpc="1">
            <a:prstTxWarp prst="textNoShape">
              <a:avLst/>
            </a:prstTxWarp>
            <a:spAutoFit/>
          </a:bodyPr>
          <a:lstStyle/>
          <a:p>
            <a:r>
              <a:rPr lang="ja-JP" altLang="en-US" sz="1400" kern="0">
                <a:solidFill>
                  <a:srgbClr val="FF0000"/>
                </a:solidFill>
                <a:latin typeface="BIZ UDPゴシック" panose="020B0400000000000000" pitchFamily="50" charset="-128"/>
                <a:ea typeface="BIZ UDPゴシック" panose="020B0400000000000000" pitchFamily="50" charset="-128"/>
              </a:rPr>
              <a:t>スタイルの違うファイルをマージ</a:t>
            </a:r>
            <a:r>
              <a:rPr kumimoji="1" lang="ja-JP" altLang="en-US" sz="1400" kern="0">
                <a:solidFill>
                  <a:srgbClr val="FF0000"/>
                </a:solidFill>
                <a:latin typeface="BIZ UDPゴシック" panose="020B0400000000000000" pitchFamily="50" charset="-128"/>
                <a:ea typeface="BIZ UDPゴシック" panose="020B0400000000000000" pitchFamily="50" charset="-128"/>
              </a:rPr>
              <a:t>する例を最後につけてあります。</a:t>
            </a:r>
            <a:endParaRPr kumimoji="1" lang="en-US" altLang="ja-JP" sz="1400" kern="0">
              <a:solidFill>
                <a:srgbClr val="FF0000"/>
              </a:solidFill>
              <a:latin typeface="BIZ UDPゴシック" panose="020B0400000000000000" pitchFamily="50" charset="-128"/>
              <a:ea typeface="BIZ UDPゴシック" panose="020B0400000000000000" pitchFamily="50" charset="-128"/>
            </a:endParaRPr>
          </a:p>
          <a:p>
            <a:pPr algn="l"/>
            <a:r>
              <a:rPr kumimoji="1" lang="ja-JP" altLang="en-US" sz="1400" kern="0">
                <a:solidFill>
                  <a:srgbClr val="FF0000"/>
                </a:solidFill>
                <a:latin typeface="BIZ UDPゴシック" panose="020B0400000000000000" pitchFamily="50" charset="-128"/>
                <a:ea typeface="BIZ UDPゴシック" panose="020B0400000000000000" pitchFamily="50" charset="-128"/>
              </a:rPr>
              <a:t>マージ後は</a:t>
            </a:r>
            <a:r>
              <a:rPr kumimoji="1" lang="en-US" altLang="ja-JP" sz="1400" kern="0">
                <a:solidFill>
                  <a:srgbClr val="FF0000"/>
                </a:solidFill>
                <a:latin typeface="BIZ UDPゴシック" panose="020B0400000000000000" pitchFamily="50" charset="-128"/>
                <a:ea typeface="BIZ UDPゴシック" panose="020B0400000000000000" pitchFamily="50" charset="-128"/>
              </a:rPr>
              <a:t>stylebase</a:t>
            </a:r>
            <a:r>
              <a:rPr kumimoji="1" lang="ja-JP" altLang="en-US" sz="1400" kern="0">
                <a:solidFill>
                  <a:srgbClr val="FF0000"/>
                </a:solidFill>
                <a:latin typeface="BIZ UDPゴシック" panose="020B0400000000000000" pitchFamily="50" charset="-128"/>
                <a:ea typeface="BIZ UDPゴシック" panose="020B0400000000000000" pitchFamily="50" charset="-128"/>
              </a:rPr>
              <a:t>が強制適用されるため、原本ファイルと違う見え方になります。</a:t>
            </a:r>
          </a:p>
        </p:txBody>
      </p:sp>
      <p:sp>
        <p:nvSpPr>
          <p:cNvPr id="4" name="正方形/長方形 3">
            <a:extLst>
              <a:ext uri="{FF2B5EF4-FFF2-40B4-BE49-F238E27FC236}">
                <a16:creationId xmlns:a16="http://schemas.microsoft.com/office/drawing/2014/main" id="{5A09E36D-4A2F-1421-6EEE-1DE7A5ED7622}"/>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stylebase_guide.pptx</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260665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exportrange">
            <a:extLst>
              <a:ext uri="{FF2B5EF4-FFF2-40B4-BE49-F238E27FC236}">
                <a16:creationId xmlns:a16="http://schemas.microsoft.com/office/drawing/2014/main" id="{81D129EC-19F2-C94A-5DFC-1C11487A3046}"/>
              </a:ext>
            </a:extLst>
          </p:cNvPr>
          <p:cNvSpPr/>
          <p:nvPr/>
        </p:nvSpPr>
        <p:spPr bwMode="auto">
          <a:xfrm>
            <a:off x="623391" y="2955287"/>
            <a:ext cx="10945209" cy="328202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style</a:t>
            </a:r>
            <a:r>
              <a:rPr kumimoji="1" lang="ja-JP" altLang="en-US"/>
              <a:t>の違うサンプル</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7752184" y="195005"/>
            <a:ext cx="4165345"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600">
                <a:latin typeface="BIZ UDPゴシック" panose="020B0400000000000000" pitchFamily="50" charset="-128"/>
                <a:ea typeface="BIZ UDPゴシック" panose="020B0400000000000000" pitchFamily="50" charset="-128"/>
              </a:rPr>
              <a:t>different_style_sample.pptx</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3B34C001-55FF-8E35-E106-3D8A5118B6F6}"/>
              </a:ext>
            </a:extLst>
          </p:cNvPr>
          <p:cNvSpPr txBox="1"/>
          <p:nvPr/>
        </p:nvSpPr>
        <p:spPr bwMode="auto">
          <a:xfrm>
            <a:off x="623392" y="1556792"/>
            <a:ext cx="817496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このファイルはスタイルを通常と変えてあります。</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マージ後は上部のスタイルが変わります。</a:t>
            </a:r>
          </a:p>
        </p:txBody>
      </p:sp>
      <p:cxnSp>
        <p:nvCxnSpPr>
          <p:cNvPr id="8" name="直線矢印コネクタ 7">
            <a:extLst>
              <a:ext uri="{FF2B5EF4-FFF2-40B4-BE49-F238E27FC236}">
                <a16:creationId xmlns:a16="http://schemas.microsoft.com/office/drawing/2014/main" id="{9AA72E20-AF52-2782-7A3E-599E195B3D35}"/>
              </a:ext>
            </a:extLst>
          </p:cNvPr>
          <p:cNvCxnSpPr/>
          <p:nvPr/>
        </p:nvCxnSpPr>
        <p:spPr bwMode="auto">
          <a:xfrm flipV="1">
            <a:off x="1415480" y="980728"/>
            <a:ext cx="0" cy="576064"/>
          </a:xfrm>
          <a:prstGeom prst="straightConnector1">
            <a:avLst/>
          </a:prstGeom>
          <a:solidFill>
            <a:srgbClr val="CCFFFF"/>
          </a:solidFill>
          <a:ln w="57150" cap="flat" cmpd="sng" algn="ctr">
            <a:solidFill>
              <a:schemeClr val="accent2"/>
            </a:solidFill>
            <a:prstDash val="solid"/>
            <a:round/>
            <a:headEnd type="none" w="med" len="med"/>
            <a:tailEnd type="triangle"/>
          </a:ln>
          <a:effectLst/>
        </p:spPr>
      </p:cxnSp>
      <p:pic>
        <p:nvPicPr>
          <p:cNvPr id="4" name="図 3">
            <a:extLst>
              <a:ext uri="{FF2B5EF4-FFF2-40B4-BE49-F238E27FC236}">
                <a16:creationId xmlns:a16="http://schemas.microsoft.com/office/drawing/2014/main" id="{16857B76-2D9A-7E59-5BAF-A4D8BC3C489F}"/>
              </a:ext>
            </a:extLst>
          </p:cNvPr>
          <p:cNvPicPr>
            <a:picLocks noChangeAspect="1"/>
          </p:cNvPicPr>
          <p:nvPr/>
        </p:nvPicPr>
        <p:blipFill>
          <a:blip r:embed="rId3"/>
          <a:stretch>
            <a:fillRect/>
          </a:stretch>
        </p:blipFill>
        <p:spPr>
          <a:xfrm>
            <a:off x="1018182" y="3678201"/>
            <a:ext cx="4079817" cy="2294897"/>
          </a:xfrm>
          <a:prstGeom prst="rect">
            <a:avLst/>
          </a:prstGeom>
          <a:ln>
            <a:solidFill>
              <a:schemeClr val="tx1">
                <a:lumMod val="75000"/>
                <a:lumOff val="25000"/>
              </a:schemeClr>
            </a:solidFill>
          </a:ln>
        </p:spPr>
      </p:pic>
      <p:pic>
        <p:nvPicPr>
          <p:cNvPr id="6" name="図 5">
            <a:extLst>
              <a:ext uri="{FF2B5EF4-FFF2-40B4-BE49-F238E27FC236}">
                <a16:creationId xmlns:a16="http://schemas.microsoft.com/office/drawing/2014/main" id="{A96E033C-294C-3F14-839E-BC92582C2767}"/>
              </a:ext>
            </a:extLst>
          </p:cNvPr>
          <p:cNvPicPr>
            <a:picLocks noChangeAspect="1"/>
          </p:cNvPicPr>
          <p:nvPr/>
        </p:nvPicPr>
        <p:blipFill>
          <a:blip r:embed="rId4"/>
          <a:stretch>
            <a:fillRect/>
          </a:stretch>
        </p:blipFill>
        <p:spPr>
          <a:xfrm>
            <a:off x="7392144" y="3678200"/>
            <a:ext cx="4079819" cy="2294897"/>
          </a:xfrm>
          <a:prstGeom prst="rect">
            <a:avLst/>
          </a:prstGeom>
          <a:ln>
            <a:solidFill>
              <a:schemeClr val="tx1">
                <a:lumMod val="75000"/>
                <a:lumOff val="25000"/>
              </a:schemeClr>
            </a:solidFill>
          </a:ln>
        </p:spPr>
      </p:pic>
      <p:sp>
        <p:nvSpPr>
          <p:cNvPr id="7" name="テキスト ボックス 6">
            <a:extLst>
              <a:ext uri="{FF2B5EF4-FFF2-40B4-BE49-F238E27FC236}">
                <a16:creationId xmlns:a16="http://schemas.microsoft.com/office/drawing/2014/main" id="{8EA113AD-532D-1DDA-CF10-D4CC1C1EEECB}"/>
              </a:ext>
            </a:extLst>
          </p:cNvPr>
          <p:cNvSpPr txBox="1"/>
          <p:nvPr/>
        </p:nvSpPr>
        <p:spPr bwMode="auto">
          <a:xfrm>
            <a:off x="1738262" y="3284984"/>
            <a:ext cx="266429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原本ファイルのスタイル</a:t>
            </a:r>
          </a:p>
        </p:txBody>
      </p:sp>
      <p:sp>
        <p:nvSpPr>
          <p:cNvPr id="9" name="テキスト ボックス 8">
            <a:extLst>
              <a:ext uri="{FF2B5EF4-FFF2-40B4-BE49-F238E27FC236}">
                <a16:creationId xmlns:a16="http://schemas.microsoft.com/office/drawing/2014/main" id="{42A28DB1-1B9D-54A7-8848-0E6E0431D2C9}"/>
              </a:ext>
            </a:extLst>
          </p:cNvPr>
          <p:cNvSpPr txBox="1"/>
          <p:nvPr/>
        </p:nvSpPr>
        <p:spPr bwMode="auto">
          <a:xfrm>
            <a:off x="8099905" y="3284984"/>
            <a:ext cx="266429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マージ後のスタイル</a:t>
            </a:r>
          </a:p>
        </p:txBody>
      </p:sp>
      <p:cxnSp>
        <p:nvCxnSpPr>
          <p:cNvPr id="10" name="直線矢印コネクタ 9">
            <a:extLst>
              <a:ext uri="{FF2B5EF4-FFF2-40B4-BE49-F238E27FC236}">
                <a16:creationId xmlns:a16="http://schemas.microsoft.com/office/drawing/2014/main" id="{B5E7FBAE-29D4-BC1A-1C14-177376CB5F6F}"/>
              </a:ext>
            </a:extLst>
          </p:cNvPr>
          <p:cNvCxnSpPr/>
          <p:nvPr/>
        </p:nvCxnSpPr>
        <p:spPr bwMode="auto">
          <a:xfrm>
            <a:off x="5438583" y="4491774"/>
            <a:ext cx="1656184"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11" name="テキスト ボックス 10">
            <a:extLst>
              <a:ext uri="{FF2B5EF4-FFF2-40B4-BE49-F238E27FC236}">
                <a16:creationId xmlns:a16="http://schemas.microsoft.com/office/drawing/2014/main" id="{3974F1AA-8068-7130-16B5-3F9FFDFDC9C8}"/>
              </a:ext>
            </a:extLst>
          </p:cNvPr>
          <p:cNvSpPr txBox="1"/>
          <p:nvPr/>
        </p:nvSpPr>
        <p:spPr bwMode="auto">
          <a:xfrm>
            <a:off x="5553526" y="4005064"/>
            <a:ext cx="16129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pptmerge</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F6833214-6ED1-BD6C-827E-1DF3465613DF}"/>
              </a:ext>
            </a:extLst>
          </p:cNvPr>
          <p:cNvSpPr txBox="1"/>
          <p:nvPr/>
        </p:nvSpPr>
        <p:spPr bwMode="auto">
          <a:xfrm>
            <a:off x="5447928" y="4581128"/>
            <a:ext cx="1774274" cy="1477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stylebase </a:t>
            </a:r>
            <a:r>
              <a:rPr kumimoji="1" lang="ja-JP" altLang="en-US" sz="1800" kern="0">
                <a:latin typeface="BIZ UDPゴシック" panose="020B0400000000000000" pitchFamily="50" charset="-128"/>
                <a:ea typeface="BIZ UDPゴシック" panose="020B0400000000000000" pitchFamily="50" charset="-128"/>
              </a:rPr>
              <a:t>で指定されたファイルのスタイルに変更される</a:t>
            </a:r>
          </a:p>
        </p:txBody>
      </p:sp>
    </p:spTree>
    <p:extLst>
      <p:ext uri="{BB962C8B-B14F-4D97-AF65-F5344CB8AC3E}">
        <p14:creationId xmlns:p14="http://schemas.microsoft.com/office/powerpoint/2010/main" val="728024801"/>
      </p:ext>
    </p:extLst>
  </p:cSld>
  <p:clrMapOvr>
    <a:masterClrMapping/>
  </p:clrMapOvr>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28533</TotalTime>
  <Words>1412</Words>
  <Application>Microsoft Office PowerPoint</Application>
  <PresentationFormat>ワイド画面</PresentationFormat>
  <Paragraphs>269</Paragraphs>
  <Slides>5</Slides>
  <Notes>5</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5</vt:i4>
      </vt:variant>
    </vt:vector>
  </HeadingPairs>
  <TitlesOfParts>
    <vt:vector size="11" baseType="lpstr">
      <vt:lpstr>BIZ UDPゴシック</vt:lpstr>
      <vt:lpstr>FOT-UD丸ゴ_ラージ Pr6 M</vt:lpstr>
      <vt:lpstr>Arial</vt:lpstr>
      <vt:lpstr>Garamond</vt:lpstr>
      <vt:lpstr>Wingdings</vt:lpstr>
      <vt:lpstr>Edge</vt:lpstr>
      <vt:lpstr>stylebaseを別に指定する機能</vt:lpstr>
      <vt:lpstr>なぜstylebaseを別途指定すべき？</vt:lpstr>
      <vt:lpstr>stylebaseを別途指定するしくみ</vt:lpstr>
      <vt:lpstr>結合指示書サンプル</vt:lpstr>
      <vt:lpstr>styleの違うサンプル</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3676</cp:revision>
  <dcterms:modified xsi:type="dcterms:W3CDTF">2026-06-04T11:16:32Z</dcterms:modified>
</cp:coreProperties>
</file>