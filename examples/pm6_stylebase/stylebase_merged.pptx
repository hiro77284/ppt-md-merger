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7"/>
  </p:notesMasterIdLst>
  <p:sldIdLst>
    <p:sldId id="1785" r:id="rId2"/>
    <p:sldId id="1786" r:id="rId3"/>
    <p:sldId id="1783" r:id="rId4"/>
    <p:sldId id="1782" r:id="rId5"/>
    <p:sldId id="1787" r:id="rId6"/>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5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extracted/figures/stylebase_guide_slide1_fig.png</a:t>
            </a:r>
          </a:p>
          <a:p/>
          <a:p>
            <a:r>
              <a:t>===BLOCK===</a:t>
            </a:r>
          </a:p>
          <a:p>
            <a:r>
              <a:t>{{BLOCK:IMAGE}}</a:t>
            </a:r>
          </a:p>
          <a:p/>
          <a:p>
            <a:r>
              <a:t>export-image-mode: slide_with_rectpct</a:t>
            </a:r>
          </a:p>
          <a:p>
            <a:r>
              <a:t>export-image-target: keyvisual</a:t>
            </a:r>
          </a:p>
          <a:p>
            <a:r>
              <a:t>export-image: extracted/figures/stylebase_guide_keyvisual.png</a:t>
            </a:r>
          </a:p>
          <a:p/>
          <a:p>
            <a:r>
              <a:t>===BLOCK===</a:t>
            </a:r>
          </a:p>
          <a:p>
            <a:r>
              <a:t>{{BLOCK:MD:LONG}}</a:t>
            </a:r>
          </a:p>
          <a:p/>
          <a:p>
            <a:r>
              <a:t>export-note: extracted/stylebase_guide_slide1_md.md</a:t>
            </a:r>
          </a:p>
          <a:p>
            <a:r>
              <a:t>{{#id:section:stylebase_guide:slide1}}</a:t>
            </a:r>
          </a:p>
          <a:p>
            <a:r>
              <a:t>## stylebaseを別に指定する機能</a:t>
            </a:r>
          </a:p>
          <a:p/>
          <a:p>
            <a:r>
              <a:t>pptxをマージする際、基準とするスタイルをコンテンツとは別に指定することができます。</a:t>
            </a:r>
          </a:p>
          <a:p/>
          <a:p/>
          <a:p>
            <a:r>
              <a:t>```{=latex}</a:t>
            </a:r>
          </a:p>
          <a:p>
            <a:r>
              <a:t>\par\vspace{1\baselineskip}</a:t>
            </a:r>
          </a:p>
          <a:p>
            <a:r>
              <a:t>\begin{center}</a:t>
            </a:r>
          </a:p>
          <a:p>
            <a:r>
              <a:t>```</a:t>
            </a:r>
          </a:p>
          <a:p/>
          <a:p>
            <a:r>
              <a:t>![](figures/stylebase_guide_slide1_fig.png){ width=95% }</a:t>
            </a:r>
          </a:p>
          <a:p/>
          <a:p>
            <a:r>
              <a:t>![](figures/stylebase_guide_keyvisual.png){ width=80% }</a:t>
            </a:r>
          </a:p>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196916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extracted/figures/stylebase_guide_slide2_fig.png</a:t>
            </a:r>
          </a:p>
          <a:p/>
          <a:p>
            <a:r>
              <a:t>===BLOCK===</a:t>
            </a:r>
          </a:p>
          <a:p>
            <a:r>
              <a:t>{{BLOCK:MD:LONG}}</a:t>
            </a:r>
          </a:p>
          <a:p/>
          <a:p>
            <a:r>
              <a:t>export-note: extracted/stylebase_guide_slide2_md.md</a:t>
            </a:r>
          </a:p>
          <a:p>
            <a:r>
              <a:t>{{#id:section:stylebase_guide:slide2}}</a:t>
            </a:r>
          </a:p>
          <a:p>
            <a:r>
              <a:t>## なぜstylebaseを別途指定すべき？</a:t>
            </a:r>
          </a:p>
          <a:p/>
          <a:p>
            <a:r>
              <a:t>一般に、pptxファイルにはスタイル情報とコンテンツが含まれており、複数のファイルの</a:t>
            </a:r>
          </a:p>
          <a:p>
            <a:r>
              <a:t>マージ処理(pptmerge)では　「コンテンツ」 を結合します。</a:t>
            </a:r>
          </a:p>
          <a:p/>
          <a:p>
            <a:r>
              <a:t>スタイル情報は最初のファイルのものだけが使われます。</a:t>
            </a:r>
          </a:p>
          <a:p/>
          <a:p>
            <a:r>
              <a:t>```{=latex}</a:t>
            </a:r>
          </a:p>
          <a:p>
            <a:r>
              <a:t>\par\vspace{1\baselineskip}</a:t>
            </a:r>
          </a:p>
          <a:p>
            <a:r>
              <a:t>\begin{center}</a:t>
            </a:r>
          </a:p>
          <a:p>
            <a:r>
              <a:t>```</a:t>
            </a:r>
          </a:p>
          <a:p/>
          <a:p>
            <a:r>
              <a:t>![](figures/stylebase_guide_slide2_fig.png){ width=95% }</a:t>
            </a:r>
          </a:p>
          <a:p/>
          <a:p>
            <a:r>
              <a:t>```{=latex}</a:t>
            </a:r>
          </a:p>
          <a:p>
            <a:r>
              <a:t>\end{center}</a:t>
            </a:r>
          </a:p>
          <a:p>
            <a:r>
              <a:t>\par\vspace{1\baselineskip}</a:t>
            </a:r>
          </a:p>
          <a:p>
            <a:r>
              <a:t>```</a:t>
            </a:r>
          </a:p>
          <a:p/>
          <a:p>
            <a:r>
              <a:t>しかし、コンテンツファイルは一般に頻繁に更新されるものです。</a:t>
            </a:r>
          </a:p>
          <a:p/>
          <a:p>
            <a:r>
              <a:t>コンテンツとスタイルを混在させていると　 **「うっかり、スタイルまで更新してしまう」** 　事態が起きます。　</a:t>
            </a:r>
          </a:p>
          <a:p/>
          <a:p>
            <a:r>
              <a:t>スタイルが合わないとレイアウト崩れ、配色崩れなどが起きるため、スタイル情報はコンテンツとは別に管理することが望ましいのです。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2710777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extracted/figures/stylebase_guide_slide3_fig.png</a:t>
            </a:r>
          </a:p>
          <a:p/>
          <a:p>
            <a:r>
              <a:t>===BLOCK===</a:t>
            </a:r>
          </a:p>
          <a:p>
            <a:r>
              <a:t>{{BLOCK:MD:LONG}}</a:t>
            </a:r>
          </a:p>
          <a:p/>
          <a:p>
            <a:r>
              <a:t>export-note: extracted/stylebase_guide_slide3_md.md</a:t>
            </a:r>
          </a:p>
          <a:p>
            <a:r>
              <a:t>{{#id:section:stylebase_guide:slide3}}</a:t>
            </a:r>
          </a:p>
          <a:p>
            <a:r>
              <a:t>## stylebaseを別途指定するしくみ</a:t>
            </a:r>
          </a:p>
          <a:p/>
          <a:p>
            <a:r>
              <a:t>そこで、スタイル情報を別のファイルに分離することを推奨します。　</a:t>
            </a:r>
          </a:p>
          <a:p/>
          <a:p>
            <a:r>
              <a:t>スタイル情報は一般に、複数の文書、複数のプロジェクトで共通に使われるものなので、共通資材フォルダに置くとよいでしょう。</a:t>
            </a:r>
          </a:p>
          <a:p/>
          <a:p>
            <a:r>
              <a:t>```{=latex}</a:t>
            </a:r>
          </a:p>
          <a:p>
            <a:r>
              <a:t>\par\vspace{1\baselineskip}</a:t>
            </a:r>
          </a:p>
          <a:p>
            <a:r>
              <a:t>\begin{center}</a:t>
            </a:r>
          </a:p>
          <a:p>
            <a:r>
              <a:t>```</a:t>
            </a:r>
          </a:p>
          <a:p/>
          <a:p>
            <a:r>
              <a:t>![](figures/stylebase_guide_slide3_fig.png){ width=95% }</a:t>
            </a:r>
          </a:p>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8901923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extracted/figures/stylebase_guide_slide4_fig.png</a:t>
            </a:r>
          </a:p>
          <a:p/>
          <a:p>
            <a:r>
              <a:t>===BLOCK===</a:t>
            </a:r>
          </a:p>
          <a:p>
            <a:r>
              <a:t>{{BLOCK:MD:LONG}}</a:t>
            </a:r>
          </a:p>
          <a:p/>
          <a:p>
            <a:r>
              <a:t>export-note: extracted/stylebase_guide_slide4_md.md</a:t>
            </a:r>
          </a:p>
          <a:p>
            <a:r>
              <a:t>{{#id:section:stylebase_guide:slide4}}</a:t>
            </a:r>
          </a:p>
          <a:p>
            <a:r>
              <a:t>## 結合指示書サンプル</a:t>
            </a:r>
          </a:p>
          <a:p/>
          <a:p>
            <a:r>
              <a:t>サンプルファイルとして、マージによってスタイルが変わる例を格納してあります。</a:t>
            </a:r>
          </a:p>
          <a:p/>
          <a:p>
            <a:r>
              <a:t>different_style_sample.pptx は simple_stylebase.pptx とは違うスタイルで作られていますが、マージ後の stylebase_merged.pptx を見ると simple_stylebase.pptx のスタイルに変更されています。</a:t>
            </a:r>
          </a:p>
          <a:p/>
          <a:p>
            <a:r>
              <a:t>```{=latex}</a:t>
            </a:r>
          </a:p>
          <a:p>
            <a:r>
              <a:t>\par\vspace{1\baselineskip}</a:t>
            </a:r>
          </a:p>
          <a:p>
            <a:r>
              <a:t>\begin{center}</a:t>
            </a:r>
          </a:p>
          <a:p>
            <a:r>
              <a:t>```</a:t>
            </a:r>
          </a:p>
          <a:p/>
          <a:p>
            <a:r>
              <a:t>![](figures/stylebase_guide_slide4_fig.png){ width=95% }</a:t>
            </a:r>
          </a:p>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39067892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extracted/figures/different_style_sample_slide1_fig.png</a:t>
            </a:r>
          </a:p>
          <a:p/>
          <a:p>
            <a:r>
              <a:t>===BLOCK===</a:t>
            </a:r>
          </a:p>
          <a:p>
            <a:r>
              <a:t>{{BLOCK:MD:LONG}}</a:t>
            </a:r>
          </a:p>
          <a:p/>
          <a:p>
            <a:r>
              <a:t>export-note: extracted/different_style_sample_slide1_md.md</a:t>
            </a:r>
          </a:p>
          <a:p>
            <a:r>
              <a:t>{{#id:section:different_style_sample:slide1}}</a:t>
            </a:r>
          </a:p>
          <a:p>
            <a:r>
              <a:t>## styleの違うサンプル</a:t>
            </a:r>
          </a:p>
          <a:p/>
          <a:p>
            <a:r>
              <a:t>左側が different_style_sample.pptx のスタイルです。　それがマージ後の stylebase_merged.pptx 末尾では右側のスタイルに変更されていることを確認してください。</a:t>
            </a:r>
          </a:p>
          <a:p/>
          <a:p>
            <a:r>
              <a:t>```{=latex}</a:t>
            </a:r>
          </a:p>
          <a:p>
            <a:r>
              <a:t>\par\vspace{1\baselineskip}</a:t>
            </a:r>
          </a:p>
          <a:p>
            <a:r>
              <a:t>\begin{center}</a:t>
            </a:r>
          </a:p>
          <a:p>
            <a:r>
              <a:t>```</a:t>
            </a:r>
          </a:p>
          <a:p/>
          <a:p>
            <a:r>
              <a:t>![](figures/different_style_sample_slide1_fig.png){ width=95% }</a:t>
            </a:r>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0794658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xportrange">
            <a:extLst>
              <a:ext uri="{FF2B5EF4-FFF2-40B4-BE49-F238E27FC236}">
                <a16:creationId xmlns:a16="http://schemas.microsoft.com/office/drawing/2014/main" id="{FA348A50-F865-3288-50D2-F2BE63C24CC1}"/>
              </a:ext>
            </a:extLst>
          </p:cNvPr>
          <p:cNvSpPr/>
          <p:nvPr/>
        </p:nvSpPr>
        <p:spPr bwMode="auto">
          <a:xfrm>
            <a:off x="623391" y="912997"/>
            <a:ext cx="10162949" cy="191552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keyvisual">
            <a:extLst>
              <a:ext uri="{FF2B5EF4-FFF2-40B4-BE49-F238E27FC236}">
                <a16:creationId xmlns:a16="http://schemas.microsoft.com/office/drawing/2014/main" id="{C43663AB-17A8-8115-5D5E-18956950C71A}"/>
              </a:ext>
            </a:extLst>
          </p:cNvPr>
          <p:cNvSpPr/>
          <p:nvPr/>
        </p:nvSpPr>
        <p:spPr bwMode="auto">
          <a:xfrm>
            <a:off x="739027" y="2904486"/>
            <a:ext cx="988339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stylebase</a:t>
            </a:r>
            <a:r>
              <a:rPr kumimoji="1" lang="ja-JP" altLang="en-US"/>
              <a:t>を別に指定する機能</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stylebase_recipe.yaml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結合対象のコンテンツとは別にスタイル情報のみ使用するファイルを別途指定する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"stylebase"</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pm6_stylebase</a:t>
            </a:r>
            <a:endParaRPr kumimoji="1" lang="en-US" altLang="ja-JP" sz="1600" kern="0">
              <a:latin typeface="BIZ UDPゴシック" panose="020B0400000000000000" pitchFamily="50" charset="-128"/>
              <a:ea typeface="BIZ UDPゴシック" panose="020B0400000000000000" pitchFamily="50" charset="-128"/>
            </a:endParaRPr>
          </a:p>
        </p:txBody>
      </p:sp>
      <p:grpSp>
        <p:nvGrpSpPr>
          <p:cNvPr id="18" name="グループ化 17">
            <a:extLst>
              <a:ext uri="{FF2B5EF4-FFF2-40B4-BE49-F238E27FC236}">
                <a16:creationId xmlns:a16="http://schemas.microsoft.com/office/drawing/2014/main" id="{8F7862ED-FE61-D539-F806-47AE7FC40402}"/>
              </a:ext>
            </a:extLst>
          </p:cNvPr>
          <p:cNvGrpSpPr/>
          <p:nvPr/>
        </p:nvGrpSpPr>
        <p:grpSpPr>
          <a:xfrm>
            <a:off x="1569577" y="4914935"/>
            <a:ext cx="1996061" cy="683731"/>
            <a:chOff x="2443755" y="3613700"/>
            <a:chExt cx="1996061" cy="683731"/>
          </a:xfrm>
        </p:grpSpPr>
        <p:sp>
          <p:nvSpPr>
            <p:cNvPr id="4" name="正方形/長方形 3">
              <a:extLst>
                <a:ext uri="{FF2B5EF4-FFF2-40B4-BE49-F238E27FC236}">
                  <a16:creationId xmlns:a16="http://schemas.microsoft.com/office/drawing/2014/main" id="{E25E8B59-A9AF-B900-C34B-DAF80BDA8C59}"/>
                </a:ext>
              </a:extLst>
            </p:cNvPr>
            <p:cNvSpPr/>
            <p:nvPr/>
          </p:nvSpPr>
          <p:spPr bwMode="auto">
            <a:xfrm>
              <a:off x="2443755" y="3613700"/>
              <a:ext cx="1996061"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A.pptx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6" name="図 15">
              <a:extLst>
                <a:ext uri="{FF2B5EF4-FFF2-40B4-BE49-F238E27FC236}">
                  <a16:creationId xmlns:a16="http://schemas.microsoft.com/office/drawing/2014/main" id="{CF94B3E5-5ED0-EE6C-3641-1BD8352881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3704786"/>
              <a:ext cx="523272" cy="501559"/>
            </a:xfrm>
            <a:prstGeom prst="rect">
              <a:avLst/>
            </a:prstGeom>
          </p:spPr>
        </p:pic>
      </p:grpSp>
      <p:grpSp>
        <p:nvGrpSpPr>
          <p:cNvPr id="19" name="グループ化 18">
            <a:extLst>
              <a:ext uri="{FF2B5EF4-FFF2-40B4-BE49-F238E27FC236}">
                <a16:creationId xmlns:a16="http://schemas.microsoft.com/office/drawing/2014/main" id="{F87B9839-0FE9-E5E1-AB5C-C93D1A641868}"/>
              </a:ext>
            </a:extLst>
          </p:cNvPr>
          <p:cNvGrpSpPr/>
          <p:nvPr/>
        </p:nvGrpSpPr>
        <p:grpSpPr>
          <a:xfrm>
            <a:off x="1569576" y="5719392"/>
            <a:ext cx="1996062" cy="653492"/>
            <a:chOff x="2443754" y="5463298"/>
            <a:chExt cx="1996062" cy="653492"/>
          </a:xfrm>
        </p:grpSpPr>
        <p:sp>
          <p:nvSpPr>
            <p:cNvPr id="7" name="正方形/長方形 6">
              <a:extLst>
                <a:ext uri="{FF2B5EF4-FFF2-40B4-BE49-F238E27FC236}">
                  <a16:creationId xmlns:a16="http://schemas.microsoft.com/office/drawing/2014/main" id="{40B30D01-EC9D-0B99-494F-13BAF499FBF3}"/>
                </a:ext>
              </a:extLst>
            </p:cNvPr>
            <p:cNvSpPr/>
            <p:nvPr/>
          </p:nvSpPr>
          <p:spPr bwMode="auto">
            <a:xfrm>
              <a:off x="2443754" y="5463298"/>
              <a:ext cx="1996062" cy="65349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B.pptx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D512E56F-7D4D-5658-A552-D65E87101D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5539265"/>
              <a:ext cx="523272" cy="501559"/>
            </a:xfrm>
            <a:prstGeom prst="rect">
              <a:avLst/>
            </a:prstGeom>
          </p:spPr>
        </p:pic>
      </p:grpSp>
      <p:grpSp>
        <p:nvGrpSpPr>
          <p:cNvPr id="20" name="グループ化 19">
            <a:extLst>
              <a:ext uri="{FF2B5EF4-FFF2-40B4-BE49-F238E27FC236}">
                <a16:creationId xmlns:a16="http://schemas.microsoft.com/office/drawing/2014/main" id="{F22B069D-942D-9A46-46B5-210532C86AB4}"/>
              </a:ext>
            </a:extLst>
          </p:cNvPr>
          <p:cNvGrpSpPr/>
          <p:nvPr/>
        </p:nvGrpSpPr>
        <p:grpSpPr>
          <a:xfrm>
            <a:off x="1189375" y="3881768"/>
            <a:ext cx="2376264" cy="683731"/>
            <a:chOff x="2063553" y="3613700"/>
            <a:chExt cx="2376264" cy="683731"/>
          </a:xfrm>
        </p:grpSpPr>
        <p:sp>
          <p:nvSpPr>
            <p:cNvPr id="21" name="正方形/長方形 20">
              <a:extLst>
                <a:ext uri="{FF2B5EF4-FFF2-40B4-BE49-F238E27FC236}">
                  <a16:creationId xmlns:a16="http://schemas.microsoft.com/office/drawing/2014/main" id="{C2A2A3DF-1C3A-54BB-97A5-99212BB7B49E}"/>
                </a:ext>
              </a:extLst>
            </p:cNvPr>
            <p:cNvSpPr/>
            <p:nvPr/>
          </p:nvSpPr>
          <p:spPr bwMode="auto">
            <a:xfrm>
              <a:off x="2063553" y="3613700"/>
              <a:ext cx="2376264"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stylebase</a:t>
              </a:r>
            </a:p>
            <a:p>
              <a:pPr algn="r" eaLnBrk="1" hangingPunct="1"/>
              <a:r>
                <a:rPr lang="en-US" altLang="ja-JP" kern="0">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5" name="図 24">
              <a:extLst>
                <a:ext uri="{FF2B5EF4-FFF2-40B4-BE49-F238E27FC236}">
                  <a16:creationId xmlns:a16="http://schemas.microsoft.com/office/drawing/2014/main" id="{EB98A991-4CFA-08FB-349D-B5F85E58A1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9837" y="3704786"/>
              <a:ext cx="523272" cy="501559"/>
            </a:xfrm>
            <a:prstGeom prst="rect">
              <a:avLst/>
            </a:prstGeom>
          </p:spPr>
        </p:pic>
      </p:grpSp>
      <p:sp>
        <p:nvSpPr>
          <p:cNvPr id="30" name="右中かっこ 29">
            <a:extLst>
              <a:ext uri="{FF2B5EF4-FFF2-40B4-BE49-F238E27FC236}">
                <a16:creationId xmlns:a16="http://schemas.microsoft.com/office/drawing/2014/main" id="{F13C6333-FD68-C629-DAEA-23CFF4AC1A99}"/>
              </a:ext>
            </a:extLst>
          </p:cNvPr>
          <p:cNvSpPr/>
          <p:nvPr/>
        </p:nvSpPr>
        <p:spPr bwMode="auto">
          <a:xfrm>
            <a:off x="3853670" y="4842916"/>
            <a:ext cx="337751" cy="1631765"/>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A1D9512-F11F-D14A-4817-88A09550D87F}"/>
              </a:ext>
            </a:extLst>
          </p:cNvPr>
          <p:cNvSpPr txBox="1"/>
          <p:nvPr/>
        </p:nvSpPr>
        <p:spPr bwMode="auto">
          <a:xfrm>
            <a:off x="4351622" y="5466789"/>
            <a:ext cx="3488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コンテンツを含むファイル</a:t>
            </a:r>
          </a:p>
        </p:txBody>
      </p:sp>
      <p:sp>
        <p:nvSpPr>
          <p:cNvPr id="42" name="テキスト ボックス 41">
            <a:extLst>
              <a:ext uri="{FF2B5EF4-FFF2-40B4-BE49-F238E27FC236}">
                <a16:creationId xmlns:a16="http://schemas.microsoft.com/office/drawing/2014/main" id="{2E691D5E-CC6C-BB5C-92C9-D2C1F9E0A13B}"/>
              </a:ext>
            </a:extLst>
          </p:cNvPr>
          <p:cNvSpPr txBox="1"/>
          <p:nvPr/>
        </p:nvSpPr>
        <p:spPr bwMode="auto">
          <a:xfrm>
            <a:off x="3998624" y="3889586"/>
            <a:ext cx="692895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テーマ（配色、フォント、効果）、スライドマスター、レイアウト</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などのスタイル情報を持つファイル</a:t>
            </a:r>
          </a:p>
        </p:txBody>
      </p:sp>
      <p:sp>
        <p:nvSpPr>
          <p:cNvPr id="43" name="テキスト ボックス 42">
            <a:extLst>
              <a:ext uri="{FF2B5EF4-FFF2-40B4-BE49-F238E27FC236}">
                <a16:creationId xmlns:a16="http://schemas.microsoft.com/office/drawing/2014/main" id="{23FBF853-E58D-E677-7F52-D9A7C096ED00}"/>
              </a:ext>
            </a:extLst>
          </p:cNvPr>
          <p:cNvSpPr txBox="1"/>
          <p:nvPr/>
        </p:nvSpPr>
        <p:spPr bwMode="auto">
          <a:xfrm>
            <a:off x="739026" y="2942798"/>
            <a:ext cx="1054155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ファイルを結合する際、コンテンツとは別にスタイル情報のみ使用するファイルを</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別途指定することができます</a:t>
            </a:r>
          </a:p>
        </p:txBody>
      </p:sp>
      <p:sp>
        <p:nvSpPr>
          <p:cNvPr id="5" name="正方形/長方形 4">
            <a:extLst>
              <a:ext uri="{FF2B5EF4-FFF2-40B4-BE49-F238E27FC236}">
                <a16:creationId xmlns:a16="http://schemas.microsoft.com/office/drawing/2014/main" id="{83C0C3C4-C6BC-3D04-C753-83A60A0E80D1}"/>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stylebase_guide.pptx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784180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2864F0C8-37E0-5875-75FA-A7CE7C3AE15E}"/>
              </a:ext>
            </a:extLst>
          </p:cNvPr>
          <p:cNvSpPr/>
          <p:nvPr/>
        </p:nvSpPr>
        <p:spPr bwMode="auto">
          <a:xfrm>
            <a:off x="623392" y="2559388"/>
            <a:ext cx="10957984" cy="244433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なぜ</a:t>
            </a:r>
            <a:r>
              <a:rPr lang="en-US" altLang="ja-JP"/>
              <a:t>stylebase</a:t>
            </a:r>
            <a:r>
              <a:rPr lang="ja-JP" altLang="en-US"/>
              <a:t>を別途指定すべき？</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1127448"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1859811"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14387" y="2650232"/>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1321215"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1321215"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3359696"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4092059"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46635" y="2650232"/>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3553463" y="3964690"/>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3553463" y="3440443"/>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5736233" y="3963456"/>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7824192" y="3260422"/>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8073224" y="2718657"/>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27800" y="2650232"/>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8017959"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8017959"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8017959" y="436007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一般に、</a:t>
            </a:r>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ファイルにはスタイル情報とコンテンツが含まれており、複数のファイルの</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マージ処理</a:t>
            </a:r>
            <a:r>
              <a:rPr kumimoji="1" lang="en-US" altLang="ja-JP" kern="0">
                <a:latin typeface="BIZ UDPゴシック" panose="020B0400000000000000" pitchFamily="50" charset="-128"/>
                <a:ea typeface="BIZ UDPゴシック" panose="020B0400000000000000" pitchFamily="50" charset="-128"/>
              </a:rPr>
              <a:t>(pptmerge)</a:t>
            </a:r>
            <a:r>
              <a:rPr kumimoji="1" lang="ja-JP" altLang="en-US" kern="0">
                <a:latin typeface="BIZ UDPゴシック" panose="020B0400000000000000" pitchFamily="50" charset="-128"/>
                <a:ea typeface="BIZ UDPゴシック" panose="020B0400000000000000" pitchFamily="50" charset="-128"/>
              </a:rPr>
              <a:t>では　「</a:t>
            </a:r>
            <a:r>
              <a:rPr lang="ja-JP" altLang="en-US" kern="0">
                <a:latin typeface="BIZ UDPゴシック" panose="020B0400000000000000" pitchFamily="50" charset="-128"/>
                <a:ea typeface="BIZ UDPゴシック" panose="020B0400000000000000" pitchFamily="50" charset="-128"/>
              </a:rPr>
              <a:t>コンテンツ」 を結合します。</a:t>
            </a:r>
            <a:endParaRPr lang="en-US" altLang="ja-JP" kern="0">
              <a:latin typeface="BIZ UDPゴシック" panose="020B0400000000000000" pitchFamily="50" charset="-128"/>
              <a:ea typeface="BIZ UDPゴシック" panose="020B0400000000000000" pitchFamily="50" charset="-128"/>
            </a:endParaRPr>
          </a:p>
          <a:p>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solidFill>
                  <a:srgbClr val="FF0000"/>
                </a:solidFill>
                <a:latin typeface="BIZ UDPゴシック" panose="020B0400000000000000" pitchFamily="50" charset="-128"/>
                <a:ea typeface="BIZ UDPゴシック" panose="020B0400000000000000" pitchFamily="50" charset="-128"/>
              </a:rPr>
              <a:t>スタイル情報は最初のファイルのものだけ</a:t>
            </a:r>
            <a:r>
              <a:rPr lang="ja-JP" altLang="en-US" kern="0">
                <a:latin typeface="BIZ UDPゴシック" panose="020B0400000000000000" pitchFamily="50" charset="-128"/>
                <a:ea typeface="BIZ UDPゴシック" panose="020B0400000000000000" pitchFamily="50" charset="-128"/>
              </a:rPr>
              <a:t>が使われます。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5851176" y="3476746"/>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0192C7A-4D11-9A6E-34A5-BAAF507D18AC}"/>
              </a:ext>
            </a:extLst>
          </p:cNvPr>
          <p:cNvSpPr txBox="1"/>
          <p:nvPr/>
        </p:nvSpPr>
        <p:spPr bwMode="auto">
          <a:xfrm>
            <a:off x="9980225" y="3284984"/>
            <a:ext cx="161297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スタイル</a:t>
            </a:r>
            <a:r>
              <a:rPr kumimoji="1" lang="en-US" altLang="ja-JP" sz="1800" kern="0">
                <a:latin typeface="BIZ UDPゴシック" panose="020B0400000000000000" pitchFamily="50" charset="-128"/>
                <a:ea typeface="BIZ UDPゴシック" panose="020B0400000000000000" pitchFamily="50" charset="-128"/>
              </a:rPr>
              <a:t>B</a:t>
            </a:r>
            <a:r>
              <a:rPr kumimoji="1" lang="ja-JP" altLang="en-US" sz="1800" kern="0">
                <a:latin typeface="BIZ UDPゴシック" panose="020B0400000000000000" pitchFamily="50" charset="-128"/>
                <a:ea typeface="BIZ UDPゴシック" panose="020B0400000000000000" pitchFamily="50" charset="-128"/>
              </a:rPr>
              <a:t>は</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残らない</a:t>
            </a:r>
          </a:p>
        </p:txBody>
      </p:sp>
      <p:cxnSp>
        <p:nvCxnSpPr>
          <p:cNvPr id="31" name="直線矢印コネクタ 30">
            <a:extLst>
              <a:ext uri="{FF2B5EF4-FFF2-40B4-BE49-F238E27FC236}">
                <a16:creationId xmlns:a16="http://schemas.microsoft.com/office/drawing/2014/main" id="{D3933333-F79D-BD7F-9DB3-7894542AE5C6}"/>
              </a:ext>
            </a:extLst>
          </p:cNvPr>
          <p:cNvCxnSpPr>
            <a:cxnSpLocks/>
            <a:stCxn id="30" idx="1"/>
            <a:endCxn id="26" idx="3"/>
          </p:cNvCxnSpPr>
          <p:nvPr/>
        </p:nvCxnSpPr>
        <p:spPr bwMode="auto">
          <a:xfrm flipH="1">
            <a:off x="9493433" y="3608150"/>
            <a:ext cx="486792" cy="2536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0F7FFB5B-A715-B6C1-EACE-D55A67B61655}"/>
              </a:ext>
            </a:extLst>
          </p:cNvPr>
          <p:cNvSpPr txBox="1"/>
          <p:nvPr/>
        </p:nvSpPr>
        <p:spPr bwMode="auto">
          <a:xfrm>
            <a:off x="739026" y="5056376"/>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しかし、コンテンツファイルは一般に頻繁に更新されるものです。</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コンテンツとスタイルを混在させていると　「うっかり、スタイルまで更新してしまう」　事態が起きます。　スタイルが合わないとレイアウト崩れ、配色崩れなどが起きるため、スタイル情報はコンテンツとは別に管理することが望ましいのです。</a:t>
            </a:r>
          </a:p>
        </p:txBody>
      </p:sp>
      <p:sp>
        <p:nvSpPr>
          <p:cNvPr id="5" name="正方形/長方形 4">
            <a:extLst>
              <a:ext uri="{FF2B5EF4-FFF2-40B4-BE49-F238E27FC236}">
                <a16:creationId xmlns:a16="http://schemas.microsoft.com/office/drawing/2014/main" id="{C68DE26D-7789-1C09-816F-86B70806C6F3}"/>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471844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0639CB12-C7B6-E971-D87F-7A778DB65745}"/>
              </a:ext>
            </a:extLst>
          </p:cNvPr>
          <p:cNvSpPr/>
          <p:nvPr/>
        </p:nvSpPr>
        <p:spPr bwMode="auto">
          <a:xfrm>
            <a:off x="623392" y="2292803"/>
            <a:ext cx="11089232" cy="427948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stylebase</a:t>
            </a:r>
            <a:r>
              <a:rPr lang="ja-JP" altLang="en-US"/>
              <a:t>を別途指定するしくみ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3406198"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4138561"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3137" y="2378131"/>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3599965"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3599965" y="3168342"/>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563844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6370809"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25385" y="2378131"/>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5832213" y="3692589"/>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5832213" y="316834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7630011" y="3691355"/>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9582587" y="2988321"/>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9831619" y="2446556"/>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6195" y="2378131"/>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9776354"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9776354"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9776354" y="4087971"/>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kern="0">
                <a:latin typeface="BIZ UDPゴシック" panose="020B0400000000000000" pitchFamily="50" charset="-128"/>
                <a:ea typeface="BIZ UDPゴシック" panose="020B0400000000000000" pitchFamily="50" charset="-128"/>
              </a:rPr>
              <a:t>そこで、スタイル情報を別のファイルに分離することを推奨します。　</a:t>
            </a:r>
            <a:endParaRPr lang="en-US" altLang="ja-JP" kern="0">
              <a:latin typeface="BIZ UDPゴシック" panose="020B0400000000000000" pitchFamily="50" charset="-128"/>
              <a:ea typeface="BIZ UDPゴシック" panose="020B0400000000000000" pitchFamily="50" charset="-128"/>
            </a:endParaRPr>
          </a:p>
          <a:p>
            <a:r>
              <a:rPr lang="ja-JP" altLang="en-US" kern="0">
                <a:latin typeface="BIZ UDPゴシック" panose="020B0400000000000000" pitchFamily="50" charset="-128"/>
                <a:ea typeface="BIZ UDPゴシック" panose="020B0400000000000000" pitchFamily="50" charset="-128"/>
              </a:rPr>
              <a:t>スタイル情報は一般に、複数の文書、複数のプロジェクトで共通に使われるものなので、共通資材フォルダに置くとよいでしょう。</a:t>
            </a:r>
            <a:endParaRPr lang="en-US" altLang="ja-JP"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7744954" y="3204645"/>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4B0AAFFC-8FCA-85AE-0B53-3CB204F7372E}"/>
              </a:ext>
            </a:extLst>
          </p:cNvPr>
          <p:cNvSpPr/>
          <p:nvPr/>
        </p:nvSpPr>
        <p:spPr bwMode="auto">
          <a:xfrm>
            <a:off x="121667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02753175-99CE-0127-AE64-E6590AB5AD4F}"/>
              </a:ext>
            </a:extLst>
          </p:cNvPr>
          <p:cNvSpPr txBox="1"/>
          <p:nvPr/>
        </p:nvSpPr>
        <p:spPr bwMode="auto">
          <a:xfrm>
            <a:off x="1694231" y="2292803"/>
            <a:ext cx="14666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37A6AF87-321E-4109-3184-443E659EE7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8939" y="2378131"/>
            <a:ext cx="523272" cy="501559"/>
          </a:xfrm>
          <a:prstGeom prst="rect">
            <a:avLst/>
          </a:prstGeom>
        </p:spPr>
      </p:pic>
      <p:sp>
        <p:nvSpPr>
          <p:cNvPr id="38" name="正方形/長方形 37">
            <a:extLst>
              <a:ext uri="{FF2B5EF4-FFF2-40B4-BE49-F238E27FC236}">
                <a16:creationId xmlns:a16="http://schemas.microsoft.com/office/drawing/2014/main" id="{33C6119A-942B-D935-2A08-1C7062C57FD2}"/>
              </a:ext>
            </a:extLst>
          </p:cNvPr>
          <p:cNvSpPr/>
          <p:nvPr/>
        </p:nvSpPr>
        <p:spPr bwMode="auto">
          <a:xfrm>
            <a:off x="1410443" y="3692589"/>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F9A40447-E015-2FDA-0CE5-8CBADD0F0E95}"/>
              </a:ext>
            </a:extLst>
          </p:cNvPr>
          <p:cNvSpPr/>
          <p:nvPr/>
        </p:nvSpPr>
        <p:spPr bwMode="auto">
          <a:xfrm>
            <a:off x="1410443"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0" name="右中かっこ 39">
            <a:extLst>
              <a:ext uri="{FF2B5EF4-FFF2-40B4-BE49-F238E27FC236}">
                <a16:creationId xmlns:a16="http://schemas.microsoft.com/office/drawing/2014/main" id="{1C4259E1-A979-A575-10B4-ADCB288CF1A9}"/>
              </a:ext>
            </a:extLst>
          </p:cNvPr>
          <p:cNvSpPr/>
          <p:nvPr/>
        </p:nvSpPr>
        <p:spPr bwMode="auto">
          <a:xfrm rot="5400000">
            <a:off x="5324041" y="2386453"/>
            <a:ext cx="337751" cy="4179488"/>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EAD641E-91AE-3026-8614-C02EF42CFA77}"/>
              </a:ext>
            </a:extLst>
          </p:cNvPr>
          <p:cNvSpPr txBox="1"/>
          <p:nvPr/>
        </p:nvSpPr>
        <p:spPr bwMode="auto">
          <a:xfrm>
            <a:off x="3403172" y="4595328"/>
            <a:ext cx="417948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insertpptx </a:t>
            </a:r>
            <a:r>
              <a:rPr kumimoji="1" lang="ja-JP" altLang="en-US" sz="1800" kern="0">
                <a:latin typeface="BIZ UDPゴシック" panose="020B0400000000000000" pitchFamily="50" charset="-128"/>
                <a:ea typeface="BIZ UDPゴシック" panose="020B0400000000000000" pitchFamily="50" charset="-128"/>
              </a:rPr>
              <a:t>の </a:t>
            </a:r>
            <a:r>
              <a:rPr kumimoji="1" lang="en-US" altLang="ja-JP" sz="1800" kern="0">
                <a:latin typeface="BIZ UDPゴシック" panose="020B0400000000000000" pitchFamily="50" charset="-128"/>
                <a:ea typeface="BIZ UDPゴシック" panose="020B0400000000000000" pitchFamily="50" charset="-128"/>
              </a:rPr>
              <a:t>pptxfilename </a:t>
            </a:r>
            <a:r>
              <a:rPr kumimoji="1" lang="ja-JP" altLang="en-US" sz="1800" kern="0">
                <a:latin typeface="BIZ UDPゴシック" panose="020B0400000000000000" pitchFamily="50" charset="-128"/>
                <a:ea typeface="BIZ UDPゴシック" panose="020B0400000000000000" pitchFamily="50" charset="-128"/>
              </a:rPr>
              <a:t>で指定する。</a:t>
            </a:r>
          </a:p>
        </p:txBody>
      </p:sp>
      <p:sp>
        <p:nvSpPr>
          <p:cNvPr id="42" name="テキスト ボックス 41">
            <a:extLst>
              <a:ext uri="{FF2B5EF4-FFF2-40B4-BE49-F238E27FC236}">
                <a16:creationId xmlns:a16="http://schemas.microsoft.com/office/drawing/2014/main" id="{19A68A0D-DFB0-1988-545C-5B093924F9BD}"/>
              </a:ext>
            </a:extLst>
          </p:cNvPr>
          <p:cNvSpPr txBox="1"/>
          <p:nvPr/>
        </p:nvSpPr>
        <p:spPr bwMode="auto">
          <a:xfrm>
            <a:off x="1098198" y="5444475"/>
            <a:ext cx="41794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pptmerge.stylebase</a:t>
            </a:r>
            <a:r>
              <a:rPr kumimoji="1" lang="en-US" altLang="ja-JP" sz="1800" kern="0">
                <a:latin typeface="BIZ UDPゴシック" panose="020B0400000000000000" pitchFamily="50" charset="-128"/>
                <a:ea typeface="BIZ UDPゴシック" panose="020B0400000000000000" pitchFamily="50" charset="-128"/>
              </a:rPr>
              <a:t> </a:t>
            </a:r>
            <a:r>
              <a:rPr kumimoji="1" lang="ja-JP" altLang="en-US" sz="1800" kern="0">
                <a:latin typeface="BIZ UDPゴシック" panose="020B0400000000000000" pitchFamily="50" charset="-128"/>
                <a:ea typeface="BIZ UDPゴシック" panose="020B0400000000000000" pitchFamily="50" charset="-128"/>
              </a:rPr>
              <a:t>で指定する。</a:t>
            </a:r>
          </a:p>
        </p:txBody>
      </p:sp>
      <p:cxnSp>
        <p:nvCxnSpPr>
          <p:cNvPr id="44" name="直線矢印コネクタ 43">
            <a:extLst>
              <a:ext uri="{FF2B5EF4-FFF2-40B4-BE49-F238E27FC236}">
                <a16:creationId xmlns:a16="http://schemas.microsoft.com/office/drawing/2014/main" id="{EE047ECB-06F6-E83C-1ED1-03982DCE4CF7}"/>
              </a:ext>
            </a:extLst>
          </p:cNvPr>
          <p:cNvCxnSpPr>
            <a:cxnSpLocks/>
          </p:cNvCxnSpPr>
          <p:nvPr/>
        </p:nvCxnSpPr>
        <p:spPr bwMode="auto">
          <a:xfrm flipV="1">
            <a:off x="2136100" y="4394237"/>
            <a:ext cx="0" cy="103327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C628EEB8-1D76-8954-E98B-FC3569587DD0}"/>
              </a:ext>
            </a:extLst>
          </p:cNvPr>
          <p:cNvSpPr txBox="1"/>
          <p:nvPr/>
        </p:nvSpPr>
        <p:spPr bwMode="auto">
          <a:xfrm>
            <a:off x="1098198" y="5850876"/>
            <a:ext cx="66467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コンテンツＳは利用されないが、スタイル確認用のコンテンツを数枚含めておくことを推奨（マージ結果には入りません）。</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CBD04916-AA98-C1CB-828D-86203F3B992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271957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8F3E4AA9-B5E7-3547-CC78-5B60FA457B34}"/>
              </a:ext>
            </a:extLst>
          </p:cNvPr>
          <p:cNvSpPr/>
          <p:nvPr/>
        </p:nvSpPr>
        <p:spPr bwMode="auto">
          <a:xfrm>
            <a:off x="623392" y="1151181"/>
            <a:ext cx="9289032" cy="50861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779184"/>
            <a:ext cx="8699254"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a:t>
            </a:r>
            <a:r>
              <a:rPr lang="ja-JP" altLang="en-US" sz="1400"/>
              <a:t>出力ファイル名</a:t>
            </a:r>
          </a:p>
          <a:p>
            <a:r>
              <a:rPr lang="en-US" altLang="ja-JP" sz="1400"/>
              <a:t>output: </a:t>
            </a:r>
          </a:p>
          <a:p>
            <a:r>
              <a:rPr lang="en-US" altLang="ja-JP" sz="1400"/>
              <a:t>  pptxfilename: stylebase_merged.pptx        # </a:t>
            </a:r>
            <a:r>
              <a:rPr lang="ja-JP" altLang="en-US" sz="1400"/>
              <a:t>マージ後の</a:t>
            </a:r>
            <a:r>
              <a:rPr lang="en-US" altLang="ja-JP" sz="1400"/>
              <a:t>pptx</a:t>
            </a:r>
            <a:r>
              <a:rPr lang="ja-JP" altLang="en-US" sz="1400"/>
              <a:t>ファイルのファイル名</a:t>
            </a:r>
          </a:p>
          <a:p>
            <a:endParaRPr lang="ja-JP" altLang="en-US" sz="1400"/>
          </a:p>
          <a:p>
            <a:r>
              <a:rPr lang="en-US" altLang="ja-JP" sz="1400"/>
              <a:t>pptmerge:</a:t>
            </a:r>
          </a:p>
          <a:p>
            <a:r>
              <a:rPr lang="en-US" altLang="ja-JP" sz="1400"/>
              <a:t>  stylebase: simple_stylebase.pptx           # stylebase </a:t>
            </a:r>
            <a:r>
              <a:rPr lang="ja-JP" altLang="en-US" sz="1400"/>
              <a:t>として使用する </a:t>
            </a:r>
            <a:r>
              <a:rPr lang="en-US" altLang="ja-JP" sz="1400"/>
              <a:t>pptx </a:t>
            </a:r>
            <a:r>
              <a:rPr lang="ja-JP" altLang="en-US" sz="1400"/>
              <a:t>ファイルのパス</a:t>
            </a:r>
          </a:p>
          <a:p>
            <a:endParaRPr lang="ja-JP" altLang="en-US" sz="1400"/>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operation: insertpptx</a:t>
            </a:r>
          </a:p>
          <a:p>
            <a:r>
              <a:rPr lang="en-US" altLang="ja-JP" sz="1400"/>
              <a:t>    pptxfilename: stylebase_guide.pptx</a:t>
            </a:r>
          </a:p>
          <a:p>
            <a:endParaRPr lang="en-US" altLang="ja-JP" sz="1400"/>
          </a:p>
          <a:p>
            <a:r>
              <a:rPr lang="en-US" altLang="ja-JP" sz="1400"/>
              <a:t>  - operation: insertpptx</a:t>
            </a:r>
          </a:p>
          <a:p>
            <a:r>
              <a:rPr lang="en-US" altLang="ja-JP" sz="1400"/>
              <a:t>    pptxfilename: different_style_sample.pptx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flipH="1">
            <a:off x="2535967" y="1644564"/>
            <a:ext cx="823729" cy="120769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2891644" y="1215865"/>
            <a:ext cx="640871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solidFill>
                  <a:srgbClr val="FF0000"/>
                </a:solidFill>
                <a:latin typeface="BIZ UDPゴシック" panose="020B0400000000000000" pitchFamily="50" charset="-128"/>
                <a:ea typeface="BIZ UDPゴシック" panose="020B0400000000000000" pitchFamily="50" charset="-128"/>
              </a:rPr>
              <a:t>stylebase </a:t>
            </a:r>
            <a:r>
              <a:rPr kumimoji="1" lang="ja-JP" altLang="en-US" kern="0">
                <a:solidFill>
                  <a:srgbClr val="FF0000"/>
                </a:solidFill>
                <a:latin typeface="BIZ UDPゴシック" panose="020B0400000000000000" pitchFamily="50" charset="-128"/>
                <a:ea typeface="BIZ UDPゴシック" panose="020B0400000000000000" pitchFamily="50" charset="-128"/>
              </a:rPr>
              <a:t>の指定</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flipV="1">
            <a:off x="3071664" y="4805562"/>
            <a:ext cx="432048" cy="63888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2823999" y="5444446"/>
            <a:ext cx="6334393" cy="738664"/>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r>
              <a:rPr lang="ja-JP" altLang="en-US" sz="1400" kern="0">
                <a:solidFill>
                  <a:srgbClr val="FF0000"/>
                </a:solidFill>
                <a:latin typeface="BIZ UDPゴシック" panose="020B0400000000000000" pitchFamily="50" charset="-128"/>
                <a:ea typeface="BIZ UDPゴシック" panose="020B0400000000000000" pitchFamily="50" charset="-128"/>
              </a:rPr>
              <a:t>スタイルの違うファイルをマージ</a:t>
            </a:r>
            <a:r>
              <a:rPr kumimoji="1" lang="ja-JP" altLang="en-US" sz="1400" kern="0">
                <a:solidFill>
                  <a:srgbClr val="FF0000"/>
                </a:solidFill>
                <a:latin typeface="BIZ UDPゴシック" panose="020B0400000000000000" pitchFamily="50" charset="-128"/>
                <a:ea typeface="BIZ UDPゴシック" panose="020B0400000000000000" pitchFamily="50" charset="-128"/>
              </a:rPr>
              <a:t>する例を最後につけてあります。</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マージ後は</a:t>
            </a:r>
            <a:r>
              <a:rPr kumimoji="1" lang="en-US" altLang="ja-JP" sz="1400" kern="0">
                <a:solidFill>
                  <a:srgbClr val="FF0000"/>
                </a:solidFill>
                <a:latin typeface="BIZ UDPゴシック" panose="020B0400000000000000" pitchFamily="50" charset="-128"/>
                <a:ea typeface="BIZ UDPゴシック" panose="020B0400000000000000" pitchFamily="50" charset="-128"/>
              </a:rPr>
              <a:t>stylebase</a:t>
            </a:r>
            <a:r>
              <a:rPr kumimoji="1" lang="ja-JP" altLang="en-US" sz="1400" kern="0">
                <a:solidFill>
                  <a:srgbClr val="FF0000"/>
                </a:solidFill>
                <a:latin typeface="BIZ UDPゴシック" panose="020B0400000000000000" pitchFamily="50" charset="-128"/>
                <a:ea typeface="BIZ UDPゴシック" panose="020B0400000000000000" pitchFamily="50" charset="-128"/>
              </a:rPr>
              <a:t>が強制適用されるため、原本ファイルと違う見え方になります。</a:t>
            </a:r>
          </a:p>
        </p:txBody>
      </p:sp>
      <p:sp>
        <p:nvSpPr>
          <p:cNvPr id="4" name="正方形/長方形 3">
            <a:extLst>
              <a:ext uri="{FF2B5EF4-FFF2-40B4-BE49-F238E27FC236}">
                <a16:creationId xmlns:a16="http://schemas.microsoft.com/office/drawing/2014/main" id="{5A09E36D-4A2F-1421-6EEE-1DE7A5ED7622}"/>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179564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xportrange">
            <a:extLst>
              <a:ext uri="{FF2B5EF4-FFF2-40B4-BE49-F238E27FC236}">
                <a16:creationId xmlns:a16="http://schemas.microsoft.com/office/drawing/2014/main" id="{81D129EC-19F2-C94A-5DFC-1C11487A3046}"/>
              </a:ext>
            </a:extLst>
          </p:cNvPr>
          <p:cNvSpPr/>
          <p:nvPr/>
        </p:nvSpPr>
        <p:spPr bwMode="auto">
          <a:xfrm>
            <a:off x="623391" y="2955287"/>
            <a:ext cx="10945209" cy="328202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a:t>
            </a:r>
            <a:r>
              <a:rPr kumimoji="1" lang="ja-JP" altLang="en-US"/>
              <a:t>の違うサンプル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7752184" y="195005"/>
            <a:ext cx="4165345"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different_style_sample.pptx</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3B34C001-55FF-8E35-E106-3D8A5118B6F6}"/>
              </a:ext>
            </a:extLst>
          </p:cNvPr>
          <p:cNvSpPr txBox="1"/>
          <p:nvPr/>
        </p:nvSpPr>
        <p:spPr bwMode="auto">
          <a:xfrm>
            <a:off x="623392" y="1556792"/>
            <a:ext cx="81749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このファイルはスタイルを通常と変えてあります。</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マージ後は上部のスタイルが変わります。</a:t>
            </a:r>
          </a:p>
        </p:txBody>
      </p:sp>
      <p:cxnSp>
        <p:nvCxnSpPr>
          <p:cNvPr id="8" name="直線矢印コネクタ 7">
            <a:extLst>
              <a:ext uri="{FF2B5EF4-FFF2-40B4-BE49-F238E27FC236}">
                <a16:creationId xmlns:a16="http://schemas.microsoft.com/office/drawing/2014/main" id="{9AA72E20-AF52-2782-7A3E-599E195B3D35}"/>
              </a:ext>
            </a:extLst>
          </p:cNvPr>
          <p:cNvCxnSpPr/>
          <p:nvPr/>
        </p:nvCxnSpPr>
        <p:spPr bwMode="auto">
          <a:xfrm flipV="1">
            <a:off x="1415480" y="980728"/>
            <a:ext cx="0" cy="576064"/>
          </a:xfrm>
          <a:prstGeom prst="straightConnector1">
            <a:avLst/>
          </a:prstGeom>
          <a:solidFill>
            <a:srgbClr val="CCFFFF"/>
          </a:solidFill>
          <a:ln w="57150" cap="flat" cmpd="sng" algn="ctr">
            <a:solidFill>
              <a:schemeClr val="accent2"/>
            </a:solidFill>
            <a:prstDash val="solid"/>
            <a:round/>
            <a:headEnd type="none" w="med" len="med"/>
            <a:tailEnd type="triangle"/>
          </a:ln>
          <a:effectLst/>
        </p:spPr>
      </p:cxnSp>
      <p:pic>
        <p:nvPicPr>
          <p:cNvPr id="4" name="図 3">
            <a:extLst>
              <a:ext uri="{FF2B5EF4-FFF2-40B4-BE49-F238E27FC236}">
                <a16:creationId xmlns:a16="http://schemas.microsoft.com/office/drawing/2014/main" id="{16857B76-2D9A-7E59-5BAF-A4D8BC3C489F}"/>
              </a:ext>
            </a:extLst>
          </p:cNvPr>
          <p:cNvPicPr>
            <a:picLocks noChangeAspect="1"/>
          </p:cNvPicPr>
          <p:nvPr/>
        </p:nvPicPr>
        <p:blipFill>
          <a:blip r:embed="rId3"/>
          <a:stretch>
            <a:fillRect/>
          </a:stretch>
        </p:blipFill>
        <p:spPr>
          <a:xfrm>
            <a:off x="1018182" y="3678201"/>
            <a:ext cx="4079817" cy="2294897"/>
          </a:xfrm>
          <a:prstGeom prst="rect">
            <a:avLst/>
          </a:prstGeom>
          <a:ln>
            <a:solidFill>
              <a:schemeClr val="tx1">
                <a:lumMod val="75000"/>
                <a:lumOff val="25000"/>
              </a:schemeClr>
            </a:solidFill>
          </a:ln>
        </p:spPr>
      </p:pic>
      <p:pic>
        <p:nvPicPr>
          <p:cNvPr id="6" name="図 5">
            <a:extLst>
              <a:ext uri="{FF2B5EF4-FFF2-40B4-BE49-F238E27FC236}">
                <a16:creationId xmlns:a16="http://schemas.microsoft.com/office/drawing/2014/main" id="{A96E033C-294C-3F14-839E-BC92582C2767}"/>
              </a:ext>
            </a:extLst>
          </p:cNvPr>
          <p:cNvPicPr>
            <a:picLocks noChangeAspect="1"/>
          </p:cNvPicPr>
          <p:nvPr/>
        </p:nvPicPr>
        <p:blipFill>
          <a:blip r:embed="rId4"/>
          <a:stretch>
            <a:fillRect/>
          </a:stretch>
        </p:blipFill>
        <p:spPr>
          <a:xfrm>
            <a:off x="7392144" y="3678200"/>
            <a:ext cx="4079819" cy="2294897"/>
          </a:xfrm>
          <a:prstGeom prst="rect">
            <a:avLst/>
          </a:prstGeom>
          <a:ln>
            <a:solidFill>
              <a:schemeClr val="tx1">
                <a:lumMod val="75000"/>
                <a:lumOff val="25000"/>
              </a:schemeClr>
            </a:solidFill>
          </a:ln>
        </p:spPr>
      </p:pic>
      <p:sp>
        <p:nvSpPr>
          <p:cNvPr id="7" name="テキスト ボックス 6">
            <a:extLst>
              <a:ext uri="{FF2B5EF4-FFF2-40B4-BE49-F238E27FC236}">
                <a16:creationId xmlns:a16="http://schemas.microsoft.com/office/drawing/2014/main" id="{8EA113AD-532D-1DDA-CF10-D4CC1C1EEECB}"/>
              </a:ext>
            </a:extLst>
          </p:cNvPr>
          <p:cNvSpPr txBox="1"/>
          <p:nvPr/>
        </p:nvSpPr>
        <p:spPr bwMode="auto">
          <a:xfrm>
            <a:off x="1738262"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原本ファイルのスタイル</a:t>
            </a:r>
          </a:p>
        </p:txBody>
      </p:sp>
      <p:sp>
        <p:nvSpPr>
          <p:cNvPr id="9" name="テキスト ボックス 8">
            <a:extLst>
              <a:ext uri="{FF2B5EF4-FFF2-40B4-BE49-F238E27FC236}">
                <a16:creationId xmlns:a16="http://schemas.microsoft.com/office/drawing/2014/main" id="{42A28DB1-1B9D-54A7-8848-0E6E0431D2C9}"/>
              </a:ext>
            </a:extLst>
          </p:cNvPr>
          <p:cNvSpPr txBox="1"/>
          <p:nvPr/>
        </p:nvSpPr>
        <p:spPr bwMode="auto">
          <a:xfrm>
            <a:off x="8099905"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マージ後のスタイル</a:t>
            </a:r>
          </a:p>
        </p:txBody>
      </p:sp>
      <p:cxnSp>
        <p:nvCxnSpPr>
          <p:cNvPr id="10" name="直線矢印コネクタ 9">
            <a:extLst>
              <a:ext uri="{FF2B5EF4-FFF2-40B4-BE49-F238E27FC236}">
                <a16:creationId xmlns:a16="http://schemas.microsoft.com/office/drawing/2014/main" id="{B5E7FBAE-29D4-BC1A-1C14-177376CB5F6F}"/>
              </a:ext>
            </a:extLst>
          </p:cNvPr>
          <p:cNvCxnSpPr/>
          <p:nvPr/>
        </p:nvCxnSpPr>
        <p:spPr bwMode="auto">
          <a:xfrm>
            <a:off x="5438583" y="4491774"/>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1" name="テキスト ボックス 10">
            <a:extLst>
              <a:ext uri="{FF2B5EF4-FFF2-40B4-BE49-F238E27FC236}">
                <a16:creationId xmlns:a16="http://schemas.microsoft.com/office/drawing/2014/main" id="{3974F1AA-8068-7130-16B5-3F9FFDFDC9C8}"/>
              </a:ext>
            </a:extLst>
          </p:cNvPr>
          <p:cNvSpPr txBox="1"/>
          <p:nvPr/>
        </p:nvSpPr>
        <p:spPr bwMode="auto">
          <a:xfrm>
            <a:off x="5553526" y="4005064"/>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6833214-6ED1-BD6C-827E-1DF3465613DF}"/>
              </a:ext>
            </a:extLst>
          </p:cNvPr>
          <p:cNvSpPr txBox="1"/>
          <p:nvPr/>
        </p:nvSpPr>
        <p:spPr bwMode="auto">
          <a:xfrm>
            <a:off x="5447928" y="4581128"/>
            <a:ext cx="1774274"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 </a:t>
            </a:r>
            <a:r>
              <a:rPr kumimoji="1" lang="ja-JP" altLang="en-US" sz="1800" kern="0">
                <a:latin typeface="BIZ UDPゴシック" panose="020B0400000000000000" pitchFamily="50" charset="-128"/>
                <a:ea typeface="BIZ UDPゴシック" panose="020B0400000000000000" pitchFamily="50" charset="-128"/>
              </a:rPr>
              <a:t>で指定されたファイルのスタイルに変更される</a:t>
            </a:r>
          </a:p>
        </p:txBody>
      </p:sp>
    </p:spTree>
    <p:extLst>
      <p:ext uri="{BB962C8B-B14F-4D97-AF65-F5344CB8AC3E}">
        <p14:creationId xmlns:p14="http://schemas.microsoft.com/office/powerpoint/2010/main" val="996449222"/>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1412</Words>
  <Application>Microsoft Office PowerPoint</Application>
  <PresentationFormat>ワイド画面</PresentationFormat>
  <Paragraphs>269</Paragraphs>
  <Slides>5</Slides>
  <Notes>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vt:i4>
      </vt:variant>
    </vt:vector>
  </HeadingPairs>
  <TitlesOfParts>
    <vt:vector size="11" baseType="lpstr">
      <vt:lpstr>BIZ UDPゴシック</vt:lpstr>
      <vt:lpstr>FOT-UD丸ゴ_ラージ Pr6 M</vt:lpstr>
      <vt:lpstr>Arial</vt:lpstr>
      <vt:lpstr>Garamond</vt:lpstr>
      <vt:lpstr>Wingdings</vt:lpstr>
      <vt:lpstr>Edge</vt:lpstr>
      <vt:lpstr>stylebaseを別に指定する機能</vt:lpstr>
      <vt:lpstr>なぜstylebaseを別途指定すべき？</vt:lpstr>
      <vt:lpstr>stylebaseを別途指定するしくみ</vt:lpstr>
      <vt:lpstr>結合指示書サンプル</vt:lpstr>
      <vt:lpstr>styleの違うサンプル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3676</cp:revision>
  <dcterms:modified xsi:type="dcterms:W3CDTF">2026-06-04T08:35:02Z</dcterms:modified>
</cp:coreProperties>
</file>