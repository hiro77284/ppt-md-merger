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24"/>
  </p:notesMasterIdLst>
  <p:sldIdLst>
    <p:sldId id="1976" r:id="rId2"/>
    <p:sldId id="1797" r:id="rId3"/>
    <p:sldId id="1977" r:id="rId4"/>
    <p:sldId id="1795" r:id="rId5"/>
    <p:sldId id="1783" r:id="rId6"/>
    <p:sldId id="1784" r:id="rId7"/>
    <p:sldId id="1782" r:id="rId8"/>
    <p:sldId id="1978" r:id="rId9"/>
    <p:sldId id="1780" r:id="rId10"/>
    <p:sldId id="1786" r:id="rId11"/>
    <p:sldId id="1787" r:id="rId12"/>
    <p:sldId id="1789" r:id="rId13"/>
    <p:sldId id="1794" r:id="rId14"/>
    <p:sldId id="1979" r:id="rId15"/>
    <p:sldId id="1796" r:id="rId16"/>
    <p:sldId id="1980" r:id="rId17"/>
    <p:sldId id="1785" r:id="rId18"/>
    <p:sldId id="1791" r:id="rId19"/>
    <p:sldId id="1792" r:id="rId20"/>
    <p:sldId id="1793" r:id="rId21"/>
    <p:sldId id="1798" r:id="rId22"/>
    <p:sldId id="1790" r:id="rId23"/>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347"/>
    <a:srgbClr val="FF9933"/>
    <a:srgbClr val="CC66FF"/>
    <a:srgbClr val="E34234"/>
    <a:srgbClr val="292929"/>
    <a:srgbClr val="FF7F50"/>
    <a:srgbClr val="FF3300"/>
    <a:srgbClr val="C8EED0"/>
    <a:srgbClr val="5E5E5E"/>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3345" autoAdjust="0"/>
  </p:normalViewPr>
  <p:slideViewPr>
    <p:cSldViewPr>
      <p:cViewPr varScale="1">
        <p:scale>
          <a:sx n="77" d="100"/>
          <a:sy n="77" d="100"/>
        </p:scale>
        <p:origin x="1722"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4004900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../extracted/figures/ppt_md_merger_overview_slide1_fig.png</a:t>
            </a:r>
          </a:p>
          <a:p>
            <a:endParaRPr/>
          </a:p>
          <a:p>
            <a:r>
              <a:t>===BLOCK===</a:t>
            </a:r>
          </a:p>
          <a:p>
            <a:r>
              <a:t>{{BLOCK:MD:LONG}}</a:t>
            </a:r>
          </a:p>
          <a:p>
            <a:endParaRPr/>
          </a:p>
          <a:p>
            <a:r>
              <a:t>export-note: ../extracted/ppt_md_merger_overview_slide1_md.md</a:t>
            </a:r>
          </a:p>
          <a:p>
            <a:r>
              <a:t>{{#id:section:ppt_md_merger_overview:slide1}}</a:t>
            </a:r>
          </a:p>
          <a:p>
            <a:r>
              <a:t>## PPT &amp; MD merger とは？</a:t>
            </a:r>
          </a:p>
          <a:p>
            <a:endParaRPr/>
          </a:p>
          <a:p>
            <a:r>
              <a:t>PPT &amp; MD merger は、「pptxファイルを文書部品として扱い、多様な形式の文書を生成できるジェネレーター」 です。　（ツールそのものは Python スクリプトであり、Windows + PowerPoint 環境で動作します）</a:t>
            </a:r>
          </a:p>
          <a:p>
            <a:endParaRPr/>
          </a:p>
          <a:p>
            <a:r>
              <a:t>```{=latex}</a:t>
            </a:r>
          </a:p>
          <a:p>
            <a:r>
              <a:t>\begin{center}</a:t>
            </a:r>
          </a:p>
          <a:p>
            <a:r>
              <a:t>```</a:t>
            </a:r>
          </a:p>
          <a:p>
            <a:endParaRPr/>
          </a:p>
          <a:p>
            <a:r>
              <a:t>![](figures/ppt_md_merger_overview_slide1_fig.png){ width=95% }</a:t>
            </a:r>
          </a:p>
          <a:p>
            <a:endParaRPr/>
          </a:p>
          <a:p>
            <a:r>
              <a:t>```{=latex}</a:t>
            </a:r>
          </a:p>
          <a:p>
            <a:r>
              <a:t>\end{center}</a:t>
            </a:r>
          </a:p>
          <a:p>
            <a:r>
              <a:t>```</a:t>
            </a:r>
          </a:p>
          <a:p>
            <a:endParaRPr/>
          </a:p>
          <a:p>
            <a:r>
              <a:t>何はともあれ使ってみたい、という場合は　[5) Requirements &amp; Quick Start](#5-requirements--quick-start) をご覧ください。システム要件、インストール方法、Quick Start ガイド、11種類のサンプルデータの案内があります。</a:t>
            </a:r>
          </a:p>
          <a:p>
            <a:endParaRPr/>
          </a:p>
          <a:p>
            <a:r>
              <a:t>何やら変わったコンセプトっぽいから、そこからじっくり知りたいという場合はこのまま次の [2) 大きな PowerPointファイ ルを作る時の悩みとは？](#2-%E5%A4%A7%E3%81%8D%E3%81%AApowerpoint%E3%83%95%E3%82%A1%E3%82%A4%E3%83%AB%E3%82%92%E4%BD%9C%E3%82%8B%E6%99%82%E3%81%AE%E6%82%A9%E3%81%BF%E3%81%A8%E3%81%AF) へ進んでください。</a:t>
            </a:r>
          </a:p>
          <a:p>
            <a:endParaRPr/>
          </a:p>
          <a:p>
            <a:r>
              <a:t>何ができるツールなのか詳細に知りたい場合は[5.4) Examples](#54-examples)から機能別詳細解説に飛べます。</a:t>
            </a:r>
          </a:p>
          <a:p>
            <a:endParaRPr/>
          </a:p>
          <a:p>
            <a:r>
              <a:t>ただし、現時点での機能解説は PPTX をマージ生成する例のみで、MD,PDF,HTML 等の他形式文書を生成する例の解説は作っておりません。機能としては動いていますが設定が複雑なため、ドキュメントを書くのに少し時間がかかる見込みです。（[仕様書](/docs/md_merge_spec.md)はありますが、これを読んで使い方が分かるかというと難しいです）</a:t>
            </a:r>
          </a:p>
          <a:p>
            <a:endParaRP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2885972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3404251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../extracted/figures/ppt_md_merger_overview_slide2_fig.png</a:t>
            </a:r>
          </a:p>
          <a:p>
            <a:endParaRPr/>
          </a:p>
          <a:p>
            <a:r>
              <a:t>===BLOCK===</a:t>
            </a:r>
          </a:p>
          <a:p>
            <a:r>
              <a:t>{{BLOCK:MD:LONG}}</a:t>
            </a:r>
          </a:p>
          <a:p>
            <a:endParaRPr/>
          </a:p>
          <a:p>
            <a:r>
              <a:t>export-note: ../extracted/ppt_md_merger_overview_slide2_md.md</a:t>
            </a:r>
          </a:p>
          <a:p>
            <a:r>
              <a:t>{{#id:section:ppt_md_merger_overview:slide2}}</a:t>
            </a:r>
          </a:p>
          <a:p>
            <a:r>
              <a:t>## どんな人のためのツール？</a:t>
            </a:r>
          </a:p>
          <a:p>
            <a:endParaRPr/>
          </a:p>
          <a:p>
            <a:r>
              <a:t>このツールは、研修用テキストや業務マニュアルなど、「仕事を教える、手順を決める」ための資料を PowerPoint で大量に作る企業/個人のためのツールです。</a:t>
            </a:r>
          </a:p>
          <a:p>
            <a:endParaRPr/>
          </a:p>
          <a:p>
            <a:r>
              <a:t>その種のテキストを作る時によくある悩みとはなんでしょう？</a:t>
            </a:r>
          </a:p>
          <a:p>
            <a:endParaRPr/>
          </a:p>
          <a:p>
            <a:r>
              <a:t>```{=latex}</a:t>
            </a:r>
          </a:p>
          <a:p>
            <a:r>
              <a:t>\begin{center}</a:t>
            </a:r>
          </a:p>
          <a:p>
            <a:r>
              <a:t>```</a:t>
            </a:r>
          </a:p>
          <a:p>
            <a:endParaRPr/>
          </a:p>
          <a:p>
            <a:r>
              <a:t>![](figures/ppt_md_merger_overview_slide2_fig.png){ width=95% }</a:t>
            </a:r>
          </a:p>
          <a:p>
            <a:endParaRPr/>
          </a:p>
          <a:p>
            <a:r>
              <a:t>```{=latex}</a:t>
            </a:r>
          </a:p>
          <a:p>
            <a:r>
              <a:t>\end{center}</a:t>
            </a:r>
          </a:p>
          <a:p>
            <a:r>
              <a:t>```</a:t>
            </a:r>
          </a:p>
          <a:p>
            <a:endParaRPr/>
          </a:p>
          <a:p>
            <a:r>
              <a:t>たとえば、文書のバリエーションが増えすぎて収集がつかなくなる。　章・節番号をつけるのが面倒くさい。　講師用と受講者用の2種類を作らなきゃいけないのが面倒くさい！</a:t>
            </a:r>
          </a:p>
          <a:p>
            <a:endParaRPr/>
          </a:p>
          <a:p>
            <a:r>
              <a:t>こんな問題を解決するために作ったツールです。</a:t>
            </a:r>
          </a:p>
          <a:p>
            <a:endParaRPr/>
          </a:p>
          <a:p>
            <a:r>
              <a:t>そのために、「pptxファイルを文書部品として扱い、必要に応じて結合する」 というコンセプトを採用したものです。まずはその背景から詳しくお話ししましょう。</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3209804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../extracted/figures/ppt_md_merger_overview_slide3_fig.png</a:t>
            </a:r>
          </a:p>
          <a:p>
            <a:endParaRPr/>
          </a:p>
          <a:p>
            <a:r>
              <a:t>===BLOCK===</a:t>
            </a:r>
          </a:p>
          <a:p>
            <a:r>
              <a:t>{{BLOCK:MD:LONG}}</a:t>
            </a:r>
          </a:p>
          <a:p>
            <a:endParaRPr/>
          </a:p>
          <a:p>
            <a:r>
              <a:t>export-note: ../extracted/ppt_md_merger_overview_slide3_md.md</a:t>
            </a:r>
          </a:p>
          <a:p>
            <a:r>
              <a:t>{{#id:section:ppt_md_merger_overview:slide3}}</a:t>
            </a:r>
          </a:p>
          <a:p>
            <a:r>
              <a:t>## 悩み１： ちょっとずつ違うPowerPointのコピーが増殖</a:t>
            </a:r>
          </a:p>
          <a:p>
            <a:endParaRPr/>
          </a:p>
          <a:p>
            <a:r>
              <a:t>PowerPoint で研修用のテキストを作るときは、こんな悩みがよくあります。（研修用テキストに限りませんが）</a:t>
            </a:r>
          </a:p>
          <a:p>
            <a:endParaRPr/>
          </a:p>
          <a:p>
            <a:r>
              <a:t>Ａ社向けに作ったテキストをコピー＋ちょっと修正してＢ社向けを作り、それをまたコピー＋ちょっと修正してＣ社向けを作り、・・・・ということを繰り返すわけです。すると、ちょっとずつ違うバージョンが無数に増えてしまい、収拾がつかなくなってしまいます。</a:t>
            </a:r>
          </a:p>
          <a:p>
            <a:endParaRPr/>
          </a:p>
          <a:p>
            <a:r>
              <a:t>「ちょっと修正」 の中にはそのまま永続的に使うものもあれば、そのときだけの臨時の修正もあり、それを区別しておかないと **「あれ？　以前、ここのところ直したはずだったんだけど・・・」**　という問題が起きてしまいます。</a:t>
            </a:r>
          </a:p>
          <a:p>
            <a:endParaRPr/>
          </a:p>
          <a:p>
            <a:r>
              <a:t>```{=latex}</a:t>
            </a:r>
          </a:p>
          <a:p>
            <a:r>
              <a:t>\begin{center}</a:t>
            </a:r>
          </a:p>
          <a:p>
            <a:r>
              <a:t>```</a:t>
            </a:r>
          </a:p>
          <a:p>
            <a:endParaRPr/>
          </a:p>
          <a:p>
            <a:r>
              <a:t>![](figures/ppt_md_merger_overview_slide3_fig.png){ width=90% }</a:t>
            </a:r>
          </a:p>
          <a:p>
            <a:endParaRPr/>
          </a:p>
          <a:p>
            <a:r>
              <a:t>```{=latex}</a:t>
            </a:r>
          </a:p>
          <a:p>
            <a:r>
              <a:t>\end{center}</a:t>
            </a:r>
          </a:p>
          <a:p>
            <a:r>
              <a:t>```</a:t>
            </a:r>
          </a:p>
          <a:p>
            <a:endParaRPr/>
          </a:p>
          <a:p>
            <a:r>
              <a:t>結局、コピーが増殖すると、どれをマスター原本にしたら良いのか分かりません。</a:t>
            </a:r>
          </a:p>
          <a:p>
            <a:endParaRPr/>
          </a:p>
          <a:p>
            <a:r>
              <a:t>さらに、企業研修は同じ講座を定期的に行うことが多いので、「Ａ、Ｂ、Ｃ社向け」 をそれぞれメンテナンスしなければいけないのですが、すべてコピーですから、同じ修正をすべてに行う必要があり、とても面倒です。</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350651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../extracted/figures/ppt_md_merger_overview_slide4_fig.png</a:t>
            </a:r>
          </a:p>
          <a:p>
            <a:endParaRPr/>
          </a:p>
          <a:p>
            <a:r>
              <a:t>===BLOCK===</a:t>
            </a:r>
          </a:p>
          <a:p>
            <a:r>
              <a:t>{{BLOCK:MD:LONG}}</a:t>
            </a:r>
          </a:p>
          <a:p>
            <a:endParaRPr/>
          </a:p>
          <a:p>
            <a:r>
              <a:t>export-note: ../extracted/ppt_md_merger_overview_slide4_md.md</a:t>
            </a:r>
          </a:p>
          <a:p>
            <a:r>
              <a:t>{{#id:section:ppt_md_merger_overview:slide4}}</a:t>
            </a:r>
          </a:p>
          <a:p>
            <a:r>
              <a:t>## 悩み２： 章・節番号をつけるのが面倒くさい</a:t>
            </a:r>
          </a:p>
          <a:p>
            <a:endParaRPr/>
          </a:p>
          <a:p>
            <a:r>
              <a:t>また別な悩みもあります。研修用テキストはページ数が多いので章・節番号をつけたくなるのですが、PowerPointにはWordのような自動付番機能がないので、手作業でやらなければなりません。</a:t>
            </a:r>
          </a:p>
          <a:p>
            <a:endParaRPr/>
          </a:p>
          <a:p>
            <a:r>
              <a:t>```{=latex}</a:t>
            </a:r>
          </a:p>
          <a:p>
            <a:r>
              <a:t>\begin{center}</a:t>
            </a:r>
          </a:p>
          <a:p>
            <a:r>
              <a:t>```</a:t>
            </a:r>
          </a:p>
          <a:p>
            <a:endParaRPr/>
          </a:p>
          <a:p>
            <a:r>
              <a:t>![](figures/ppt_md_merger_overview_slide4_fig.png){ width=95% }</a:t>
            </a:r>
          </a:p>
          <a:p>
            <a:endParaRPr/>
          </a:p>
          <a:p>
            <a:r>
              <a:t>```{=latex}</a:t>
            </a:r>
          </a:p>
          <a:p>
            <a:r>
              <a:t>\end{center}</a:t>
            </a:r>
          </a:p>
          <a:p>
            <a:r>
              <a:t>```</a:t>
            </a:r>
          </a:p>
          <a:p>
            <a:endParaRPr/>
          </a:p>
          <a:p>
            <a:r>
              <a:t>プレゼン用の資料なら20ページ程度で済むことが多いですが、研修テキストでは100ページを超えることもよくあります。ページの追加/削除があるたびに手動で付番しなおすのは大変な手間がかかります。</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4289023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../extracted/figures/ppt_md_merger_overview_slide5_fig.png</a:t>
            </a:r>
          </a:p>
          <a:p>
            <a:endParaRPr/>
          </a:p>
          <a:p>
            <a:r>
              <a:t>===BLOCK===</a:t>
            </a:r>
          </a:p>
          <a:p>
            <a:r>
              <a:t>{{BLOCK:MD:LONG}}</a:t>
            </a:r>
          </a:p>
          <a:p>
            <a:endParaRPr/>
          </a:p>
          <a:p>
            <a:r>
              <a:t>export-note: ../extracted/ppt_md_merger_overview_slide5_md.md</a:t>
            </a:r>
          </a:p>
          <a:p>
            <a:r>
              <a:t>{{#id:section:ppt_md_merger_overview:slide5}}</a:t>
            </a:r>
          </a:p>
          <a:p>
            <a:r>
              <a:t>## なんとかこの悩みを解決できないか？</a:t>
            </a:r>
          </a:p>
          <a:p>
            <a:endParaRPr/>
          </a:p>
          <a:p>
            <a:r>
              <a:t>つまり悩みはおおまかに</a:t>
            </a:r>
          </a:p>
          <a:p>
            <a:endParaRPr/>
          </a:p>
          <a:p>
            <a:r>
              <a:t>1. コピー増殖問題</a:t>
            </a:r>
          </a:p>
          <a:p>
            <a:r>
              <a:t>1. 章節番号問題</a:t>
            </a:r>
          </a:p>
          <a:p>
            <a:endParaRPr/>
          </a:p>
          <a:p>
            <a:r>
              <a:t>の2つです。なんとかこれを解決できないか？　と考えて、</a:t>
            </a:r>
          </a:p>
          <a:p>
            <a:endParaRPr/>
          </a:p>
          <a:p>
            <a:r>
              <a:t>```{=latex}</a:t>
            </a:r>
          </a:p>
          <a:p>
            <a:r>
              <a:t>\begin{center}</a:t>
            </a:r>
          </a:p>
          <a:p>
            <a:r>
              <a:t>```</a:t>
            </a:r>
          </a:p>
          <a:p>
            <a:endParaRPr/>
          </a:p>
          <a:p>
            <a:r>
              <a:t>![](figures/ppt_md_merger_overview_slide5_fig.png){ width=80% }</a:t>
            </a:r>
          </a:p>
          <a:p>
            <a:endParaRPr/>
          </a:p>
          <a:p>
            <a:r>
              <a:t>```{=latex}</a:t>
            </a:r>
          </a:p>
          <a:p>
            <a:r>
              <a:t>\end{center}</a:t>
            </a:r>
          </a:p>
          <a:p>
            <a:r>
              <a:t>```</a:t>
            </a:r>
          </a:p>
          <a:p>
            <a:endParaRPr/>
          </a:p>
          <a:p>
            <a:r>
              <a:t>PowerPoint 部品マージツール、 PPT &amp; MD merger を作りました！</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6</a:t>
            </a:fld>
            <a:endParaRPr kumimoji="1" lang="ja-JP" altLang="en-US"/>
          </a:p>
        </p:txBody>
      </p:sp>
    </p:spTree>
    <p:extLst>
      <p:ext uri="{BB962C8B-B14F-4D97-AF65-F5344CB8AC3E}">
        <p14:creationId xmlns:p14="http://schemas.microsoft.com/office/powerpoint/2010/main" val="1057408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7</a:t>
            </a:fld>
            <a:endParaRPr kumimoji="1" lang="ja-JP" altLang="en-US"/>
          </a:p>
        </p:txBody>
      </p:sp>
    </p:spTree>
    <p:extLst>
      <p:ext uri="{BB962C8B-B14F-4D97-AF65-F5344CB8AC3E}">
        <p14:creationId xmlns:p14="http://schemas.microsoft.com/office/powerpoint/2010/main" val="2915212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../extracted/figures/ppt_md_merger_overview_slide6_fig.png</a:t>
            </a:r>
          </a:p>
          <a:p>
            <a:endParaRPr/>
          </a:p>
          <a:p>
            <a:r>
              <a:t>===BLOCK===</a:t>
            </a:r>
          </a:p>
          <a:p>
            <a:r>
              <a:t>{{BLOCK:MD:LONG}}</a:t>
            </a:r>
          </a:p>
          <a:p>
            <a:endParaRPr/>
          </a:p>
          <a:p>
            <a:r>
              <a:t>export-note: ../extracted/ppt_md_merger_overview_slide6_md.md</a:t>
            </a:r>
          </a:p>
          <a:p>
            <a:r>
              <a:t>{{#id:section:ppt_md_merger_overview:slide6}}</a:t>
            </a:r>
          </a:p>
          <a:p>
            <a:r>
              <a:t>## まずは問題の構造を整理すると・・・</a:t>
            </a:r>
          </a:p>
          <a:p>
            <a:endParaRPr/>
          </a:p>
          <a:p>
            <a:r>
              <a:t>いったん、問題の構造を整理しましょう。</a:t>
            </a:r>
          </a:p>
          <a:p>
            <a:endParaRPr/>
          </a:p>
          <a:p>
            <a:r>
              <a:t>大きなPowerPointファイルも実際は小さな部品の集合体です。</a:t>
            </a:r>
          </a:p>
          <a:p>
            <a:endParaRPr/>
          </a:p>
          <a:p>
            <a:r>
              <a:t>```{=latex}</a:t>
            </a:r>
          </a:p>
          <a:p>
            <a:r>
              <a:t>\begin{center}</a:t>
            </a:r>
          </a:p>
          <a:p>
            <a:r>
              <a:t>```</a:t>
            </a:r>
          </a:p>
          <a:p>
            <a:endParaRPr/>
          </a:p>
          <a:p>
            <a:r>
              <a:t>![](figures/ppt_md_merger_overview_slide6_fig.png){ width=80% }</a:t>
            </a:r>
          </a:p>
          <a:p>
            <a:endParaRPr/>
          </a:p>
          <a:p>
            <a:r>
              <a:t>```{=latex}</a:t>
            </a:r>
          </a:p>
          <a:p>
            <a:r>
              <a:t>\end{center}</a:t>
            </a:r>
          </a:p>
          <a:p>
            <a:r>
              <a:t>```</a:t>
            </a:r>
          </a:p>
          <a:p>
            <a:endParaRPr/>
          </a:p>
          <a:p>
            <a:r>
              <a:t>たとえばＡ社向け、Ｂ、Ｃ社向けと3種類の .pptx があるとして、その中には３社共通の部品もあれば２社共通の部品、各社専用の部品もあります。その組合せが各社違うということです。</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8</a:t>
            </a:fld>
            <a:endParaRPr kumimoji="1" lang="ja-JP" altLang="en-US"/>
          </a:p>
        </p:txBody>
      </p:sp>
    </p:spTree>
    <p:extLst>
      <p:ext uri="{BB962C8B-B14F-4D97-AF65-F5344CB8AC3E}">
        <p14:creationId xmlns:p14="http://schemas.microsoft.com/office/powerpoint/2010/main" val="4201942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../extracted/figures/ppt_md_merger_overview_slide7_fig.png</a:t>
            </a:r>
          </a:p>
          <a:p>
            <a:endParaRPr/>
          </a:p>
          <a:p>
            <a:r>
              <a:t>===BLOCK===</a:t>
            </a:r>
          </a:p>
          <a:p>
            <a:r>
              <a:t>{{BLOCK:MD:LONG}}</a:t>
            </a:r>
          </a:p>
          <a:p>
            <a:endParaRPr/>
          </a:p>
          <a:p>
            <a:r>
              <a:t>export-note: ../extracted/ppt_md_merger_overview_slide7_md.md</a:t>
            </a:r>
          </a:p>
          <a:p>
            <a:r>
              <a:t>{{#id:section:ppt_md_merger_overview:slide7}}</a:t>
            </a:r>
          </a:p>
          <a:p>
            <a:r>
              <a:t>## 部品を組み合わせて完成版を構成する仕組みを作る</a:t>
            </a:r>
          </a:p>
          <a:p>
            <a:endParaRPr/>
          </a:p>
          <a:p>
            <a:r>
              <a:t>そこで、部品の組み合わせを自動的に結合（マージ）して完成版を作れるしくみがあれば良さそうです。</a:t>
            </a:r>
          </a:p>
          <a:p>
            <a:endParaRPr/>
          </a:p>
          <a:p>
            <a:r>
              <a:t>pptx部品単位でマスターを管理し、更新は必ずマスターに対して行うようにします。そうすれば 「○○社向け構成」 が何百種類あってもマージするだけで完成版ができるので、自動的に各社向け完成版に反映可能です。</a:t>
            </a:r>
          </a:p>
          <a:p>
            <a:endParaRPr/>
          </a:p>
          <a:p>
            <a:r>
              <a:t>```{=latex}</a:t>
            </a:r>
          </a:p>
          <a:p>
            <a:r>
              <a:t>\begin{center}</a:t>
            </a:r>
          </a:p>
          <a:p>
            <a:r>
              <a:t>```</a:t>
            </a:r>
          </a:p>
          <a:p>
            <a:endParaRPr/>
          </a:p>
          <a:p>
            <a:r>
              <a:t>![](figures/ppt_md_merger_overview_slide7_fig.png){ width=95% }</a:t>
            </a:r>
          </a:p>
          <a:p>
            <a:endParaRPr/>
          </a:p>
          <a:p>
            <a:r>
              <a:t>```{=latex}</a:t>
            </a:r>
          </a:p>
          <a:p>
            <a:r>
              <a:t>\end{center}</a:t>
            </a:r>
          </a:p>
          <a:p>
            <a:r>
              <a:t>```</a:t>
            </a:r>
          </a:p>
          <a:p>
            <a:endParaRPr/>
          </a:p>
          <a:p>
            <a:r>
              <a:t>したがって、原則としてマージ後は編集しません。（その場限りで捨てるような語句軽微な修正はしてもかまいませんが）</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9</a:t>
            </a:fld>
            <a:endParaRPr kumimoji="1" lang="ja-JP" altLang="en-US"/>
          </a:p>
        </p:txBody>
      </p:sp>
    </p:spTree>
    <p:extLst>
      <p:ext uri="{BB962C8B-B14F-4D97-AF65-F5344CB8AC3E}">
        <p14:creationId xmlns:p14="http://schemas.microsoft.com/office/powerpoint/2010/main" val="172015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../extracted/figures/ppt_md_merger_overview_slide8_fig.png</a:t>
            </a:r>
          </a:p>
          <a:p>
            <a:endParaRPr/>
          </a:p>
          <a:p>
            <a:r>
              <a:t>===BLOCK===</a:t>
            </a:r>
          </a:p>
          <a:p>
            <a:r>
              <a:t>{{BLOCK:MD:LONG}}</a:t>
            </a:r>
          </a:p>
          <a:p>
            <a:endParaRPr/>
          </a:p>
          <a:p>
            <a:r>
              <a:t>export-note: ../extracted/ppt_md_merger_overview_slide8_md.md</a:t>
            </a:r>
          </a:p>
          <a:p>
            <a:r>
              <a:t>{{#id:section:ppt_md_merger_overview:slide8}}</a:t>
            </a:r>
          </a:p>
          <a:p>
            <a:r>
              <a:t>## 自動マージするときに章・節番号を付与する</a:t>
            </a:r>
          </a:p>
          <a:p>
            <a:endParaRPr/>
          </a:p>
          <a:p>
            <a:r>
              <a:t>自動マージするときに章/節番号の付与もできます。</a:t>
            </a:r>
          </a:p>
          <a:p>
            <a:endParaRPr/>
          </a:p>
          <a:p>
            <a:r>
              <a:t>```{=latex}</a:t>
            </a:r>
          </a:p>
          <a:p>
            <a:r>
              <a:t>\begin{center}</a:t>
            </a:r>
          </a:p>
          <a:p>
            <a:r>
              <a:t>```</a:t>
            </a:r>
          </a:p>
          <a:p>
            <a:endParaRPr/>
          </a:p>
          <a:p>
            <a:r>
              <a:t>![](figures/ppt_md_merger_overview_slide8_fig.png){ width=95% }</a:t>
            </a:r>
          </a:p>
          <a:p>
            <a:endParaRPr/>
          </a:p>
          <a:p>
            <a:r>
              <a:t>```{=latex}</a:t>
            </a:r>
          </a:p>
          <a:p>
            <a:r>
              <a:t>\end{center}</a:t>
            </a:r>
          </a:p>
          <a:p>
            <a:r>
              <a:t>```</a:t>
            </a:r>
          </a:p>
          <a:p>
            <a:endParaRPr/>
          </a:p>
          <a:p>
            <a:r>
              <a:t>部品側には番号を付与せず、マージ時に付番するので各社向けの構成の違いにも対応できます。</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10</a:t>
            </a:fld>
            <a:endParaRPr kumimoji="1" lang="ja-JP" altLang="en-US"/>
          </a:p>
        </p:txBody>
      </p:sp>
    </p:spTree>
    <p:extLst>
      <p:ext uri="{BB962C8B-B14F-4D97-AF65-F5344CB8AC3E}">
        <p14:creationId xmlns:p14="http://schemas.microsoft.com/office/powerpoint/2010/main" val="1969612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../extracted/figures/ppt_md_merger_overview_slide9_fig.png</a:t>
            </a:r>
          </a:p>
          <a:p>
            <a:endParaRPr/>
          </a:p>
          <a:p>
            <a:r>
              <a:t>===BLOCK===</a:t>
            </a:r>
          </a:p>
          <a:p>
            <a:r>
              <a:t>{{BLOCK:MD:LONG}}</a:t>
            </a:r>
          </a:p>
          <a:p>
            <a:endParaRPr/>
          </a:p>
          <a:p>
            <a:r>
              <a:t>export-note: ../extracted/ppt_md_merger_overview_slide9_md.md</a:t>
            </a:r>
          </a:p>
          <a:p>
            <a:r>
              <a:t>{{#id:section:ppt_md_merger_overview:slide9}}</a:t>
            </a:r>
          </a:p>
          <a:p>
            <a:r>
              <a:t>## 補助機能：変数置換</a:t>
            </a:r>
          </a:p>
          <a:p>
            <a:endParaRPr/>
          </a:p>
          <a:p>
            <a:r>
              <a:t>さらに変数置換機能をつけました。 pptx部品上で特殊な書式で変数を書いておくと、その内容をマージ仕様書の設定にしたがって書き換えられます。</a:t>
            </a:r>
          </a:p>
          <a:p>
            <a:endParaRPr/>
          </a:p>
          <a:p>
            <a:r>
              <a:t>```{=latex}</a:t>
            </a:r>
          </a:p>
          <a:p>
            <a:r>
              <a:t>\begin{center}</a:t>
            </a:r>
          </a:p>
          <a:p>
            <a:r>
              <a:t>```</a:t>
            </a:r>
          </a:p>
          <a:p>
            <a:endParaRPr/>
          </a:p>
          <a:p>
            <a:r>
              <a:t>![](figures/ppt_md_merger_overview_slide9_fig.png){ width=90% }</a:t>
            </a:r>
          </a:p>
          <a:p>
            <a:endParaRPr/>
          </a:p>
          <a:p>
            <a:r>
              <a:t>```{=latex}</a:t>
            </a:r>
          </a:p>
          <a:p>
            <a:r>
              <a:t>\end{center}</a:t>
            </a:r>
          </a:p>
          <a:p>
            <a:r>
              <a:t>```</a:t>
            </a:r>
          </a:p>
          <a:p>
            <a:endParaRPr/>
          </a:p>
          <a:p>
            <a:r>
              <a:t>仕向先別のバリエーションをこの方法でも吸収することができます。</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11</a:t>
            </a:fld>
            <a:endParaRPr kumimoji="1" lang="ja-JP" altLang="en-US"/>
          </a:p>
        </p:txBody>
      </p:sp>
    </p:spTree>
    <p:extLst>
      <p:ext uri="{BB962C8B-B14F-4D97-AF65-F5344CB8AC3E}">
        <p14:creationId xmlns:p14="http://schemas.microsoft.com/office/powerpoint/2010/main" val="3802282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C1540-4952-2273-D5C6-57DA34A25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B53CE2-9510-95A7-53EA-77EFEFB0BA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99B1AF-E779-ECF4-F9B7-8039C6C403C0}"/>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../extracted/figures/ppt_md_merger_overview_slide11_fig.png</a:t>
            </a:r>
          </a:p>
          <a:p>
            <a:endParaRPr/>
          </a:p>
          <a:p>
            <a:r>
              <a:t>===BLOCK===</a:t>
            </a:r>
          </a:p>
          <a:p>
            <a:r>
              <a:t>{{BLOCK:MD:LONG}}</a:t>
            </a:r>
          </a:p>
          <a:p>
            <a:endParaRPr/>
          </a:p>
          <a:p>
            <a:r>
              <a:t>export-note: ../extracted/ppt_md_merger_overview_slide11_md.md</a:t>
            </a:r>
          </a:p>
          <a:p>
            <a:r>
              <a:t>{{#id:section:ppt_md_merger_overview:slide11}}</a:t>
            </a:r>
          </a:p>
          <a:p>
            <a:r>
              <a:t>## 補助機能： 一時メモ用シェイプの自動削除</a:t>
            </a:r>
          </a:p>
          <a:p>
            <a:endParaRPr/>
          </a:p>
          <a:p>
            <a:r>
              <a:t>シェイプ/スライド自動削除機能の派生形で、オプションの有無を問わず必ず削除されるシェイプを作る特殊マーカーもあります。</a:t>
            </a:r>
          </a:p>
          <a:p>
            <a:endParaRPr/>
          </a:p>
          <a:p>
            <a:r>
              <a:t>長い研修テキストの制作中には、 「とりあえずたたき台を書いておくけど、必ず直前に最終確認しろ！」 というような事項がどうしても出てくるものです。 紙の資料なら付箋紙を貼るところですがデジタル文書ではそれができない。 そこでパワポ資料では付箋紙代わりに目立つ図形にそうした注意書きを書いて残しておいたりしますが、これは本番資料からは必ず削除しなければならないもの。</a:t>
            </a:r>
          </a:p>
          <a:p>
            <a:endParaRPr/>
          </a:p>
          <a:p>
            <a:r>
              <a:t>ところが・・・そう、残ってしまうことがあるんですね。</a:t>
            </a:r>
          </a:p>
          <a:p>
            <a:endParaRPr/>
          </a:p>
          <a:p>
            <a:r>
              <a:t>```{=latex}</a:t>
            </a:r>
          </a:p>
          <a:p>
            <a:r>
              <a:t>\begin{center}</a:t>
            </a:r>
          </a:p>
          <a:p>
            <a:r>
              <a:t>```</a:t>
            </a:r>
          </a:p>
          <a:p>
            <a:endParaRPr/>
          </a:p>
          <a:p>
            <a:r>
              <a:t>![](figures/ppt_md_merger_overview_slide11_fig.png){ width=90% }</a:t>
            </a:r>
          </a:p>
          <a:p>
            <a:endParaRPr/>
          </a:p>
          <a:p>
            <a:r>
              <a:t>```{=latex}</a:t>
            </a:r>
          </a:p>
          <a:p>
            <a:r>
              <a:t>\end{center}</a:t>
            </a:r>
          </a:p>
          <a:p>
            <a:r>
              <a:t>```</a:t>
            </a:r>
          </a:p>
          <a:p>
            <a:endParaRPr/>
          </a:p>
          <a:p>
            <a:r>
              <a:t>そこで、この一時メモ用シェイプの自動削除機能です。これを使えば必ず削除されるので安心です。</a:t>
            </a:r>
          </a:p>
          <a:p>
            <a:endParaRPr/>
          </a:p>
        </p:txBody>
      </p:sp>
      <p:sp>
        <p:nvSpPr>
          <p:cNvPr id="4" name="スライド番号プレースホルダー 3">
            <a:extLst>
              <a:ext uri="{FF2B5EF4-FFF2-40B4-BE49-F238E27FC236}">
                <a16:creationId xmlns:a16="http://schemas.microsoft.com/office/drawing/2014/main" id="{1FC87322-6B16-8D97-CC09-0E2A9863EA3A}"/>
              </a:ext>
            </a:extLst>
          </p:cNvPr>
          <p:cNvSpPr>
            <a:spLocks noGrp="1"/>
          </p:cNvSpPr>
          <p:nvPr>
            <p:ph type="sldNum" sz="quarter" idx="5"/>
          </p:nvPr>
        </p:nvSpPr>
        <p:spPr/>
        <p:txBody>
          <a:bodyPr/>
          <a:lstStyle/>
          <a:p>
            <a:fld id="{BA10FDB7-3E02-4363-90B3-590B3C26A88D}" type="slidenum">
              <a:rPr kumimoji="1" lang="ja-JP" altLang="en-US" smtClean="0"/>
              <a:t>12</a:t>
            </a:fld>
            <a:endParaRPr kumimoji="1" lang="ja-JP" altLang="en-US"/>
          </a:p>
        </p:txBody>
      </p:sp>
    </p:spTree>
    <p:extLst>
      <p:ext uri="{BB962C8B-B14F-4D97-AF65-F5344CB8AC3E}">
        <p14:creationId xmlns:p14="http://schemas.microsoft.com/office/powerpoint/2010/main" val="2032038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13</a:t>
            </a:fld>
            <a:endParaRPr kumimoji="1" lang="ja-JP" altLang="en-US"/>
          </a:p>
        </p:txBody>
      </p:sp>
    </p:spTree>
    <p:extLst>
      <p:ext uri="{BB962C8B-B14F-4D97-AF65-F5344CB8AC3E}">
        <p14:creationId xmlns:p14="http://schemas.microsoft.com/office/powerpoint/2010/main" val="2030926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../extracted/figures/ppt_md_merger_overview_slide12_fig.png</a:t>
            </a:r>
          </a:p>
          <a:p>
            <a:endParaRPr/>
          </a:p>
          <a:p>
            <a:r>
              <a:t>===BLOCK===</a:t>
            </a:r>
          </a:p>
          <a:p>
            <a:r>
              <a:t>{{BLOCK:MD:LONG}}</a:t>
            </a:r>
          </a:p>
          <a:p>
            <a:endParaRPr/>
          </a:p>
          <a:p>
            <a:r>
              <a:t>export-note: ../extracted/ppt_md_merger_overview_slide12_md.md</a:t>
            </a:r>
          </a:p>
          <a:p>
            <a:r>
              <a:t>{{#id:section:ppt_md_merger_overview:slide12}}</a:t>
            </a:r>
          </a:p>
          <a:p>
            <a:r>
              <a:t>## PPTX生成機能と、その他の形式文書生成機能</a:t>
            </a:r>
          </a:p>
          <a:p>
            <a:endParaRPr/>
          </a:p>
          <a:p>
            <a:r>
              <a:t>なお、PPT&amp;MD merger は大まかに PPTX生成と他形式（PDF,MD,HTML)生成の２つの機能に分かれています。 PPTX生成はPPTX形式だけで完結しますが、他形式生成のほうはいったんMarkdown形式を出力して結合するので別系統の機能として構築したもので、設定方法等も少々複雑です。</a:t>
            </a:r>
          </a:p>
          <a:p>
            <a:r>
              <a:t>現時点で詳しい（図版つき）機能解説を用意しているのはPPTX生成の範囲のみで、他形式分については準備中です。ただし、他形式生成も図版つき解説がないだけで、機能としては動いているので、詳細スペック文書やサンプルを読んでいただけば、使い方は察しがつくかもしれません。（かもしれません・・・・・保証はしない(^_^;)　まあ、おいおい書きますよ）</a:t>
            </a:r>
          </a:p>
          <a:p>
            <a:endParaRPr/>
          </a:p>
          <a:p>
            <a:r>
              <a:t>```{=latex}</a:t>
            </a:r>
          </a:p>
          <a:p>
            <a:r>
              <a:t>\begin{center}</a:t>
            </a:r>
          </a:p>
          <a:p>
            <a:r>
              <a:t>```</a:t>
            </a:r>
          </a:p>
          <a:p>
            <a:endParaRPr/>
          </a:p>
          <a:p>
            <a:r>
              <a:t>![](figures/ppt_md_merger_overview_slide12_fig.png){ width=95% }</a:t>
            </a:r>
          </a:p>
          <a:p>
            <a:endParaRPr/>
          </a:p>
          <a:p>
            <a:r>
              <a:t>```{=latex}</a:t>
            </a:r>
          </a:p>
          <a:p>
            <a:r>
              <a:t>\end{center}</a:t>
            </a:r>
          </a:p>
          <a:p>
            <a:r>
              <a:t>```</a:t>
            </a:r>
          </a:p>
          <a:p>
            <a:endParaRPr/>
          </a:p>
          <a:p>
            <a:r>
              <a:t>以下、PPTX生成機能の詳細解説、および他形式生成機能も含む詳細スペック文書へのリンク一覧です。　しかし、「詳細を読むよりまず試しに使ってみたい」　という場合はこの後の Quick Start をご覧ください。</a:t>
            </a:r>
          </a:p>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14</a:t>
            </a:fld>
            <a:endParaRPr kumimoji="1" lang="ja-JP" altLang="en-US"/>
          </a:p>
        </p:txBody>
      </p:sp>
    </p:spTree>
    <p:extLst>
      <p:ext uri="{BB962C8B-B14F-4D97-AF65-F5344CB8AC3E}">
        <p14:creationId xmlns:p14="http://schemas.microsoft.com/office/powerpoint/2010/main" val="1728867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15</a:t>
            </a:fld>
            <a:endParaRPr kumimoji="1" lang="ja-JP" altLang="en-US"/>
          </a:p>
        </p:txBody>
      </p:sp>
    </p:spTree>
    <p:extLst>
      <p:ext uri="{BB962C8B-B14F-4D97-AF65-F5344CB8AC3E}">
        <p14:creationId xmlns:p14="http://schemas.microsoft.com/office/powerpoint/2010/main" val="2109210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t>export-note: ../extracted/ppt_md_merger_overview_slide13_md.md</a:t>
            </a:r>
          </a:p>
          <a:p>
            <a:r>
              <a:t>{{#id:section:ppt_md_merger_overview:slide13}}</a:t>
            </a:r>
          </a:p>
          <a:p>
            <a:r>
              <a:t>## システム要件</a:t>
            </a:r>
          </a:p>
          <a:p>
            <a:endParaRPr/>
          </a:p>
          <a:p>
            <a:r>
              <a:t>PPTX生成機能のみ、とりあえず試してみるための手順を示します。</a:t>
            </a:r>
          </a:p>
          <a:p>
            <a:endParaRPr/>
          </a:p>
          <a:p>
            <a:r>
              <a:t>PPT &amp; MD merger のシステム要件です。</a:t>
            </a:r>
          </a:p>
          <a:p>
            <a:endParaRPr/>
          </a:p>
          <a:p>
            <a:r>
              <a:t>### OS</a:t>
            </a:r>
          </a:p>
          <a:p>
            <a:endParaRPr/>
          </a:p>
          <a:p>
            <a:r>
              <a:t>```md</a:t>
            </a:r>
          </a:p>
          <a:p>
            <a:r>
              <a:t>Windows10/11</a:t>
            </a:r>
          </a:p>
          <a:p>
            <a:r>
              <a:t>```</a:t>
            </a:r>
          </a:p>
          <a:p>
            <a:endParaRPr/>
          </a:p>
          <a:p>
            <a:r>
              <a:t>### Software</a:t>
            </a:r>
          </a:p>
          <a:p>
            <a:endParaRPr/>
          </a:p>
          <a:p>
            <a:r>
              <a:t>Python 3.11以上</a:t>
            </a:r>
          </a:p>
          <a:p>
            <a:endParaRPr/>
          </a:p>
          <a:p>
            <a:r>
              <a:t>```md</a:t>
            </a:r>
          </a:p>
          <a:p>
            <a:r>
              <a:t>Microsoft PowerPoint Desktop版</a:t>
            </a:r>
          </a:p>
          <a:p>
            <a:r>
              <a:t>  - Microsoft 365</a:t>
            </a:r>
          </a:p>
          <a:p>
            <a:r>
              <a:t>  - PowerPoint 2021 など</a:t>
            </a:r>
          </a:p>
          <a:p>
            <a:r>
              <a:t>```</a:t>
            </a:r>
          </a:p>
          <a:p>
            <a:endParaRPr/>
          </a:p>
          <a:p>
            <a:endParaRPr/>
          </a:p>
          <a:p>
            <a:r>
              <a:t>```md</a:t>
            </a:r>
          </a:p>
          <a:p>
            <a:r>
              <a:t>Test環境</a:t>
            </a:r>
          </a:p>
          <a:p>
            <a:r>
              <a:t>  - Windows 11</a:t>
            </a:r>
          </a:p>
          <a:p>
            <a:r>
              <a:t>  - Python 3.14</a:t>
            </a:r>
          </a:p>
          <a:p>
            <a:r>
              <a:t>  - PowerPoint for Microsoft 365</a:t>
            </a:r>
          </a:p>
          <a:p>
            <a:r>
              <a:t>```</a:t>
            </a:r>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16</a:t>
            </a:fld>
            <a:endParaRPr kumimoji="1" lang="ja-JP" altLang="en-US"/>
          </a:p>
        </p:txBody>
      </p:sp>
    </p:spTree>
    <p:extLst>
      <p:ext uri="{BB962C8B-B14F-4D97-AF65-F5344CB8AC3E}">
        <p14:creationId xmlns:p14="http://schemas.microsoft.com/office/powerpoint/2010/main" val="4013742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t>export-note: ../extracted/ppt_md_merger_overview_slide14_md.md</a:t>
            </a:r>
          </a:p>
          <a:p>
            <a:r>
              <a:t>{{#id:section:ppt_md_merger_overview:slide14}}</a:t>
            </a:r>
          </a:p>
          <a:p>
            <a:r>
              <a:t>## インストール方法</a:t>
            </a:r>
          </a:p>
          <a:p>
            <a:endParaRPr/>
          </a:p>
          <a:p>
            <a:r>
              <a:t>### 1. Clone repository</a:t>
            </a:r>
          </a:p>
          <a:p>
            <a:endParaRPr/>
          </a:p>
          <a:p>
            <a:r>
              <a:t>```bash</a:t>
            </a:r>
          </a:p>
          <a:p>
            <a:r>
              <a:t>git clone https://github.com/USERNAME/ppt-md-merger.git</a:t>
            </a:r>
          </a:p>
          <a:p>
            <a:r>
              <a:t>cd ppt-md-merger</a:t>
            </a:r>
          </a:p>
          <a:p>
            <a:r>
              <a:t>```</a:t>
            </a:r>
          </a:p>
          <a:p>
            <a:endParaRPr/>
          </a:p>
          <a:p>
            <a:r>
              <a:t>### 2. Create virtual environment</a:t>
            </a:r>
          </a:p>
          <a:p>
            <a:endParaRPr/>
          </a:p>
          <a:p>
            <a:r>
              <a:t>python仮想環境の構築</a:t>
            </a:r>
          </a:p>
          <a:p>
            <a:r>
              <a:t>```powershell</a:t>
            </a:r>
          </a:p>
          <a:p>
            <a:r>
              <a:t>python -m venv .venv</a:t>
            </a:r>
          </a:p>
          <a:p>
            <a:r>
              <a:t>```</a:t>
            </a:r>
          </a:p>
          <a:p>
            <a:endParaRPr/>
          </a:p>
          <a:p>
            <a:r>
              <a:t>### 3. Activate virtual environment</a:t>
            </a:r>
          </a:p>
          <a:p>
            <a:endParaRPr/>
          </a:p>
          <a:p>
            <a:r>
              <a:t>仮想環境の有効化</a:t>
            </a:r>
          </a:p>
          <a:p>
            <a:endParaRPr/>
          </a:p>
          <a:p>
            <a:r>
              <a:t>```powershell</a:t>
            </a:r>
          </a:p>
          <a:p>
            <a:r>
              <a:t>.venv\Scripts\Activate.ps1</a:t>
            </a:r>
          </a:p>
          <a:p>
            <a:r>
              <a:t>```</a:t>
            </a:r>
          </a:p>
          <a:p>
            <a:endParaRPr/>
          </a:p>
          <a:p>
            <a:r>
              <a:t>仮想環境からの退出</a:t>
            </a:r>
          </a:p>
          <a:p>
            <a:endParaRPr/>
          </a:p>
          <a:p>
            <a:r>
              <a:t>```powershell</a:t>
            </a:r>
          </a:p>
          <a:p>
            <a:r>
              <a:t>.venv\Scripts\deactivate.bat</a:t>
            </a:r>
          </a:p>
          <a:p>
            <a:r>
              <a:t>```</a:t>
            </a:r>
          </a:p>
          <a:p>
            <a:endParaRPr/>
          </a:p>
          <a:p>
            <a:r>
              <a:t>### 4. Install package</a:t>
            </a:r>
          </a:p>
          <a:p>
            <a:endParaRPr/>
          </a:p>
          <a:p>
            <a:r>
              <a:t>```powershell</a:t>
            </a:r>
          </a:p>
          <a:p>
            <a:r>
              <a:t>pip install -e .</a:t>
            </a:r>
          </a:p>
          <a:p>
            <a:r>
              <a:t>```</a:t>
            </a:r>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17</a:t>
            </a:fld>
            <a:endParaRPr kumimoji="1" lang="ja-JP" altLang="en-US"/>
          </a:p>
        </p:txBody>
      </p:sp>
    </p:spTree>
    <p:extLst>
      <p:ext uri="{BB962C8B-B14F-4D97-AF65-F5344CB8AC3E}">
        <p14:creationId xmlns:p14="http://schemas.microsoft.com/office/powerpoint/2010/main" val="271939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t>export-note: ../extracted/ppt_md_merger_overview_slide15_md.md</a:t>
            </a:r>
          </a:p>
          <a:p>
            <a:r>
              <a:t>{{#id:section:ppt_md_merger_overview:slide15}}</a:t>
            </a:r>
          </a:p>
          <a:p>
            <a:r>
              <a:t>## Quick Start</a:t>
            </a:r>
          </a:p>
          <a:p>
            <a:endParaRPr/>
          </a:p>
          <a:p>
            <a:r>
              <a:t>### 1. Prepare parts pptx files</a:t>
            </a:r>
          </a:p>
          <a:p>
            <a:endParaRPr/>
          </a:p>
          <a:p>
            <a:r>
              <a:t>適当なpptxファイルを用意します。中身は何を書いてもかまいません。</a:t>
            </a:r>
          </a:p>
          <a:p>
            <a:endParaRPr/>
          </a:p>
          <a:p>
            <a:r>
              <a:t>```</a:t>
            </a:r>
          </a:p>
          <a:p>
            <a:r>
              <a:t>parts/</a:t>
            </a:r>
          </a:p>
          <a:p>
            <a:r>
              <a:t>├── 00_intro.pptx</a:t>
            </a:r>
          </a:p>
          <a:p>
            <a:r>
              <a:t>├── 10_basic.pptx</a:t>
            </a:r>
          </a:p>
          <a:p>
            <a:r>
              <a:t>└── 20_example.pptx</a:t>
            </a:r>
          </a:p>
          <a:p>
            <a:r>
              <a:t>```</a:t>
            </a: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18</a:t>
            </a:fld>
            <a:endParaRPr kumimoji="1" lang="ja-JP" altLang="en-US"/>
          </a:p>
        </p:txBody>
      </p:sp>
    </p:spTree>
    <p:extLst>
      <p:ext uri="{BB962C8B-B14F-4D97-AF65-F5344CB8AC3E}">
        <p14:creationId xmlns:p14="http://schemas.microsoft.com/office/powerpoint/2010/main" val="853096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t>export-note: ../extracted/ppt_md_merger_overview_slide16_md.md</a:t>
            </a:r>
          </a:p>
          <a:p>
            <a:r>
              <a:t>{{#id:subsection:ppt_md_merger_overview:slide16_2}} </a:t>
            </a:r>
          </a:p>
          <a:p>
            <a:r>
              <a:t>### 2. Create merge recipe YAML</a:t>
            </a:r>
          </a:p>
          <a:p>
            <a:endParaRPr/>
          </a:p>
          <a:p>
            <a:r>
              <a:t>PowerPointファイルを単純結合する結合指示書のサンプル</a:t>
            </a:r>
          </a:p>
          <a:p>
            <a:endParaRPr/>
          </a:p>
          <a:p>
            <a:r>
              <a:t>```</a:t>
            </a:r>
          </a:p>
          <a:p>
            <a:r>
              <a:t>output: </a:t>
            </a:r>
          </a:p>
          <a:p>
            <a:r>
              <a:t>  pptxfilename: merged.pptx        # 結合後のpptxファイルのファイル名</a:t>
            </a:r>
          </a:p>
          <a:p>
            <a:endParaRPr/>
          </a:p>
          <a:p>
            <a:r>
              <a:t>procedure:</a:t>
            </a:r>
          </a:p>
          <a:p>
            <a:r>
              <a:t>  - operation: insertpptx		 # 結合後対象のファイルを列挙する</a:t>
            </a:r>
          </a:p>
          <a:p>
            <a:r>
              <a:t>    pptxfilename: 00_intro.pptx</a:t>
            </a:r>
          </a:p>
          <a:p>
            <a:r>
              <a:t>  - operation: insertpptx</a:t>
            </a:r>
          </a:p>
          <a:p>
            <a:r>
              <a:t>    pptxfilename: 10_basic.pptx</a:t>
            </a:r>
          </a:p>
          <a:p>
            <a:r>
              <a:t>  - operation: insertpptx</a:t>
            </a:r>
          </a:p>
          <a:p>
            <a:r>
              <a:t>    pptxfilename: 20_example.pptx</a:t>
            </a:r>
          </a:p>
          <a:p>
            <a:r>
              <a:t>```</a:t>
            </a:r>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19</a:t>
            </a:fld>
            <a:endParaRPr kumimoji="1" lang="ja-JP" altLang="en-US"/>
          </a:p>
        </p:txBody>
      </p:sp>
    </p:spTree>
    <p:extLst>
      <p:ext uri="{BB962C8B-B14F-4D97-AF65-F5344CB8AC3E}">
        <p14:creationId xmlns:p14="http://schemas.microsoft.com/office/powerpoint/2010/main" val="1140441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t>export-note: ../extracted/ppt_md_merger_overview_slide17_md.md</a:t>
            </a:r>
          </a:p>
          <a:p>
            <a:r>
              <a:t>{{#id:subsection:ppt_md_merger_overview:slide17_3}} --&gt;</a:t>
            </a:r>
          </a:p>
          <a:p>
            <a:r>
              <a:t>### 3. Run merge</a:t>
            </a:r>
          </a:p>
          <a:p>
            <a:endParaRPr/>
          </a:p>
          <a:p>
            <a:r>
              <a:t>```</a:t>
            </a:r>
          </a:p>
          <a:p>
            <a:r>
              <a:t>pptmdmerge pptmerge merge_recipe.yaml  [options]</a:t>
            </a:r>
          </a:p>
          <a:p>
            <a:r>
              <a:t>```</a:t>
            </a:r>
          </a:p>
          <a:p>
            <a:endParaRPr/>
          </a:p>
          <a:p>
            <a:r>
              <a:t>```</a:t>
            </a:r>
          </a:p>
          <a:p>
            <a:r>
              <a:t>options</a:t>
            </a:r>
          </a:p>
          <a:p>
            <a:r>
              <a:t>  --log-level debug    設定ミス等を検証するために処理内容を確認したい場合、デバッグ表示を有効に</a:t>
            </a:r>
          </a:p>
          <a:p>
            <a:r>
              <a:t>  --force              何度も作り直す場合は出力ファイルを上書きにする</a:t>
            </a:r>
          </a:p>
          <a:p>
            <a:r>
              <a:t>```</a:t>
            </a:r>
          </a:p>
          <a:p>
            <a:endParaRPr/>
          </a:p>
          <a:p>
            <a:r>
              <a:t>### 4. output</a:t>
            </a:r>
          </a:p>
          <a:p>
            <a:endParaRPr/>
          </a:p>
          <a:p>
            <a:r>
              <a:t>```</a:t>
            </a:r>
          </a:p>
          <a:p>
            <a:r>
              <a:t>merged.pptx</a:t>
            </a:r>
          </a:p>
          <a:p>
            <a:r>
              <a:t>```</a:t>
            </a:r>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20</a:t>
            </a:fld>
            <a:endParaRPr kumimoji="1" lang="ja-JP" altLang="en-US"/>
          </a:p>
        </p:txBody>
      </p:sp>
    </p:spTree>
    <p:extLst>
      <p:ext uri="{BB962C8B-B14F-4D97-AF65-F5344CB8AC3E}">
        <p14:creationId xmlns:p14="http://schemas.microsoft.com/office/powerpoint/2010/main" val="3401405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t>export-note: ../extracted/ppt_md_merger_overview_slide18_md.md</a:t>
            </a:r>
          </a:p>
          <a:p>
            <a:r>
              <a:t>{{#id:section:ppt_md_merger_overview:slide18}}</a:t>
            </a:r>
          </a:p>
          <a:p>
            <a:r>
              <a:t>## Examples</a:t>
            </a:r>
          </a:p>
          <a:p>
            <a:endParaRPr/>
          </a:p>
          <a:p>
            <a:r>
              <a:t>### 単純マージ</a:t>
            </a:r>
          </a:p>
          <a:p>
            <a:endParaRPr/>
          </a:p>
          <a:p>
            <a:r>
              <a:t>２つのファイルを単純に結合するサンプルです。</a:t>
            </a:r>
          </a:p>
          <a:p>
            <a:endParaRPr/>
          </a:p>
          <a:p>
            <a:r>
              <a:t>サンプルフォルダ：　pm1_simple_ppt_merge</a:t>
            </a:r>
          </a:p>
          <a:p>
            <a:endParaRPr/>
          </a:p>
          <a:p>
            <a:r>
              <a:t>[![サンプル：単純マージ](../../pm1_simple_ppt_merge/build/figures/simple_ppt_merge_guide_keyvisual.png/){ width=60% }](../../pm1_simple_ppt_merge/README.md)</a:t>
            </a:r>
          </a:p>
          <a:p>
            <a:endParaRPr/>
          </a:p>
          <a:p>
            <a:r>
              <a:t>```{=latex}</a:t>
            </a:r>
          </a:p>
          <a:p>
            <a:r>
              <a:t>\par\vspace{5\baselineskip}</a:t>
            </a:r>
          </a:p>
          <a:p>
            <a:r>
              <a:t>```</a:t>
            </a:r>
          </a:p>
          <a:p>
            <a:endParaRPr/>
          </a:p>
          <a:p>
            <a:r>
              <a:t>### 簡易ナンバリング</a:t>
            </a:r>
          </a:p>
          <a:p>
            <a:endParaRPr/>
          </a:p>
          <a:p>
            <a:r>
              <a:t>2つの pptx ファイルを結合してファイル単位で chapter としてナンバリングする機能のサンプルです。</a:t>
            </a:r>
          </a:p>
          <a:p>
            <a:endParaRPr/>
          </a:p>
          <a:p>
            <a:r>
              <a:t>サンプルフォルダ：　pm2_simple_numbering</a:t>
            </a:r>
          </a:p>
          <a:p>
            <a:endParaRPr/>
          </a:p>
          <a:p>
            <a:r>
              <a:t>[![サンプル：簡易ナンバリング](../../pm2_simple_numbering/build/figures/simple_numbering_guide_keyvisual.png/){ width=70% }](../../pm2_simple_numbering/README.md)</a:t>
            </a:r>
          </a:p>
          <a:p>
            <a:endParaRPr/>
          </a:p>
          <a:p>
            <a:endParaRPr/>
          </a:p>
          <a:p>
            <a:r>
              <a:t>```{=latex}</a:t>
            </a:r>
          </a:p>
          <a:p>
            <a:r>
              <a:t>\vfill</a:t>
            </a:r>
          </a:p>
          <a:p>
            <a:r>
              <a:t>\newpage</a:t>
            </a:r>
          </a:p>
          <a:p>
            <a:r>
              <a:t>```</a:t>
            </a:r>
          </a:p>
          <a:p>
            <a:endParaRPr/>
          </a:p>
          <a:p>
            <a:r>
              <a:t>### chapter_marker によるナンバリング</a:t>
            </a:r>
          </a:p>
          <a:p>
            <a:endParaRPr/>
          </a:p>
          <a:p>
            <a:r>
              <a:t>スライド上に埋め込んだ特殊文字列 #CHAPT#, #SECTION# で章・節番号のカウントを行う方法のサンプルです。</a:t>
            </a:r>
          </a:p>
          <a:p>
            <a:endParaRPr/>
          </a:p>
          <a:p>
            <a:r>
              <a:t>サンプルフォルダ：　pm3_chapter_marker_numbering</a:t>
            </a:r>
          </a:p>
          <a:p>
            <a:endParaRPr/>
          </a:p>
          <a:p>
            <a:r>
              <a:t>[![サンプル：chapter_marker によるナンバリング](../../pm3_chapter_marker_numbering/build/figures/chapter_marker_numbering_guide_keyvisual.png/){ width=90% }](../../pm3_chapter_marker_numbering/README.md)</a:t>
            </a:r>
          </a:p>
          <a:p>
            <a:endParaRPr/>
          </a:p>
          <a:p>
            <a:endParaRPr/>
          </a:p>
          <a:p>
            <a:r>
              <a:t>```{=latex}</a:t>
            </a:r>
          </a:p>
          <a:p>
            <a:r>
              <a:t>\par\vspace{5\baselineskip}</a:t>
            </a:r>
          </a:p>
          <a:p>
            <a:r>
              <a:t>```</a:t>
            </a:r>
          </a:p>
          <a:p>
            <a:endParaRPr/>
          </a:p>
          <a:p>
            <a:r>
              <a:t>### スライド中の変数置換</a:t>
            </a:r>
          </a:p>
          <a:p>
            <a:endParaRPr/>
          </a:p>
          <a:p>
            <a:r>
              <a:t>スライド上に差し替え可能なプレースホルダーを用意しておき、設定ファイルの変数でそれを差し替え表示する方法のサンプルです。</a:t>
            </a:r>
          </a:p>
          <a:p>
            <a:endParaRPr/>
          </a:p>
          <a:p>
            <a:r>
              <a:t>サンプルフォルダ：　pm_variable_replacement</a:t>
            </a:r>
          </a:p>
          <a:p>
            <a:endParaRPr/>
          </a:p>
          <a:p>
            <a:r>
              <a:t>[![サンプル：スライド中の変数置換](../../pm4_variable_replacement/build/figures/variable_replacement_guide_keyvisual.png/){ width=90% }](../../pm4_variable_replacement/README.md)</a:t>
            </a:r>
          </a:p>
          <a:p>
            <a:endParaRPr/>
          </a:p>
          <a:p>
            <a:endParaRPr/>
          </a:p>
          <a:p>
            <a:r>
              <a:t>```{=latex}</a:t>
            </a:r>
          </a:p>
          <a:p>
            <a:r>
              <a:t>\vfill</a:t>
            </a:r>
          </a:p>
          <a:p>
            <a:r>
              <a:t>\newpage</a:t>
            </a:r>
          </a:p>
          <a:p>
            <a:r>
              <a:t>```</a:t>
            </a:r>
          </a:p>
          <a:p>
            <a:endParaRPr/>
          </a:p>
          <a:p>
            <a:r>
              <a:t>### Chapter Cover 挿入運用</a:t>
            </a:r>
          </a:p>
          <a:p>
            <a:endParaRPr/>
          </a:p>
          <a:p>
            <a:r>
              <a:t>本題のコンテンツの前に章とびら（Chapter Cover）を挿入する運用方法です。</a:t>
            </a:r>
          </a:p>
          <a:p>
            <a:endParaRPr/>
          </a:p>
          <a:p>
            <a:r>
              <a:t>サンプルフォルダ：　pm5_chapter_cover_insertion</a:t>
            </a:r>
          </a:p>
          <a:p>
            <a:endParaRPr/>
          </a:p>
          <a:p>
            <a:r>
              <a:t>[![サンプル：Chapter Cover 挿入運用](../../pm5_chapter_cover_insertion/build/figures/chapter_cover_insertion_guide_keyvisual.png/){ width=80% }](../../pm5_chapter_cover_insertion/README.md)</a:t>
            </a:r>
          </a:p>
          <a:p>
            <a:endParaRPr/>
          </a:p>
          <a:p>
            <a:endParaRPr/>
          </a:p>
          <a:p>
            <a:r>
              <a:t>```{=latex}</a:t>
            </a:r>
          </a:p>
          <a:p>
            <a:r>
              <a:t>\par\vspace{5\baselineskip}</a:t>
            </a:r>
          </a:p>
          <a:p>
            <a:r>
              <a:t>```</a:t>
            </a:r>
          </a:p>
          <a:p>
            <a:endParaRPr/>
          </a:p>
          <a:p>
            <a:r>
              <a:t>### stylebaseを別に指定する機能</a:t>
            </a:r>
          </a:p>
          <a:p>
            <a:endParaRPr/>
          </a:p>
          <a:p>
            <a:r>
              <a:t>pptxファイルを結合する際、コンテンツとは別にスタイル情報のみ使用するファイルを別途指定する機能です。</a:t>
            </a:r>
          </a:p>
          <a:p>
            <a:endParaRPr/>
          </a:p>
          <a:p>
            <a:r>
              <a:t>サンプルフォルダ：　pm6_stylebase</a:t>
            </a:r>
          </a:p>
          <a:p>
            <a:endParaRPr/>
          </a:p>
          <a:p>
            <a:r>
              <a:t>[![サンプル：stylebaseを別に指定する機能](../../pm6_stylebase/build/figures/stylebase_guide_keyvisual.png/){ width=90% }](../../pm6_stylebase/README.md)</a:t>
            </a:r>
          </a:p>
          <a:p>
            <a:endParaRPr/>
          </a:p>
          <a:p>
            <a:endParaRPr/>
          </a:p>
          <a:p>
            <a:r>
              <a:t>```{=latex}</a:t>
            </a:r>
          </a:p>
          <a:p>
            <a:r>
              <a:t>\vfill</a:t>
            </a:r>
          </a:p>
          <a:p>
            <a:r>
              <a:t>\newpage</a:t>
            </a:r>
          </a:p>
          <a:p>
            <a:r>
              <a:t>```</a:t>
            </a:r>
          </a:p>
          <a:p>
            <a:endParaRPr/>
          </a:p>
          <a:p>
            <a:r>
              <a:t>### ファイルの分割挿入機能</a:t>
            </a:r>
          </a:p>
          <a:p>
            <a:endParaRPr/>
          </a:p>
          <a:p>
            <a:r>
              <a:t>ファイル全体ではなく一部を選択して結合する機能です。</a:t>
            </a:r>
          </a:p>
          <a:p>
            <a:endParaRPr/>
          </a:p>
          <a:p>
            <a:r>
              <a:t>サンプルフォルダ：　pm7_splitted_insertion</a:t>
            </a:r>
          </a:p>
          <a:p>
            <a:endParaRPr/>
          </a:p>
          <a:p>
            <a:r>
              <a:t>[![サンプル：ファイルの分割挿入機能](../../pm7_splitted_insertion/build/figures/splitted_insertion_guide_keyvisual.png/){ width=60% }](../../pm7_splitted_insertion/README.md)</a:t>
            </a:r>
          </a:p>
          <a:p>
            <a:endParaRPr/>
          </a:p>
          <a:p>
            <a:endParaRPr/>
          </a:p>
          <a:p>
            <a:r>
              <a:t>```{=latex}</a:t>
            </a:r>
          </a:p>
          <a:p>
            <a:r>
              <a:t>\par\vspace{5\baselineskip}</a:t>
            </a:r>
          </a:p>
          <a:p>
            <a:r>
              <a:t>```</a:t>
            </a:r>
          </a:p>
          <a:p>
            <a:endParaRPr/>
          </a:p>
          <a:p>
            <a:r>
              <a:t>### 指定したシェイプを消去</a:t>
            </a:r>
          </a:p>
          <a:p>
            <a:endParaRPr/>
          </a:p>
          <a:p>
            <a:r>
              <a:t>配付資料には載せたくないシェイプを特殊マーカーで自動消去する機能です。</a:t>
            </a:r>
          </a:p>
          <a:p>
            <a:endParaRPr/>
          </a:p>
          <a:p>
            <a:r>
              <a:t>サンプルフォルダ：　pm8_delete_csp</a:t>
            </a:r>
          </a:p>
          <a:p>
            <a:endParaRPr/>
          </a:p>
          <a:p>
            <a:r>
              <a:t>[![サンプル：指定したシェイプを消去](../../pm8_delete_csp/build/figures/delete_csp_guide_keyvisual.png/){ width=90% }](../../pm8_delete_csp/README.md)</a:t>
            </a:r>
          </a:p>
          <a:p>
            <a:endParaRPr/>
          </a:p>
          <a:p>
            <a:endParaRPr/>
          </a:p>
          <a:p>
            <a:r>
              <a:t>```{=latex}</a:t>
            </a:r>
          </a:p>
          <a:p>
            <a:r>
              <a:t>\vfill</a:t>
            </a:r>
          </a:p>
          <a:p>
            <a:r>
              <a:t>\newpage</a:t>
            </a:r>
          </a:p>
          <a:p>
            <a:r>
              <a:t>```</a:t>
            </a:r>
          </a:p>
          <a:p>
            <a:endParaRPr/>
          </a:p>
          <a:p>
            <a:r>
              <a:t>### 指定したスライドを削除</a:t>
            </a:r>
          </a:p>
          <a:p>
            <a:endParaRPr/>
          </a:p>
          <a:p>
            <a:r>
              <a:t>配付資料には載せたくないスライドを特殊マーカーで自動削除する機能です。</a:t>
            </a:r>
          </a:p>
          <a:p>
            <a:endParaRPr/>
          </a:p>
          <a:p>
            <a:r>
              <a:t>サンプルフォルダ：　pm9_delete_csl</a:t>
            </a:r>
          </a:p>
          <a:p>
            <a:endParaRPr/>
          </a:p>
          <a:p>
            <a:r>
              <a:t>[![サンプル：指定したスライドを削除](../../pm9_delete_csl/build/figures/delete_csl_guide_keyvisual.png/){ width=90% }](../../pm9_delete_csl/README.md)</a:t>
            </a:r>
          </a:p>
          <a:p>
            <a:endParaRPr/>
          </a:p>
          <a:p>
            <a:endParaRPr/>
          </a:p>
          <a:p>
            <a:r>
              <a:t>```{=latex}</a:t>
            </a:r>
          </a:p>
          <a:p>
            <a:r>
              <a:t>\par\vspace{5\baselineskip}</a:t>
            </a:r>
          </a:p>
          <a:p>
            <a:r>
              <a:t>```</a:t>
            </a:r>
          </a:p>
          <a:p>
            <a:endParaRPr/>
          </a:p>
          <a:p>
            <a:r>
              <a:t>### 作業用のメモを書く</a:t>
            </a:r>
          </a:p>
          <a:p>
            <a:endParaRPr/>
          </a:p>
          <a:p>
            <a:r>
              <a:t>原稿制作中の一時的メモなど、 「後で見直す部分に貼っておく付箋紙」 のような用途に使う機能です。</a:t>
            </a:r>
          </a:p>
          <a:p>
            <a:endParaRPr/>
          </a:p>
          <a:p>
            <a:r>
              <a:t>サンプルフォルダ：　pm10_memo_temp</a:t>
            </a:r>
          </a:p>
          <a:p>
            <a:endParaRPr/>
          </a:p>
          <a:p>
            <a:r>
              <a:t>[![サンプル：作業用のメモを書く](../../pm10_memo_temp/build/figures/memo_temp_guide_keyvisual.png/){ width=90% }](../../pm10_memo_temp/README.md)</a:t>
            </a:r>
          </a:p>
          <a:p>
            <a:endParaRPr/>
          </a:p>
          <a:p>
            <a:endParaRPr/>
          </a:p>
          <a:p>
            <a:r>
              <a:t>```{=latex}</a:t>
            </a:r>
          </a:p>
          <a:p>
            <a:r>
              <a:t>\vfill</a:t>
            </a:r>
          </a:p>
          <a:p>
            <a:r>
              <a:t>\newpage</a:t>
            </a:r>
          </a:p>
          <a:p>
            <a:r>
              <a:t>```</a:t>
            </a:r>
          </a:p>
          <a:p>
            <a:endParaRPr/>
          </a:p>
          <a:p>
            <a:r>
              <a:t>### 特殊定数を置換する</a:t>
            </a:r>
          </a:p>
          <a:p>
            <a:endParaRPr/>
          </a:p>
          <a:p>
            <a:r>
              <a:t>ソースpptxのファイル名やスライド番号、スライドタイトルに置換される特殊定数機能です。</a:t>
            </a:r>
          </a:p>
          <a:p>
            <a:endParaRPr/>
          </a:p>
          <a:p>
            <a:r>
              <a:t>サンプルフォルダ：　pm11_title_filename</a:t>
            </a:r>
          </a:p>
          <a:p>
            <a:endParaRPr/>
          </a:p>
          <a:p>
            <a:r>
              <a:t>[![サンプル：特殊定数を置換する](../../pm11_title_filename/build/figures/title_filename_guide_keyvisual.png/){ width=90% }](../../pm11_title_filename/README.md)</a:t>
            </a:r>
          </a:p>
          <a:p>
            <a:endParaRPr/>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21</a:t>
            </a:fld>
            <a:endParaRPr kumimoji="1" lang="ja-JP" altLang="en-US"/>
          </a:p>
        </p:txBody>
      </p:sp>
    </p:spTree>
    <p:extLst>
      <p:ext uri="{BB962C8B-B14F-4D97-AF65-F5344CB8AC3E}">
        <p14:creationId xmlns:p14="http://schemas.microsoft.com/office/powerpoint/2010/main" val="698199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idx="4294967295"/>
          </p:nvPr>
        </p:nvSpPr>
        <p:spPr>
          <a:xfrm>
            <a:off x="1415480" y="3068638"/>
            <a:ext cx="9877425" cy="501650"/>
          </a:xfrm>
        </p:spPr>
        <p:txBody>
          <a:bodyPr anchor="ctr"/>
          <a:lstStyle/>
          <a:p>
            <a:pPr algn="ctr"/>
            <a:r>
              <a:rPr lang="en-US" altLang="ja-JP" sz="4000"/>
              <a:t>PPT &amp; MD merger </a:t>
            </a:r>
            <a:r>
              <a:rPr lang="ja-JP" altLang="en-US" sz="4000"/>
              <a:t>とは？</a:t>
            </a:r>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1127448" y="1052736"/>
            <a:ext cx="28803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kumimoji="1" lang="ja-JP" altLang="en-US" sz="3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214009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13" name="exportrange">
            <a:extLst>
              <a:ext uri="{FF2B5EF4-FFF2-40B4-BE49-F238E27FC236}">
                <a16:creationId xmlns:a16="http://schemas.microsoft.com/office/drawing/2014/main" id="{374CEC0C-D01F-4D2D-147D-C204BC55EAAC}"/>
              </a:ext>
            </a:extLst>
          </p:cNvPr>
          <p:cNvSpPr/>
          <p:nvPr/>
        </p:nvSpPr>
        <p:spPr bwMode="auto">
          <a:xfrm>
            <a:off x="896778" y="889673"/>
            <a:ext cx="10236468" cy="57503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1.1) PPT \&amp; MD merger とは？</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grpSp>
        <p:nvGrpSpPr>
          <p:cNvPr id="30" name="グループ化 29">
            <a:extLst>
              <a:ext uri="{FF2B5EF4-FFF2-40B4-BE49-F238E27FC236}">
                <a16:creationId xmlns:a16="http://schemas.microsoft.com/office/drawing/2014/main" id="{A40DD4C3-F02D-D384-326C-9365C52C729B}"/>
              </a:ext>
            </a:extLst>
          </p:cNvPr>
          <p:cNvGrpSpPr/>
          <p:nvPr/>
        </p:nvGrpSpPr>
        <p:grpSpPr>
          <a:xfrm>
            <a:off x="2303855" y="3076076"/>
            <a:ext cx="730509" cy="730509"/>
            <a:chOff x="3503712" y="3429000"/>
            <a:chExt cx="936104" cy="936104"/>
          </a:xfrm>
        </p:grpSpPr>
        <p:sp>
          <p:nvSpPr>
            <p:cNvPr id="31" name="正方形/長方形 30">
              <a:extLst>
                <a:ext uri="{FF2B5EF4-FFF2-40B4-BE49-F238E27FC236}">
                  <a16:creationId xmlns:a16="http://schemas.microsoft.com/office/drawing/2014/main" id="{33452CF4-2A28-35F8-F2FD-D9F88B0F2DF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40" name="図 39">
              <a:extLst>
                <a:ext uri="{FF2B5EF4-FFF2-40B4-BE49-F238E27FC236}">
                  <a16:creationId xmlns:a16="http://schemas.microsoft.com/office/drawing/2014/main" id="{1B1FDA7D-31B5-40D5-483D-7429B72659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55" name="グループ化 54">
            <a:extLst>
              <a:ext uri="{FF2B5EF4-FFF2-40B4-BE49-F238E27FC236}">
                <a16:creationId xmlns:a16="http://schemas.microsoft.com/office/drawing/2014/main" id="{881A365C-D9B8-05EE-B65D-A169D75EC842}"/>
              </a:ext>
            </a:extLst>
          </p:cNvPr>
          <p:cNvGrpSpPr/>
          <p:nvPr/>
        </p:nvGrpSpPr>
        <p:grpSpPr>
          <a:xfrm>
            <a:off x="2142112" y="2985120"/>
            <a:ext cx="730509" cy="730509"/>
            <a:chOff x="3503712" y="3429000"/>
            <a:chExt cx="936104" cy="936104"/>
          </a:xfrm>
        </p:grpSpPr>
        <p:sp>
          <p:nvSpPr>
            <p:cNvPr id="56" name="正方形/長方形 55">
              <a:extLst>
                <a:ext uri="{FF2B5EF4-FFF2-40B4-BE49-F238E27FC236}">
                  <a16:creationId xmlns:a16="http://schemas.microsoft.com/office/drawing/2014/main" id="{3AA147CD-5C56-875F-664B-BE8A0E92C9B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57" name="図 56">
              <a:extLst>
                <a:ext uri="{FF2B5EF4-FFF2-40B4-BE49-F238E27FC236}">
                  <a16:creationId xmlns:a16="http://schemas.microsoft.com/office/drawing/2014/main" id="{B58EFB1E-C9F1-2F9D-0669-859C00021C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58" name="グループ化 57">
            <a:extLst>
              <a:ext uri="{FF2B5EF4-FFF2-40B4-BE49-F238E27FC236}">
                <a16:creationId xmlns:a16="http://schemas.microsoft.com/office/drawing/2014/main" id="{0C37569A-38A0-5368-608A-B79E5DB81D2C}"/>
              </a:ext>
            </a:extLst>
          </p:cNvPr>
          <p:cNvGrpSpPr/>
          <p:nvPr/>
        </p:nvGrpSpPr>
        <p:grpSpPr>
          <a:xfrm>
            <a:off x="1980368" y="2894165"/>
            <a:ext cx="730509" cy="730509"/>
            <a:chOff x="3503712" y="3429000"/>
            <a:chExt cx="936104" cy="936104"/>
          </a:xfrm>
        </p:grpSpPr>
        <p:sp>
          <p:nvSpPr>
            <p:cNvPr id="59" name="正方形/長方形 58">
              <a:extLst>
                <a:ext uri="{FF2B5EF4-FFF2-40B4-BE49-F238E27FC236}">
                  <a16:creationId xmlns:a16="http://schemas.microsoft.com/office/drawing/2014/main" id="{4BF4D749-826D-6AD5-22B3-114247CCA9D0}"/>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0" name="図 59">
              <a:extLst>
                <a:ext uri="{FF2B5EF4-FFF2-40B4-BE49-F238E27FC236}">
                  <a16:creationId xmlns:a16="http://schemas.microsoft.com/office/drawing/2014/main" id="{B0152A4E-09CC-359A-3549-8D7DF72BD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61" name="グループ化 60">
            <a:extLst>
              <a:ext uri="{FF2B5EF4-FFF2-40B4-BE49-F238E27FC236}">
                <a16:creationId xmlns:a16="http://schemas.microsoft.com/office/drawing/2014/main" id="{0495C077-43F8-7AA4-CA19-98F506F369EB}"/>
              </a:ext>
            </a:extLst>
          </p:cNvPr>
          <p:cNvGrpSpPr/>
          <p:nvPr/>
        </p:nvGrpSpPr>
        <p:grpSpPr>
          <a:xfrm>
            <a:off x="1818624" y="2803210"/>
            <a:ext cx="730509" cy="730509"/>
            <a:chOff x="3503712" y="3429000"/>
            <a:chExt cx="936104" cy="936104"/>
          </a:xfrm>
        </p:grpSpPr>
        <p:sp>
          <p:nvSpPr>
            <p:cNvPr id="62" name="正方形/長方形 61">
              <a:extLst>
                <a:ext uri="{FF2B5EF4-FFF2-40B4-BE49-F238E27FC236}">
                  <a16:creationId xmlns:a16="http://schemas.microsoft.com/office/drawing/2014/main" id="{C7748FB5-F691-53B4-41BE-314E1A692AF8}"/>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3" name="図 62">
              <a:extLst>
                <a:ext uri="{FF2B5EF4-FFF2-40B4-BE49-F238E27FC236}">
                  <a16:creationId xmlns:a16="http://schemas.microsoft.com/office/drawing/2014/main" id="{D62CA6D0-6F7A-AF66-9F74-373239ED79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64" name="グループ化 63">
            <a:extLst>
              <a:ext uri="{FF2B5EF4-FFF2-40B4-BE49-F238E27FC236}">
                <a16:creationId xmlns:a16="http://schemas.microsoft.com/office/drawing/2014/main" id="{38D390B9-9E1B-6400-4D24-AA394BF871F0}"/>
              </a:ext>
            </a:extLst>
          </p:cNvPr>
          <p:cNvGrpSpPr/>
          <p:nvPr/>
        </p:nvGrpSpPr>
        <p:grpSpPr>
          <a:xfrm>
            <a:off x="1586797" y="3676635"/>
            <a:ext cx="730509" cy="730509"/>
            <a:chOff x="3503712" y="3429000"/>
            <a:chExt cx="936104" cy="936104"/>
          </a:xfrm>
        </p:grpSpPr>
        <p:sp>
          <p:nvSpPr>
            <p:cNvPr id="65" name="正方形/長方形 64">
              <a:extLst>
                <a:ext uri="{FF2B5EF4-FFF2-40B4-BE49-F238E27FC236}">
                  <a16:creationId xmlns:a16="http://schemas.microsoft.com/office/drawing/2014/main" id="{545385FD-760B-4171-E595-E9F91FB4C1B2}"/>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6" name="図 65">
              <a:extLst>
                <a:ext uri="{FF2B5EF4-FFF2-40B4-BE49-F238E27FC236}">
                  <a16:creationId xmlns:a16="http://schemas.microsoft.com/office/drawing/2014/main" id="{8C9AE3D6-C45C-0A04-1DFF-9C35642088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67" name="グループ化 66">
            <a:extLst>
              <a:ext uri="{FF2B5EF4-FFF2-40B4-BE49-F238E27FC236}">
                <a16:creationId xmlns:a16="http://schemas.microsoft.com/office/drawing/2014/main" id="{0B1E8AFF-1107-D3D5-1985-60CADEB3E325}"/>
              </a:ext>
            </a:extLst>
          </p:cNvPr>
          <p:cNvGrpSpPr/>
          <p:nvPr/>
        </p:nvGrpSpPr>
        <p:grpSpPr>
          <a:xfrm>
            <a:off x="1425054" y="3585679"/>
            <a:ext cx="730509" cy="730509"/>
            <a:chOff x="3503712" y="3429000"/>
            <a:chExt cx="936104" cy="936104"/>
          </a:xfrm>
        </p:grpSpPr>
        <p:sp>
          <p:nvSpPr>
            <p:cNvPr id="68" name="正方形/長方形 67">
              <a:extLst>
                <a:ext uri="{FF2B5EF4-FFF2-40B4-BE49-F238E27FC236}">
                  <a16:creationId xmlns:a16="http://schemas.microsoft.com/office/drawing/2014/main" id="{A0A0AB9C-AF2D-B6E8-B6F8-B094001B37BA}"/>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9" name="図 68">
              <a:extLst>
                <a:ext uri="{FF2B5EF4-FFF2-40B4-BE49-F238E27FC236}">
                  <a16:creationId xmlns:a16="http://schemas.microsoft.com/office/drawing/2014/main" id="{D6F21FF1-FEA6-A537-CA37-A63858591B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0" name="グループ化 69">
            <a:extLst>
              <a:ext uri="{FF2B5EF4-FFF2-40B4-BE49-F238E27FC236}">
                <a16:creationId xmlns:a16="http://schemas.microsoft.com/office/drawing/2014/main" id="{0E09F27F-3F46-0F7A-282D-2C34B1619D9D}"/>
              </a:ext>
            </a:extLst>
          </p:cNvPr>
          <p:cNvGrpSpPr/>
          <p:nvPr/>
        </p:nvGrpSpPr>
        <p:grpSpPr>
          <a:xfrm>
            <a:off x="1263310" y="3494724"/>
            <a:ext cx="730509" cy="730509"/>
            <a:chOff x="3503712" y="3429000"/>
            <a:chExt cx="936104" cy="936104"/>
          </a:xfrm>
        </p:grpSpPr>
        <p:sp>
          <p:nvSpPr>
            <p:cNvPr id="71" name="正方形/長方形 70">
              <a:extLst>
                <a:ext uri="{FF2B5EF4-FFF2-40B4-BE49-F238E27FC236}">
                  <a16:creationId xmlns:a16="http://schemas.microsoft.com/office/drawing/2014/main" id="{7094F8A3-90F4-F0B7-0B4E-E0FA702B4E92}"/>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72" name="図 71">
              <a:extLst>
                <a:ext uri="{FF2B5EF4-FFF2-40B4-BE49-F238E27FC236}">
                  <a16:creationId xmlns:a16="http://schemas.microsoft.com/office/drawing/2014/main" id="{51EFBC36-76F8-8593-E2D8-F5C0B1B832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3" name="グループ化 72">
            <a:extLst>
              <a:ext uri="{FF2B5EF4-FFF2-40B4-BE49-F238E27FC236}">
                <a16:creationId xmlns:a16="http://schemas.microsoft.com/office/drawing/2014/main" id="{20B3B1D5-2FCF-BCE5-2F6F-92C44C747E3E}"/>
              </a:ext>
            </a:extLst>
          </p:cNvPr>
          <p:cNvGrpSpPr/>
          <p:nvPr/>
        </p:nvGrpSpPr>
        <p:grpSpPr>
          <a:xfrm>
            <a:off x="1101566" y="3403769"/>
            <a:ext cx="730509" cy="730509"/>
            <a:chOff x="3503712" y="3429000"/>
            <a:chExt cx="936104" cy="936104"/>
          </a:xfrm>
        </p:grpSpPr>
        <p:sp>
          <p:nvSpPr>
            <p:cNvPr id="74" name="正方形/長方形 73">
              <a:extLst>
                <a:ext uri="{FF2B5EF4-FFF2-40B4-BE49-F238E27FC236}">
                  <a16:creationId xmlns:a16="http://schemas.microsoft.com/office/drawing/2014/main" id="{2FB5C5DB-9BE5-F3A3-4487-604F78DBFBFF}"/>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75" name="図 74">
              <a:extLst>
                <a:ext uri="{FF2B5EF4-FFF2-40B4-BE49-F238E27FC236}">
                  <a16:creationId xmlns:a16="http://schemas.microsoft.com/office/drawing/2014/main" id="{0DEA84A5-2E5E-3E90-FBEB-0D1DC810D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6" name="グループ化 75">
            <a:extLst>
              <a:ext uri="{FF2B5EF4-FFF2-40B4-BE49-F238E27FC236}">
                <a16:creationId xmlns:a16="http://schemas.microsoft.com/office/drawing/2014/main" id="{BCE9BB16-58F8-77BA-4CA6-A8A64FC9ED67}"/>
              </a:ext>
            </a:extLst>
          </p:cNvPr>
          <p:cNvGrpSpPr/>
          <p:nvPr/>
        </p:nvGrpSpPr>
        <p:grpSpPr>
          <a:xfrm>
            <a:off x="3073457" y="3642660"/>
            <a:ext cx="730509" cy="730509"/>
            <a:chOff x="3503712" y="3429000"/>
            <a:chExt cx="936104" cy="936104"/>
          </a:xfrm>
        </p:grpSpPr>
        <p:sp>
          <p:nvSpPr>
            <p:cNvPr id="77" name="正方形/長方形 76">
              <a:extLst>
                <a:ext uri="{FF2B5EF4-FFF2-40B4-BE49-F238E27FC236}">
                  <a16:creationId xmlns:a16="http://schemas.microsoft.com/office/drawing/2014/main" id="{8963EE09-7C44-225D-70EF-564FD82243C7}"/>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78" name="図 77">
              <a:extLst>
                <a:ext uri="{FF2B5EF4-FFF2-40B4-BE49-F238E27FC236}">
                  <a16:creationId xmlns:a16="http://schemas.microsoft.com/office/drawing/2014/main" id="{93DC8650-9241-F661-162E-3FF8D33C78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9" name="グループ化 78">
            <a:extLst>
              <a:ext uri="{FF2B5EF4-FFF2-40B4-BE49-F238E27FC236}">
                <a16:creationId xmlns:a16="http://schemas.microsoft.com/office/drawing/2014/main" id="{250229CF-1C9A-07C9-C14E-ED34E5D530A3}"/>
              </a:ext>
            </a:extLst>
          </p:cNvPr>
          <p:cNvGrpSpPr/>
          <p:nvPr/>
        </p:nvGrpSpPr>
        <p:grpSpPr>
          <a:xfrm>
            <a:off x="2911714" y="3551704"/>
            <a:ext cx="730509" cy="730509"/>
            <a:chOff x="3503712" y="3429000"/>
            <a:chExt cx="936104" cy="936104"/>
          </a:xfrm>
        </p:grpSpPr>
        <p:sp>
          <p:nvSpPr>
            <p:cNvPr id="80" name="正方形/長方形 79">
              <a:extLst>
                <a:ext uri="{FF2B5EF4-FFF2-40B4-BE49-F238E27FC236}">
                  <a16:creationId xmlns:a16="http://schemas.microsoft.com/office/drawing/2014/main" id="{9F138A41-094F-13F3-B41C-2160F6F03FC8}"/>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81" name="図 80">
              <a:extLst>
                <a:ext uri="{FF2B5EF4-FFF2-40B4-BE49-F238E27FC236}">
                  <a16:creationId xmlns:a16="http://schemas.microsoft.com/office/drawing/2014/main" id="{8521FAE8-543E-7A5D-0AA5-F7B7F58700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82" name="グループ化 81">
            <a:extLst>
              <a:ext uri="{FF2B5EF4-FFF2-40B4-BE49-F238E27FC236}">
                <a16:creationId xmlns:a16="http://schemas.microsoft.com/office/drawing/2014/main" id="{7BAE078B-DE6B-DF8D-A0A3-8B593F7608EF}"/>
              </a:ext>
            </a:extLst>
          </p:cNvPr>
          <p:cNvGrpSpPr/>
          <p:nvPr/>
        </p:nvGrpSpPr>
        <p:grpSpPr>
          <a:xfrm>
            <a:off x="2749970" y="3460749"/>
            <a:ext cx="730509" cy="730509"/>
            <a:chOff x="3503712" y="3429000"/>
            <a:chExt cx="936104" cy="936104"/>
          </a:xfrm>
        </p:grpSpPr>
        <p:sp>
          <p:nvSpPr>
            <p:cNvPr id="83" name="正方形/長方形 82">
              <a:extLst>
                <a:ext uri="{FF2B5EF4-FFF2-40B4-BE49-F238E27FC236}">
                  <a16:creationId xmlns:a16="http://schemas.microsoft.com/office/drawing/2014/main" id="{F2114F41-C17E-D227-8B75-FBF98E6B4334}"/>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84" name="図 83">
              <a:extLst>
                <a:ext uri="{FF2B5EF4-FFF2-40B4-BE49-F238E27FC236}">
                  <a16:creationId xmlns:a16="http://schemas.microsoft.com/office/drawing/2014/main" id="{A4A5556C-2697-6A58-38E2-4A4E540396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85" name="グループ化 84">
            <a:extLst>
              <a:ext uri="{FF2B5EF4-FFF2-40B4-BE49-F238E27FC236}">
                <a16:creationId xmlns:a16="http://schemas.microsoft.com/office/drawing/2014/main" id="{EFF408AD-ED66-3057-E55B-86504FB9DE91}"/>
              </a:ext>
            </a:extLst>
          </p:cNvPr>
          <p:cNvGrpSpPr/>
          <p:nvPr/>
        </p:nvGrpSpPr>
        <p:grpSpPr>
          <a:xfrm>
            <a:off x="2588226" y="3369794"/>
            <a:ext cx="730509" cy="730509"/>
            <a:chOff x="3503712" y="3429000"/>
            <a:chExt cx="936104" cy="936104"/>
          </a:xfrm>
        </p:grpSpPr>
        <p:sp>
          <p:nvSpPr>
            <p:cNvPr id="86" name="正方形/長方形 85">
              <a:extLst>
                <a:ext uri="{FF2B5EF4-FFF2-40B4-BE49-F238E27FC236}">
                  <a16:creationId xmlns:a16="http://schemas.microsoft.com/office/drawing/2014/main" id="{39046A1F-7F61-F5F7-7EE5-F2F2F979B853}"/>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87" name="図 86">
              <a:extLst>
                <a:ext uri="{FF2B5EF4-FFF2-40B4-BE49-F238E27FC236}">
                  <a16:creationId xmlns:a16="http://schemas.microsoft.com/office/drawing/2014/main" id="{39D48075-A7C2-F468-3D23-FF408D32EE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88" name="テキスト ボックス 87">
            <a:extLst>
              <a:ext uri="{FF2B5EF4-FFF2-40B4-BE49-F238E27FC236}">
                <a16:creationId xmlns:a16="http://schemas.microsoft.com/office/drawing/2014/main" id="{C0D59CA0-7061-5D62-C404-21AE39F522BF}"/>
              </a:ext>
            </a:extLst>
          </p:cNvPr>
          <p:cNvSpPr txBox="1"/>
          <p:nvPr/>
        </p:nvSpPr>
        <p:spPr bwMode="auto">
          <a:xfrm>
            <a:off x="750411" y="2321364"/>
            <a:ext cx="32836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ja-JP" altLang="en-US" kern="0">
                <a:latin typeface="BIZ UDPゴシック" panose="020B0400000000000000" pitchFamily="50" charset="-128"/>
                <a:ea typeface="BIZ UDPゴシック" panose="020B0400000000000000" pitchFamily="50" charset="-128"/>
              </a:rPr>
              <a:t>多くの </a:t>
            </a:r>
            <a:r>
              <a:rPr lang="en-US" altLang="ja-JP" kern="0">
                <a:latin typeface="BIZ UDPゴシック" panose="020B0400000000000000" pitchFamily="50" charset="-128"/>
                <a:ea typeface="BIZ UDPゴシック" panose="020B0400000000000000" pitchFamily="50" charset="-128"/>
              </a:rPr>
              <a:t>pptx </a:t>
            </a:r>
            <a:r>
              <a:rPr lang="ja-JP" altLang="en-US" kern="0">
                <a:latin typeface="BIZ UDPゴシック" panose="020B0400000000000000" pitchFamily="50" charset="-128"/>
                <a:ea typeface="BIZ UDPゴシック" panose="020B0400000000000000" pitchFamily="50" charset="-128"/>
              </a:rPr>
              <a:t>文書部品</a:t>
            </a:r>
            <a:endParaRPr kumimoji="1" lang="en-US" altLang="ja-JP" kern="0">
              <a:latin typeface="BIZ UDPゴシック" panose="020B0400000000000000" pitchFamily="50" charset="-128"/>
              <a:ea typeface="BIZ UDPゴシック" panose="020B0400000000000000" pitchFamily="50" charset="-128"/>
            </a:endParaRPr>
          </a:p>
        </p:txBody>
      </p:sp>
      <p:sp>
        <p:nvSpPr>
          <p:cNvPr id="89" name="四角形: 角を丸くする 88">
            <a:extLst>
              <a:ext uri="{FF2B5EF4-FFF2-40B4-BE49-F238E27FC236}">
                <a16:creationId xmlns:a16="http://schemas.microsoft.com/office/drawing/2014/main" id="{438EA313-2A78-3B49-7BFE-21D258E84417}"/>
              </a:ext>
            </a:extLst>
          </p:cNvPr>
          <p:cNvSpPr/>
          <p:nvPr/>
        </p:nvSpPr>
        <p:spPr bwMode="auto">
          <a:xfrm>
            <a:off x="5147523" y="3351163"/>
            <a:ext cx="1925529" cy="582994"/>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結合・変換</a:t>
            </a:r>
            <a:endParaRPr kumimoji="1" lang="ja-JP" altLang="en-US" sz="24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0" name="正方形/長方形 89">
            <a:extLst>
              <a:ext uri="{FF2B5EF4-FFF2-40B4-BE49-F238E27FC236}">
                <a16:creationId xmlns:a16="http://schemas.microsoft.com/office/drawing/2014/main" id="{329AC397-0A2B-84D4-456D-9ABFA5231507}"/>
              </a:ext>
            </a:extLst>
          </p:cNvPr>
          <p:cNvSpPr/>
          <p:nvPr/>
        </p:nvSpPr>
        <p:spPr bwMode="auto">
          <a:xfrm>
            <a:off x="5147523" y="2405394"/>
            <a:ext cx="1925529" cy="53210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構成指示書</a:t>
            </a:r>
            <a:endParaRPr kumimoji="1" lang="ja-JP" altLang="en-US" sz="24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1" name="テキスト ボックス 90">
            <a:extLst>
              <a:ext uri="{FF2B5EF4-FFF2-40B4-BE49-F238E27FC236}">
                <a16:creationId xmlns:a16="http://schemas.microsoft.com/office/drawing/2014/main" id="{4DC0F981-26FE-EEA1-13BC-2A5FEE372DFF}"/>
              </a:ext>
            </a:extLst>
          </p:cNvPr>
          <p:cNvSpPr txBox="1"/>
          <p:nvPr/>
        </p:nvSpPr>
        <p:spPr bwMode="auto">
          <a:xfrm>
            <a:off x="8551778" y="2237392"/>
            <a:ext cx="24670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ja-JP" altLang="en-US" kern="0">
                <a:latin typeface="BIZ UDPゴシック" panose="020B0400000000000000" pitchFamily="50" charset="-128"/>
                <a:ea typeface="BIZ UDPゴシック" panose="020B0400000000000000" pitchFamily="50" charset="-128"/>
              </a:rPr>
              <a:t>多様な文書形式</a:t>
            </a:r>
            <a:endParaRPr kumimoji="1" lang="en-US" altLang="ja-JP" kern="0">
              <a:latin typeface="BIZ UDPゴシック" panose="020B0400000000000000" pitchFamily="50" charset="-128"/>
              <a:ea typeface="BIZ UDPゴシック" panose="020B0400000000000000" pitchFamily="50" charset="-128"/>
            </a:endParaRPr>
          </a:p>
        </p:txBody>
      </p:sp>
      <p:sp>
        <p:nvSpPr>
          <p:cNvPr id="92" name="四角形: 角を丸くする 91">
            <a:extLst>
              <a:ext uri="{FF2B5EF4-FFF2-40B4-BE49-F238E27FC236}">
                <a16:creationId xmlns:a16="http://schemas.microsoft.com/office/drawing/2014/main" id="{15BBA582-C202-A665-A1B9-6F95C478E055}"/>
              </a:ext>
            </a:extLst>
          </p:cNvPr>
          <p:cNvSpPr/>
          <p:nvPr/>
        </p:nvSpPr>
        <p:spPr bwMode="auto">
          <a:xfrm>
            <a:off x="8835875" y="2676772"/>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3" name="四角形: 角を丸くする 92">
            <a:extLst>
              <a:ext uri="{FF2B5EF4-FFF2-40B4-BE49-F238E27FC236}">
                <a16:creationId xmlns:a16="http://schemas.microsoft.com/office/drawing/2014/main" id="{524A113C-3991-6D80-E3C0-464E1A8BBBBA}"/>
              </a:ext>
            </a:extLst>
          </p:cNvPr>
          <p:cNvSpPr/>
          <p:nvPr/>
        </p:nvSpPr>
        <p:spPr bwMode="auto">
          <a:xfrm>
            <a:off x="8835875" y="3180455"/>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PDF</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4" name="四角形: 角を丸くする 93">
            <a:extLst>
              <a:ext uri="{FF2B5EF4-FFF2-40B4-BE49-F238E27FC236}">
                <a16:creationId xmlns:a16="http://schemas.microsoft.com/office/drawing/2014/main" id="{8E336233-E77B-6A58-52FB-342BA4F7CFC5}"/>
              </a:ext>
            </a:extLst>
          </p:cNvPr>
          <p:cNvSpPr/>
          <p:nvPr/>
        </p:nvSpPr>
        <p:spPr bwMode="auto">
          <a:xfrm>
            <a:off x="8835875" y="3684138"/>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Markdown</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5" name="四角形: 角を丸くする 94">
            <a:extLst>
              <a:ext uri="{FF2B5EF4-FFF2-40B4-BE49-F238E27FC236}">
                <a16:creationId xmlns:a16="http://schemas.microsoft.com/office/drawing/2014/main" id="{3C690EB8-C3E7-D5A3-3DAF-9738CD22BE85}"/>
              </a:ext>
            </a:extLst>
          </p:cNvPr>
          <p:cNvSpPr/>
          <p:nvPr/>
        </p:nvSpPr>
        <p:spPr bwMode="auto">
          <a:xfrm>
            <a:off x="8835875" y="4187821"/>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HTML</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6" name="左中かっこ 95">
            <a:extLst>
              <a:ext uri="{FF2B5EF4-FFF2-40B4-BE49-F238E27FC236}">
                <a16:creationId xmlns:a16="http://schemas.microsoft.com/office/drawing/2014/main" id="{FF155FE9-71F8-8A0D-BF42-321BEB10F4C4}"/>
              </a:ext>
            </a:extLst>
          </p:cNvPr>
          <p:cNvSpPr/>
          <p:nvPr/>
        </p:nvSpPr>
        <p:spPr bwMode="auto">
          <a:xfrm>
            <a:off x="8112224" y="2685966"/>
            <a:ext cx="486721" cy="1913388"/>
          </a:xfrm>
          <a:prstGeom prst="leftBrace">
            <a:avLst>
              <a:gd name="adj1" fmla="val 40897"/>
              <a:gd name="adj2" fmla="val 50000"/>
            </a:avLst>
          </a:prstGeom>
          <a:noFill/>
          <a:ln w="38100"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97" name="左中かっこ 96">
            <a:extLst>
              <a:ext uri="{FF2B5EF4-FFF2-40B4-BE49-F238E27FC236}">
                <a16:creationId xmlns:a16="http://schemas.microsoft.com/office/drawing/2014/main" id="{D4E6B443-B517-0131-4EE7-1B39CC6874BC}"/>
              </a:ext>
            </a:extLst>
          </p:cNvPr>
          <p:cNvSpPr/>
          <p:nvPr/>
        </p:nvSpPr>
        <p:spPr bwMode="auto">
          <a:xfrm flipH="1">
            <a:off x="3892026" y="2772938"/>
            <a:ext cx="486721" cy="1739444"/>
          </a:xfrm>
          <a:prstGeom prst="leftBrace">
            <a:avLst>
              <a:gd name="adj1" fmla="val 40897"/>
              <a:gd name="adj2" fmla="val 50000"/>
            </a:avLst>
          </a:prstGeom>
          <a:noFill/>
          <a:ln w="38100"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99" name="直線矢印コネクタ 98">
            <a:extLst>
              <a:ext uri="{FF2B5EF4-FFF2-40B4-BE49-F238E27FC236}">
                <a16:creationId xmlns:a16="http://schemas.microsoft.com/office/drawing/2014/main" id="{FF0C7496-600E-670A-643A-6D7448B3D84A}"/>
              </a:ext>
            </a:extLst>
          </p:cNvPr>
          <p:cNvCxnSpPr>
            <a:endCxn id="89" idx="1"/>
          </p:cNvCxnSpPr>
          <p:nvPr/>
        </p:nvCxnSpPr>
        <p:spPr bwMode="auto">
          <a:xfrm>
            <a:off x="4250070" y="3642660"/>
            <a:ext cx="897453" cy="0"/>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cxnSp>
        <p:nvCxnSpPr>
          <p:cNvPr id="100" name="直線矢印コネクタ 99">
            <a:extLst>
              <a:ext uri="{FF2B5EF4-FFF2-40B4-BE49-F238E27FC236}">
                <a16:creationId xmlns:a16="http://schemas.microsoft.com/office/drawing/2014/main" id="{E5B88F4A-D713-1627-FDFA-119BE9379EF4}"/>
              </a:ext>
            </a:extLst>
          </p:cNvPr>
          <p:cNvCxnSpPr>
            <a:cxnSpLocks/>
            <a:stCxn id="89" idx="3"/>
            <a:endCxn id="96" idx="1"/>
          </p:cNvCxnSpPr>
          <p:nvPr/>
        </p:nvCxnSpPr>
        <p:spPr bwMode="auto">
          <a:xfrm>
            <a:off x="7073052" y="3642660"/>
            <a:ext cx="1039172" cy="0"/>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cxnSp>
        <p:nvCxnSpPr>
          <p:cNvPr id="103" name="直線矢印コネクタ 102">
            <a:extLst>
              <a:ext uri="{FF2B5EF4-FFF2-40B4-BE49-F238E27FC236}">
                <a16:creationId xmlns:a16="http://schemas.microsoft.com/office/drawing/2014/main" id="{8DFAA764-86AA-E4DC-00DC-9FC1616CDAAD}"/>
              </a:ext>
            </a:extLst>
          </p:cNvPr>
          <p:cNvCxnSpPr>
            <a:cxnSpLocks/>
            <a:stCxn id="90" idx="2"/>
            <a:endCxn id="89" idx="0"/>
          </p:cNvCxnSpPr>
          <p:nvPr/>
        </p:nvCxnSpPr>
        <p:spPr bwMode="auto">
          <a:xfrm>
            <a:off x="6110288" y="2937498"/>
            <a:ext cx="0" cy="413665"/>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107" name="テキスト ボックス 106">
            <a:extLst>
              <a:ext uri="{FF2B5EF4-FFF2-40B4-BE49-F238E27FC236}">
                <a16:creationId xmlns:a16="http://schemas.microsoft.com/office/drawing/2014/main" id="{FD86D99C-BBD4-F288-C62B-EB85EC7B1E17}"/>
              </a:ext>
            </a:extLst>
          </p:cNvPr>
          <p:cNvSpPr txBox="1"/>
          <p:nvPr/>
        </p:nvSpPr>
        <p:spPr bwMode="auto">
          <a:xfrm>
            <a:off x="1243649" y="1677886"/>
            <a:ext cx="9816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en-US" altLang="ja-JP" sz="2400" kern="0">
                <a:latin typeface="BIZ UDPゴシック" panose="020B0400000000000000" pitchFamily="50" charset="-128"/>
                <a:ea typeface="BIZ UDPゴシック" panose="020B0400000000000000" pitchFamily="50" charset="-128"/>
              </a:rPr>
              <a:t>pptx</a:t>
            </a:r>
            <a:r>
              <a:rPr lang="ja-JP" altLang="en-US" sz="2400" kern="0">
                <a:latin typeface="BIZ UDPゴシック" panose="020B0400000000000000" pitchFamily="50" charset="-128"/>
                <a:ea typeface="BIZ UDPゴシック" panose="020B0400000000000000" pitchFamily="50" charset="-128"/>
              </a:rPr>
              <a:t>を文書部品にして、多様な形式の文書を生成するジェネレーター</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8" name="テキスト ボックス 107">
            <a:extLst>
              <a:ext uri="{FF2B5EF4-FFF2-40B4-BE49-F238E27FC236}">
                <a16:creationId xmlns:a16="http://schemas.microsoft.com/office/drawing/2014/main" id="{4B16E6D0-3412-D8AE-EDE2-1DFC810FB83F}"/>
              </a:ext>
            </a:extLst>
          </p:cNvPr>
          <p:cNvSpPr txBox="1"/>
          <p:nvPr/>
        </p:nvSpPr>
        <p:spPr bwMode="auto">
          <a:xfrm>
            <a:off x="4944472" y="3931631"/>
            <a:ext cx="25513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600" kern="0">
                <a:latin typeface="BIZ UDPゴシック" panose="020B0400000000000000" pitchFamily="50" charset="-128"/>
                <a:ea typeface="BIZ UDPゴシック" panose="020B0400000000000000" pitchFamily="50" charset="-128"/>
              </a:rPr>
              <a:t>Python, PowerPoint</a:t>
            </a:r>
            <a:endParaRPr kumimoji="1" lang="ja-JP" altLang="en-US" sz="1600" kern="0">
              <a:latin typeface="BIZ UDPゴシック" panose="020B0400000000000000" pitchFamily="50" charset="-128"/>
              <a:ea typeface="BIZ UDPゴシック" panose="020B0400000000000000" pitchFamily="50" charset="-128"/>
            </a:endParaRPr>
          </a:p>
        </p:txBody>
      </p:sp>
      <p:pic>
        <p:nvPicPr>
          <p:cNvPr id="109" name="図 108">
            <a:extLst>
              <a:ext uri="{FF2B5EF4-FFF2-40B4-BE49-F238E27FC236}">
                <a16:creationId xmlns:a16="http://schemas.microsoft.com/office/drawing/2014/main" id="{CD6E7349-ADFD-1657-6F71-715B2DE086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754" y="969071"/>
            <a:ext cx="3102359" cy="638245"/>
          </a:xfrm>
          <a:prstGeom prst="rect">
            <a:avLst/>
          </a:prstGeom>
        </p:spPr>
      </p:pic>
      <p:sp>
        <p:nvSpPr>
          <p:cNvPr id="110" name="テキスト ボックス 109">
            <a:extLst>
              <a:ext uri="{FF2B5EF4-FFF2-40B4-BE49-F238E27FC236}">
                <a16:creationId xmlns:a16="http://schemas.microsoft.com/office/drawing/2014/main" id="{E7173A1E-1605-99A1-9D40-325C0D3FF938}"/>
              </a:ext>
            </a:extLst>
          </p:cNvPr>
          <p:cNvSpPr txBox="1"/>
          <p:nvPr/>
        </p:nvSpPr>
        <p:spPr bwMode="auto">
          <a:xfrm>
            <a:off x="4335808" y="1018473"/>
            <a:ext cx="6522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2400" kern="0">
                <a:latin typeface="BIZ UDPゴシック" panose="020B0400000000000000" pitchFamily="50" charset="-128"/>
                <a:ea typeface="BIZ UDPゴシック" panose="020B0400000000000000" pitchFamily="50" charset="-128"/>
              </a:rPr>
              <a:t>PPT &amp; MD </a:t>
            </a:r>
            <a:r>
              <a:rPr kumimoji="1" lang="ja-JP" altLang="en-US" sz="2400" kern="0">
                <a:latin typeface="BIZ UDPゴシック" panose="020B0400000000000000" pitchFamily="50" charset="-128"/>
                <a:ea typeface="BIZ UDPゴシック" panose="020B0400000000000000" pitchFamily="50" charset="-128"/>
              </a:rPr>
              <a:t>文書　構成・変換ツール</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2" name="直線コネクタ 111">
            <a:extLst>
              <a:ext uri="{FF2B5EF4-FFF2-40B4-BE49-F238E27FC236}">
                <a16:creationId xmlns:a16="http://schemas.microsoft.com/office/drawing/2014/main" id="{4E6F291F-3EF9-8F1F-4BF1-D0576D264BC8}"/>
              </a:ext>
            </a:extLst>
          </p:cNvPr>
          <p:cNvCxnSpPr/>
          <p:nvPr/>
        </p:nvCxnSpPr>
        <p:spPr bwMode="auto">
          <a:xfrm>
            <a:off x="4208453" y="1526305"/>
            <a:ext cx="6640075" cy="0"/>
          </a:xfrm>
          <a:prstGeom prst="line">
            <a:avLst/>
          </a:prstGeom>
          <a:solidFill>
            <a:srgbClr val="CCFFFF"/>
          </a:solidFill>
          <a:ln w="38100" cap="flat" cmpd="sng" algn="ctr">
            <a:solidFill>
              <a:schemeClr val="tx1">
                <a:lumMod val="75000"/>
                <a:lumOff val="25000"/>
              </a:schemeClr>
            </a:solidFill>
            <a:prstDash val="solid"/>
            <a:round/>
            <a:headEnd type="none" w="med" len="med"/>
            <a:tailEnd type="none" w="med" len="med"/>
          </a:ln>
          <a:effectLst/>
        </p:spPr>
      </p:cxnSp>
      <p:sp>
        <p:nvSpPr>
          <p:cNvPr id="4" name="テキスト ボックス 3">
            <a:extLst>
              <a:ext uri="{FF2B5EF4-FFF2-40B4-BE49-F238E27FC236}">
                <a16:creationId xmlns:a16="http://schemas.microsoft.com/office/drawing/2014/main" id="{0B16BCA2-E43E-1748-5BC6-7394AB4EC0D8}"/>
              </a:ext>
            </a:extLst>
          </p:cNvPr>
          <p:cNvSpPr txBox="1"/>
          <p:nvPr/>
        </p:nvSpPr>
        <p:spPr bwMode="auto">
          <a:xfrm>
            <a:off x="1217255" y="5272882"/>
            <a:ext cx="36342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800" kern="0">
                <a:latin typeface="BIZ UDPゴシック" panose="020B0400000000000000" pitchFamily="50" charset="-128"/>
                <a:ea typeface="BIZ UDPゴシック" panose="020B0400000000000000" pitchFamily="50" charset="-128"/>
              </a:rPr>
              <a:t>何はともあれ使ってみたいなら　　</a:t>
            </a:r>
          </a:p>
        </p:txBody>
      </p:sp>
      <p:sp>
        <p:nvSpPr>
          <p:cNvPr id="8" name="テキスト ボックス 7">
            <a:extLst>
              <a:ext uri="{FF2B5EF4-FFF2-40B4-BE49-F238E27FC236}">
                <a16:creationId xmlns:a16="http://schemas.microsoft.com/office/drawing/2014/main" id="{EAD62757-9E7D-BA58-0794-9ACAD3FB8B76}"/>
              </a:ext>
            </a:extLst>
          </p:cNvPr>
          <p:cNvSpPr txBox="1"/>
          <p:nvPr/>
        </p:nvSpPr>
        <p:spPr bwMode="auto">
          <a:xfrm>
            <a:off x="6528048" y="5257493"/>
            <a:ext cx="4704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ja-JP" sz="1800" kern="0">
                <a:latin typeface="BIZ UDPゴシック" panose="020B0400000000000000" pitchFamily="50" charset="-128"/>
                <a:ea typeface="BIZ UDPゴシック" panose="020B0400000000000000" pitchFamily="50" charset="-128"/>
              </a:rPr>
              <a:t>5) Requirements &amp; Quick Start</a:t>
            </a:r>
            <a:endParaRPr lang="ja-JP" altLang="en-US" sz="1800"/>
          </a:p>
        </p:txBody>
      </p:sp>
      <p:cxnSp>
        <p:nvCxnSpPr>
          <p:cNvPr id="10" name="直線矢印コネクタ 9">
            <a:extLst>
              <a:ext uri="{FF2B5EF4-FFF2-40B4-BE49-F238E27FC236}">
                <a16:creationId xmlns:a16="http://schemas.microsoft.com/office/drawing/2014/main" id="{849C945A-3A57-1503-15CE-612B5DB6840C}"/>
              </a:ext>
            </a:extLst>
          </p:cNvPr>
          <p:cNvCxnSpPr>
            <a:cxnSpLocks/>
          </p:cNvCxnSpPr>
          <p:nvPr/>
        </p:nvCxnSpPr>
        <p:spPr bwMode="auto">
          <a:xfrm>
            <a:off x="4851472" y="5445224"/>
            <a:ext cx="1528186"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2" name="テキスト ボックス 11">
            <a:extLst>
              <a:ext uri="{FF2B5EF4-FFF2-40B4-BE49-F238E27FC236}">
                <a16:creationId xmlns:a16="http://schemas.microsoft.com/office/drawing/2014/main" id="{5784CF47-FDC7-14ED-D75C-869E96CA9142}"/>
              </a:ext>
            </a:extLst>
          </p:cNvPr>
          <p:cNvSpPr txBox="1"/>
          <p:nvPr/>
        </p:nvSpPr>
        <p:spPr bwMode="auto">
          <a:xfrm>
            <a:off x="1217255" y="5943763"/>
            <a:ext cx="4014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800" kern="0">
                <a:latin typeface="BIZ UDPゴシック" panose="020B0400000000000000" pitchFamily="50" charset="-128"/>
                <a:ea typeface="BIZ UDPゴシック" panose="020B0400000000000000" pitchFamily="50" charset="-128"/>
              </a:rPr>
              <a:t>コンセプトからじっくり知りたいなら</a:t>
            </a:r>
          </a:p>
        </p:txBody>
      </p:sp>
      <p:sp>
        <p:nvSpPr>
          <p:cNvPr id="13" name="テキスト ボックス 12">
            <a:extLst>
              <a:ext uri="{FF2B5EF4-FFF2-40B4-BE49-F238E27FC236}">
                <a16:creationId xmlns:a16="http://schemas.microsoft.com/office/drawing/2014/main" id="{9A4AF289-B96D-FB77-26D0-FEE022898B28}"/>
              </a:ext>
            </a:extLst>
          </p:cNvPr>
          <p:cNvSpPr txBox="1"/>
          <p:nvPr/>
        </p:nvSpPr>
        <p:spPr bwMode="auto">
          <a:xfrm>
            <a:off x="6575344" y="5805264"/>
            <a:ext cx="43994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71463" indent="-271463"/>
            <a:r>
              <a:rPr lang="en-US" altLang="ja-JP" sz="1800" kern="0">
                <a:latin typeface="BIZ UDPゴシック" panose="020B0400000000000000" pitchFamily="50" charset="-128"/>
                <a:ea typeface="BIZ UDPゴシック" panose="020B0400000000000000" pitchFamily="50" charset="-128"/>
              </a:rPr>
              <a:t>2) </a:t>
            </a:r>
            <a:r>
              <a:rPr lang="ja-JP" altLang="en-US" sz="1800" kern="0">
                <a:latin typeface="BIZ UDPゴシック" panose="020B0400000000000000" pitchFamily="50" charset="-128"/>
                <a:ea typeface="BIZ UDPゴシック" panose="020B0400000000000000" pitchFamily="50" charset="-128"/>
              </a:rPr>
              <a:t>大きな </a:t>
            </a:r>
            <a:r>
              <a:rPr lang="en-US" altLang="ja-JP" sz="1800" kern="0">
                <a:latin typeface="BIZ UDPゴシック" panose="020B0400000000000000" pitchFamily="50" charset="-128"/>
                <a:ea typeface="BIZ UDPゴシック" panose="020B0400000000000000" pitchFamily="50" charset="-128"/>
              </a:rPr>
              <a:t>PowerPoint</a:t>
            </a:r>
            <a:r>
              <a:rPr lang="ja-JP" altLang="en-US" sz="1800" kern="0">
                <a:latin typeface="BIZ UDPゴシック" panose="020B0400000000000000" pitchFamily="50" charset="-128"/>
                <a:ea typeface="BIZ UDPゴシック" panose="020B0400000000000000" pitchFamily="50" charset="-128"/>
              </a:rPr>
              <a:t>ファイ ルを作る時の悩みとは？</a:t>
            </a:r>
            <a:endParaRPr lang="ja-JP" altLang="en-US" sz="1800"/>
          </a:p>
        </p:txBody>
      </p:sp>
      <p:cxnSp>
        <p:nvCxnSpPr>
          <p:cNvPr id="14" name="直線矢印コネクタ 13">
            <a:extLst>
              <a:ext uri="{FF2B5EF4-FFF2-40B4-BE49-F238E27FC236}">
                <a16:creationId xmlns:a16="http://schemas.microsoft.com/office/drawing/2014/main" id="{20089464-4E74-4516-91F6-CD8D148AFDC3}"/>
              </a:ext>
            </a:extLst>
          </p:cNvPr>
          <p:cNvCxnSpPr>
            <a:cxnSpLocks/>
          </p:cNvCxnSpPr>
          <p:nvPr/>
        </p:nvCxnSpPr>
        <p:spPr bwMode="auto">
          <a:xfrm>
            <a:off x="5639186" y="6128429"/>
            <a:ext cx="740472"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4FBFD75A-EA27-5554-74F1-D3315462369E}"/>
              </a:ext>
            </a:extLst>
          </p:cNvPr>
          <p:cNvSpPr txBox="1"/>
          <p:nvPr/>
        </p:nvSpPr>
        <p:spPr bwMode="auto">
          <a:xfrm>
            <a:off x="3034363" y="6585685"/>
            <a:ext cx="18352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200" kern="0">
                <a:latin typeface="BIZ UDPゴシック" panose="020B0400000000000000" pitchFamily="50" charset="-128"/>
                <a:ea typeface="BIZ UDPゴシック" panose="020B0400000000000000" pitchFamily="50" charset="-128"/>
              </a:rPr>
              <a:t>#NONUMBERING</a:t>
            </a:r>
            <a:endParaRPr kumimoji="1" lang="ja-JP" altLang="en-US" sz="1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8154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idx="4294967295"/>
          </p:nvPr>
        </p:nvSpPr>
        <p:spPr>
          <a:xfrm>
            <a:off x="1415480" y="3068638"/>
            <a:ext cx="9877425" cy="501650"/>
          </a:xfrm>
        </p:spPr>
        <p:txBody>
          <a:bodyPr anchor="ctr"/>
          <a:lstStyle/>
          <a:p>
            <a:pPr algn="ctr"/>
            <a:r>
              <a:rPr lang="ja-JP" altLang="en-US" sz="4000"/>
              <a:t>大きな</a:t>
            </a:r>
            <a:r>
              <a:rPr lang="en-US" altLang="ja-JP" sz="4000"/>
              <a:t>PowerPoint</a:t>
            </a:r>
            <a:r>
              <a:rPr lang="ja-JP" altLang="en-US" sz="4000"/>
              <a:t>ファイルを作る時の悩みとは？</a:t>
            </a:r>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1127448" y="1052736"/>
            <a:ext cx="28803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kumimoji="1" lang="ja-JP" altLang="en-US" sz="3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603226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13" name="exportrange">
            <a:extLst>
              <a:ext uri="{FF2B5EF4-FFF2-40B4-BE49-F238E27FC236}">
                <a16:creationId xmlns:a16="http://schemas.microsoft.com/office/drawing/2014/main" id="{374CEC0C-D01F-4D2D-147D-C204BC55EAAC}"/>
              </a:ext>
            </a:extLst>
          </p:cNvPr>
          <p:cNvSpPr/>
          <p:nvPr/>
        </p:nvSpPr>
        <p:spPr bwMode="auto">
          <a:xfrm>
            <a:off x="896778" y="889673"/>
            <a:ext cx="10236468" cy="57503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2.1) どんな人のためのツール？</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4335808" y="1670363"/>
            <a:ext cx="652219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研修用テキストや業務マニュアルなど、</a:t>
            </a:r>
            <a:endParaRPr lang="en-US" altLang="ja-JP" sz="2400" kern="0">
              <a:latin typeface="BIZ UDPゴシック" panose="020B0400000000000000" pitchFamily="50" charset="-128"/>
              <a:ea typeface="BIZ UDPゴシック" panose="020B0400000000000000" pitchFamily="50" charset="-128"/>
            </a:endParaRPr>
          </a:p>
          <a:p>
            <a:r>
              <a:rPr lang="ja-JP" altLang="en-US" sz="2400" kern="0">
                <a:latin typeface="BIZ UDPゴシック" panose="020B0400000000000000" pitchFamily="50" charset="-128"/>
                <a:ea typeface="BIZ UDPゴシック" panose="020B0400000000000000" pitchFamily="50" charset="-128"/>
              </a:rPr>
              <a:t>「仕事を教える、手順を決める」ための資料を </a:t>
            </a:r>
            <a:r>
              <a:rPr kumimoji="1" lang="en-US" altLang="ja-JP" sz="2400" kern="0">
                <a:latin typeface="BIZ UDPゴシック" panose="020B0400000000000000" pitchFamily="50" charset="-128"/>
                <a:ea typeface="BIZ UDPゴシック" panose="020B0400000000000000" pitchFamily="50" charset="-128"/>
              </a:rPr>
              <a:t>PowerPoint </a:t>
            </a:r>
            <a:r>
              <a:rPr kumimoji="1" lang="ja-JP" altLang="en-US" sz="2400" kern="0">
                <a:latin typeface="BIZ UDPゴシック" panose="020B0400000000000000" pitchFamily="50" charset="-128"/>
                <a:ea typeface="BIZ UDPゴシック" panose="020B0400000000000000" pitchFamily="50" charset="-128"/>
              </a:rPr>
              <a:t>で大量に作る企業</a:t>
            </a:r>
            <a:r>
              <a:rPr kumimoji="1" lang="en-US" altLang="ja-JP" sz="2400" kern="0">
                <a:latin typeface="BIZ UDPゴシック" panose="020B0400000000000000" pitchFamily="50" charset="-128"/>
                <a:ea typeface="BIZ UDPゴシック" panose="020B0400000000000000" pitchFamily="50" charset="-128"/>
              </a:rPr>
              <a:t>/</a:t>
            </a:r>
            <a:r>
              <a:rPr kumimoji="1" lang="ja-JP" altLang="en-US" sz="2400" kern="0">
                <a:latin typeface="BIZ UDPゴシック" panose="020B0400000000000000" pitchFamily="50" charset="-128"/>
                <a:ea typeface="BIZ UDPゴシック" panose="020B0400000000000000" pitchFamily="50" charset="-128"/>
              </a:rPr>
              <a:t>個人</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4FD37B7E-3E43-0EE4-BA9C-AC1B09B3C429}"/>
              </a:ext>
            </a:extLst>
          </p:cNvPr>
          <p:cNvSpPr txBox="1"/>
          <p:nvPr/>
        </p:nvSpPr>
        <p:spPr bwMode="auto">
          <a:xfrm>
            <a:off x="1095320" y="1693861"/>
            <a:ext cx="2984456" cy="1200329"/>
          </a:xfrm>
          <a:prstGeom prst="rect">
            <a:avLst/>
          </a:prstGeom>
          <a:solidFill>
            <a:schemeClr val="accent1">
              <a:lumMod val="40000"/>
              <a:lumOff val="60000"/>
            </a:schemeClr>
          </a:solidFill>
          <a:ln>
            <a:noFill/>
          </a:ln>
        </p:spPr>
        <p:txBody>
          <a:bodyPr vert="horz" wrap="square" lIns="91440" tIns="45720" rIns="91440" bIns="45720" numCol="1" rtlCol="0" anchor="ctr" anchorCtr="0" compatLnSpc="1">
            <a:prstTxWarp prst="textNoShape">
              <a:avLst/>
            </a:prstTxWarp>
            <a:noAutofit/>
          </a:bodyPr>
          <a:lstStyle/>
          <a:p>
            <a:pPr algn="ctr"/>
            <a:r>
              <a:rPr lang="ja-JP" altLang="en-US" sz="2400" kern="0">
                <a:latin typeface="BIZ UDPゴシック" panose="020B0400000000000000" pitchFamily="50" charset="-128"/>
                <a:ea typeface="BIZ UDPゴシック" panose="020B0400000000000000" pitchFamily="50" charset="-128"/>
              </a:rPr>
              <a:t>想定ユーザー</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978A0BE0-ED0E-EE00-58D7-691137FDC49D}"/>
              </a:ext>
            </a:extLst>
          </p:cNvPr>
          <p:cNvSpPr txBox="1"/>
          <p:nvPr/>
        </p:nvSpPr>
        <p:spPr bwMode="auto">
          <a:xfrm>
            <a:off x="1067336" y="3053938"/>
            <a:ext cx="3012439" cy="3255381"/>
          </a:xfrm>
          <a:prstGeom prst="rect">
            <a:avLst/>
          </a:prstGeom>
          <a:solidFill>
            <a:schemeClr val="accent1">
              <a:lumMod val="40000"/>
              <a:lumOff val="60000"/>
            </a:schemeClr>
          </a:solidFill>
          <a:ln>
            <a:noFill/>
          </a:ln>
        </p:spPr>
        <p:txBody>
          <a:bodyPr vert="horz" wrap="square" lIns="91440" tIns="45720" rIns="91440" bIns="45720" numCol="1" rtlCol="0" anchor="ctr" anchorCtr="0" compatLnSpc="1">
            <a:prstTxWarp prst="textNoShape">
              <a:avLst/>
            </a:prstTxWarp>
            <a:noAutofit/>
          </a:bodyPr>
          <a:lstStyle/>
          <a:p>
            <a:pPr algn="ctr"/>
            <a:r>
              <a:rPr lang="ja-JP" altLang="en-US" sz="2400" kern="0">
                <a:latin typeface="BIZ UDPゴシック" panose="020B0400000000000000" pitchFamily="50" charset="-128"/>
                <a:ea typeface="BIZ UDPゴシック" panose="020B0400000000000000" pitchFamily="50" charset="-128"/>
              </a:rPr>
              <a:t>どんな問題を</a:t>
            </a:r>
            <a:endParaRPr lang="en-US" altLang="ja-JP" sz="2400" kern="0">
              <a:latin typeface="BIZ UDPゴシック" panose="020B0400000000000000" pitchFamily="50" charset="-128"/>
              <a:ea typeface="BIZ UDPゴシック" panose="020B0400000000000000" pitchFamily="50" charset="-128"/>
            </a:endParaRPr>
          </a:p>
          <a:p>
            <a:pPr algn="ctr"/>
            <a:r>
              <a:rPr lang="ja-JP" altLang="en-US" sz="2400" kern="0">
                <a:latin typeface="BIZ UDPゴシック" panose="020B0400000000000000" pitchFamily="50" charset="-128"/>
                <a:ea typeface="BIZ UDPゴシック" panose="020B0400000000000000" pitchFamily="50" charset="-128"/>
              </a:rPr>
              <a:t>解決する？</a:t>
            </a:r>
            <a:endParaRPr kumimoji="1" lang="en-US" altLang="ja-JP" sz="2400" kern="0">
              <a:latin typeface="BIZ UDPゴシック" panose="020B0400000000000000" pitchFamily="50" charset="-128"/>
              <a:ea typeface="BIZ UDPゴシック" panose="020B0400000000000000" pitchFamily="50" charset="-128"/>
            </a:endParaRPr>
          </a:p>
        </p:txBody>
      </p:sp>
      <p:pic>
        <p:nvPicPr>
          <p:cNvPr id="109" name="図 108">
            <a:extLst>
              <a:ext uri="{FF2B5EF4-FFF2-40B4-BE49-F238E27FC236}">
                <a16:creationId xmlns:a16="http://schemas.microsoft.com/office/drawing/2014/main" id="{CD6E7349-ADFD-1657-6F71-715B2DE086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754" y="950315"/>
            <a:ext cx="3102359" cy="638245"/>
          </a:xfrm>
          <a:prstGeom prst="rect">
            <a:avLst/>
          </a:prstGeom>
        </p:spPr>
      </p:pic>
      <p:sp>
        <p:nvSpPr>
          <p:cNvPr id="110" name="テキスト ボックス 109">
            <a:extLst>
              <a:ext uri="{FF2B5EF4-FFF2-40B4-BE49-F238E27FC236}">
                <a16:creationId xmlns:a16="http://schemas.microsoft.com/office/drawing/2014/main" id="{E7173A1E-1605-99A1-9D40-325C0D3FF938}"/>
              </a:ext>
            </a:extLst>
          </p:cNvPr>
          <p:cNvSpPr txBox="1"/>
          <p:nvPr/>
        </p:nvSpPr>
        <p:spPr bwMode="auto">
          <a:xfrm>
            <a:off x="4335808" y="999717"/>
            <a:ext cx="6522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2400" kern="0">
                <a:latin typeface="BIZ UDPゴシック" panose="020B0400000000000000" pitchFamily="50" charset="-128"/>
                <a:ea typeface="BIZ UDPゴシック" panose="020B0400000000000000" pitchFamily="50" charset="-128"/>
              </a:rPr>
              <a:t>PPT &amp; MD </a:t>
            </a:r>
            <a:r>
              <a:rPr kumimoji="1" lang="ja-JP" altLang="en-US" sz="2400" kern="0">
                <a:latin typeface="BIZ UDPゴシック" panose="020B0400000000000000" pitchFamily="50" charset="-128"/>
                <a:ea typeface="BIZ UDPゴシック" panose="020B0400000000000000" pitchFamily="50" charset="-128"/>
              </a:rPr>
              <a:t>文書　構成・変換ツール</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2" name="直線コネクタ 111">
            <a:extLst>
              <a:ext uri="{FF2B5EF4-FFF2-40B4-BE49-F238E27FC236}">
                <a16:creationId xmlns:a16="http://schemas.microsoft.com/office/drawing/2014/main" id="{4E6F291F-3EF9-8F1F-4BF1-D0576D264BC8}"/>
              </a:ext>
            </a:extLst>
          </p:cNvPr>
          <p:cNvCxnSpPr/>
          <p:nvPr/>
        </p:nvCxnSpPr>
        <p:spPr bwMode="auto">
          <a:xfrm>
            <a:off x="4208453" y="1507549"/>
            <a:ext cx="6640075" cy="0"/>
          </a:xfrm>
          <a:prstGeom prst="line">
            <a:avLst/>
          </a:prstGeom>
          <a:solidFill>
            <a:srgbClr val="CCFFFF"/>
          </a:solidFill>
          <a:ln w="38100" cap="flat" cmpd="sng" algn="ctr">
            <a:solidFill>
              <a:schemeClr val="tx1">
                <a:lumMod val="75000"/>
                <a:lumOff val="25000"/>
              </a:schemeClr>
            </a:solidFill>
            <a:prstDash val="solid"/>
            <a:round/>
            <a:headEnd type="none" w="med" len="med"/>
            <a:tailEnd type="none" w="med" len="med"/>
          </a:ln>
          <a:effectLst/>
        </p:spPr>
      </p:cxnSp>
      <p:sp>
        <p:nvSpPr>
          <p:cNvPr id="6" name="テキスト ボックス 5">
            <a:extLst>
              <a:ext uri="{FF2B5EF4-FFF2-40B4-BE49-F238E27FC236}">
                <a16:creationId xmlns:a16="http://schemas.microsoft.com/office/drawing/2014/main" id="{4CE9C490-8B7C-B293-0C09-73885509D777}"/>
              </a:ext>
            </a:extLst>
          </p:cNvPr>
          <p:cNvSpPr txBox="1"/>
          <p:nvPr/>
        </p:nvSpPr>
        <p:spPr bwMode="auto">
          <a:xfrm>
            <a:off x="4335808" y="3111967"/>
            <a:ext cx="6522198"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spcAft>
                <a:spcPts val="1200"/>
              </a:spcAft>
              <a:buFont typeface="Arial" panose="020B0604020202020204" pitchFamily="34" charset="0"/>
              <a:buChar char="•"/>
            </a:pPr>
            <a:r>
              <a:rPr lang="ja-JP" altLang="en-US" sz="2400" kern="0">
                <a:latin typeface="BIZ UDPゴシック" panose="020B0400000000000000" pitchFamily="50" charset="-128"/>
                <a:ea typeface="BIZ UDPゴシック" panose="020B0400000000000000" pitchFamily="50" charset="-128"/>
              </a:rPr>
              <a:t>Ａ社向け、Ｂ社向け、Ｃ社向け・・・・文書のバリエーションが増えすぎて収拾が付かない！</a:t>
            </a:r>
            <a:endParaRPr lang="en-US" altLang="ja-JP" sz="2400" kern="0">
              <a:latin typeface="BIZ UDPゴシック" panose="020B0400000000000000" pitchFamily="50" charset="-128"/>
              <a:ea typeface="BIZ UDPゴシック" panose="020B0400000000000000" pitchFamily="50" charset="-128"/>
            </a:endParaRPr>
          </a:p>
          <a:p>
            <a:pPr marL="342900" indent="-342900">
              <a:spcAft>
                <a:spcPts val="1200"/>
              </a:spcAft>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長い</a:t>
            </a:r>
            <a:r>
              <a:rPr kumimoji="1" lang="en-US" altLang="ja-JP" sz="2400" kern="0">
                <a:latin typeface="BIZ UDPゴシック" panose="020B0400000000000000" pitchFamily="50" charset="-128"/>
                <a:ea typeface="BIZ UDPゴシック" panose="020B0400000000000000" pitchFamily="50" charset="-128"/>
              </a:rPr>
              <a:t>PowerPoint</a:t>
            </a:r>
            <a:r>
              <a:rPr kumimoji="1" lang="ja-JP" altLang="en-US" sz="2400" kern="0">
                <a:latin typeface="BIZ UDPゴシック" panose="020B0400000000000000" pitchFamily="50" charset="-128"/>
                <a:ea typeface="BIZ UDPゴシック" panose="020B0400000000000000" pitchFamily="50" charset="-128"/>
              </a:rPr>
              <a:t>に章・節番号をつけるのが面倒くさい！</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spcAft>
                <a:spcPts val="1200"/>
              </a:spcAft>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講師用と受講者用の</a:t>
            </a:r>
            <a:r>
              <a:rPr kumimoji="1" lang="en-US" altLang="ja-JP" sz="2400" kern="0">
                <a:latin typeface="BIZ UDPゴシック" panose="020B0400000000000000" pitchFamily="50" charset="-128"/>
                <a:ea typeface="BIZ UDPゴシック" panose="020B0400000000000000" pitchFamily="50" charset="-128"/>
              </a:rPr>
              <a:t>2</a:t>
            </a:r>
            <a:r>
              <a:rPr kumimoji="1" lang="ja-JP" altLang="en-US" sz="2400" kern="0">
                <a:latin typeface="BIZ UDPゴシック" panose="020B0400000000000000" pitchFamily="50" charset="-128"/>
                <a:ea typeface="BIZ UDPゴシック" panose="020B0400000000000000" pitchFamily="50" charset="-128"/>
              </a:rPr>
              <a:t>種類を作らなきゃいけないのが面倒くさい！</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spcAft>
                <a:spcPts val="1200"/>
              </a:spcAft>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印刷すると読みづらくなってしまう！</a:t>
            </a:r>
            <a:endParaRPr kumimoji="1" lang="en-US" altLang="ja-JP" sz="24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3911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963601C1-4EFE-D36E-4A7E-88ABCA2B50D9}"/>
              </a:ext>
            </a:extLst>
          </p:cNvPr>
          <p:cNvSpPr/>
          <p:nvPr/>
        </p:nvSpPr>
        <p:spPr bwMode="auto">
          <a:xfrm>
            <a:off x="767408" y="1124744"/>
            <a:ext cx="10122044"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2.2) 悩み１： ちょっとずつ違うPowerPointのコピーが増殖</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400" kern="0">
                <a:latin typeface="BIZ UDPゴシック" panose="020B0400000000000000" pitchFamily="50" charset="-128"/>
                <a:ea typeface="BIZ UDPゴシック" panose="020B0400000000000000" pitchFamily="50" charset="-128"/>
              </a:rPr>
              <a:t>PowerPoint </a:t>
            </a:r>
            <a:r>
              <a:rPr kumimoji="1" lang="ja-JP" altLang="en-US" sz="2400" kern="0">
                <a:latin typeface="BIZ UDPゴシック" panose="020B0400000000000000" pitchFamily="50" charset="-128"/>
                <a:ea typeface="BIZ UDPゴシック" panose="020B0400000000000000" pitchFamily="50" charset="-128"/>
              </a:rPr>
              <a:t>で企業研修用のテキストを作る時によくある悩み</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B276A24-0587-8E2A-E039-B8DE7CEB0843}"/>
              </a:ext>
            </a:extLst>
          </p:cNvPr>
          <p:cNvSpPr txBox="1"/>
          <p:nvPr/>
        </p:nvSpPr>
        <p:spPr bwMode="auto">
          <a:xfrm>
            <a:off x="1055440" y="1989592"/>
            <a:ext cx="1595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Ａ社向け</a:t>
            </a:r>
          </a:p>
        </p:txBody>
      </p:sp>
      <p:grpSp>
        <p:nvGrpSpPr>
          <p:cNvPr id="26" name="グループ化 25">
            <a:extLst>
              <a:ext uri="{FF2B5EF4-FFF2-40B4-BE49-F238E27FC236}">
                <a16:creationId xmlns:a16="http://schemas.microsoft.com/office/drawing/2014/main" id="{DEA8CDBB-355A-4570-C728-3C019CD67D34}"/>
              </a:ext>
            </a:extLst>
          </p:cNvPr>
          <p:cNvGrpSpPr/>
          <p:nvPr/>
        </p:nvGrpSpPr>
        <p:grpSpPr>
          <a:xfrm>
            <a:off x="1385266" y="2479955"/>
            <a:ext cx="936104" cy="936104"/>
            <a:chOff x="3503712" y="3429000"/>
            <a:chExt cx="936104" cy="936104"/>
          </a:xfrm>
        </p:grpSpPr>
        <p:sp>
          <p:nvSpPr>
            <p:cNvPr id="15" name="正方形/長方形 14">
              <a:extLst>
                <a:ext uri="{FF2B5EF4-FFF2-40B4-BE49-F238E27FC236}">
                  <a16:creationId xmlns:a16="http://schemas.microsoft.com/office/drawing/2014/main" id="{F1BFEC84-EF24-0EA8-73FD-CAA0536D4B7A}"/>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1" name="図 10">
              <a:extLst>
                <a:ext uri="{FF2B5EF4-FFF2-40B4-BE49-F238E27FC236}">
                  <a16:creationId xmlns:a16="http://schemas.microsoft.com/office/drawing/2014/main" id="{F9C6AAAD-35B5-CA1B-9510-25B154CC94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32" name="テキスト ボックス 31">
            <a:extLst>
              <a:ext uri="{FF2B5EF4-FFF2-40B4-BE49-F238E27FC236}">
                <a16:creationId xmlns:a16="http://schemas.microsoft.com/office/drawing/2014/main" id="{9C2702E1-69DA-6875-965B-73357A67BE5C}"/>
              </a:ext>
            </a:extLst>
          </p:cNvPr>
          <p:cNvSpPr txBox="1"/>
          <p:nvPr/>
        </p:nvSpPr>
        <p:spPr bwMode="auto">
          <a:xfrm>
            <a:off x="5107393" y="1989592"/>
            <a:ext cx="1595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Ｂ社向け</a:t>
            </a:r>
          </a:p>
        </p:txBody>
      </p:sp>
      <p:grpSp>
        <p:nvGrpSpPr>
          <p:cNvPr id="33" name="グループ化 32">
            <a:extLst>
              <a:ext uri="{FF2B5EF4-FFF2-40B4-BE49-F238E27FC236}">
                <a16:creationId xmlns:a16="http://schemas.microsoft.com/office/drawing/2014/main" id="{816F10D2-9440-B7D4-795E-49BE9D55B3B6}"/>
              </a:ext>
            </a:extLst>
          </p:cNvPr>
          <p:cNvGrpSpPr/>
          <p:nvPr/>
        </p:nvGrpSpPr>
        <p:grpSpPr>
          <a:xfrm>
            <a:off x="5437219" y="2479955"/>
            <a:ext cx="936104" cy="936104"/>
            <a:chOff x="3503712" y="3429000"/>
            <a:chExt cx="936104" cy="936104"/>
          </a:xfrm>
        </p:grpSpPr>
        <p:sp>
          <p:nvSpPr>
            <p:cNvPr id="34" name="正方形/長方形 33">
              <a:extLst>
                <a:ext uri="{FF2B5EF4-FFF2-40B4-BE49-F238E27FC236}">
                  <a16:creationId xmlns:a16="http://schemas.microsoft.com/office/drawing/2014/main" id="{37E3C40A-40CF-A334-0463-4FA57DDE9FE2}"/>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35" name="図 34">
              <a:extLst>
                <a:ext uri="{FF2B5EF4-FFF2-40B4-BE49-F238E27FC236}">
                  <a16:creationId xmlns:a16="http://schemas.microsoft.com/office/drawing/2014/main" id="{8BCF777F-6EDA-B2FF-3999-44140F5A26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36" name="テキスト ボックス 35">
            <a:extLst>
              <a:ext uri="{FF2B5EF4-FFF2-40B4-BE49-F238E27FC236}">
                <a16:creationId xmlns:a16="http://schemas.microsoft.com/office/drawing/2014/main" id="{C9734052-12D9-683D-8E54-894F09874E7C}"/>
              </a:ext>
            </a:extLst>
          </p:cNvPr>
          <p:cNvSpPr txBox="1"/>
          <p:nvPr/>
        </p:nvSpPr>
        <p:spPr bwMode="auto">
          <a:xfrm>
            <a:off x="9203891" y="1989592"/>
            <a:ext cx="1595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Ｃ社向け</a:t>
            </a:r>
          </a:p>
        </p:txBody>
      </p:sp>
      <p:grpSp>
        <p:nvGrpSpPr>
          <p:cNvPr id="37" name="グループ化 36">
            <a:extLst>
              <a:ext uri="{FF2B5EF4-FFF2-40B4-BE49-F238E27FC236}">
                <a16:creationId xmlns:a16="http://schemas.microsoft.com/office/drawing/2014/main" id="{ADF2AA35-6992-258E-F273-A4424273E182}"/>
              </a:ext>
            </a:extLst>
          </p:cNvPr>
          <p:cNvGrpSpPr/>
          <p:nvPr/>
        </p:nvGrpSpPr>
        <p:grpSpPr>
          <a:xfrm>
            <a:off x="9533717" y="2479955"/>
            <a:ext cx="936104" cy="936104"/>
            <a:chOff x="3503712" y="3429000"/>
            <a:chExt cx="936104" cy="936104"/>
          </a:xfrm>
        </p:grpSpPr>
        <p:sp>
          <p:nvSpPr>
            <p:cNvPr id="38" name="正方形/長方形 37">
              <a:extLst>
                <a:ext uri="{FF2B5EF4-FFF2-40B4-BE49-F238E27FC236}">
                  <a16:creationId xmlns:a16="http://schemas.microsoft.com/office/drawing/2014/main" id="{31F63922-3F3E-7B2F-34A7-083EFDE7E311}"/>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39" name="図 38">
              <a:extLst>
                <a:ext uri="{FF2B5EF4-FFF2-40B4-BE49-F238E27FC236}">
                  <a16:creationId xmlns:a16="http://schemas.microsoft.com/office/drawing/2014/main" id="{B8B4056F-A1B1-9ED7-54BF-2A1E41CED5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cxnSp>
        <p:nvCxnSpPr>
          <p:cNvPr id="41" name="直線矢印コネクタ 40">
            <a:extLst>
              <a:ext uri="{FF2B5EF4-FFF2-40B4-BE49-F238E27FC236}">
                <a16:creationId xmlns:a16="http://schemas.microsoft.com/office/drawing/2014/main" id="{735C203F-32D5-24ED-2A36-DA790F13BC10}"/>
              </a:ext>
            </a:extLst>
          </p:cNvPr>
          <p:cNvCxnSpPr>
            <a:cxnSpLocks/>
          </p:cNvCxnSpPr>
          <p:nvPr/>
        </p:nvCxnSpPr>
        <p:spPr bwMode="auto">
          <a:xfrm>
            <a:off x="2651195" y="3012921"/>
            <a:ext cx="2550495"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2" name="テキスト ボックス 41">
            <a:extLst>
              <a:ext uri="{FF2B5EF4-FFF2-40B4-BE49-F238E27FC236}">
                <a16:creationId xmlns:a16="http://schemas.microsoft.com/office/drawing/2014/main" id="{350E3D7F-296F-5367-30BD-08809089A337}"/>
              </a:ext>
            </a:extLst>
          </p:cNvPr>
          <p:cNvSpPr txBox="1"/>
          <p:nvPr/>
        </p:nvSpPr>
        <p:spPr bwMode="auto">
          <a:xfrm>
            <a:off x="3155569" y="2516646"/>
            <a:ext cx="16140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コピー＋修正</a:t>
            </a:r>
          </a:p>
        </p:txBody>
      </p:sp>
      <p:cxnSp>
        <p:nvCxnSpPr>
          <p:cNvPr id="44" name="直線矢印コネクタ 43">
            <a:extLst>
              <a:ext uri="{FF2B5EF4-FFF2-40B4-BE49-F238E27FC236}">
                <a16:creationId xmlns:a16="http://schemas.microsoft.com/office/drawing/2014/main" id="{ADF254D0-46C2-6AA1-4704-C1E21AB35EAF}"/>
              </a:ext>
            </a:extLst>
          </p:cNvPr>
          <p:cNvCxnSpPr>
            <a:cxnSpLocks/>
          </p:cNvCxnSpPr>
          <p:nvPr/>
        </p:nvCxnSpPr>
        <p:spPr bwMode="auto">
          <a:xfrm>
            <a:off x="6703148" y="3012921"/>
            <a:ext cx="2550495"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5" name="テキスト ボックス 44">
            <a:extLst>
              <a:ext uri="{FF2B5EF4-FFF2-40B4-BE49-F238E27FC236}">
                <a16:creationId xmlns:a16="http://schemas.microsoft.com/office/drawing/2014/main" id="{0035FD0D-15CF-40C4-04D6-0CBFF1611663}"/>
              </a:ext>
            </a:extLst>
          </p:cNvPr>
          <p:cNvSpPr txBox="1"/>
          <p:nvPr/>
        </p:nvSpPr>
        <p:spPr bwMode="auto">
          <a:xfrm>
            <a:off x="7207522" y="2516646"/>
            <a:ext cx="16140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コピー＋修正</a:t>
            </a:r>
          </a:p>
        </p:txBody>
      </p:sp>
      <p:sp>
        <p:nvSpPr>
          <p:cNvPr id="46" name="テキスト ボックス 45">
            <a:extLst>
              <a:ext uri="{FF2B5EF4-FFF2-40B4-BE49-F238E27FC236}">
                <a16:creationId xmlns:a16="http://schemas.microsoft.com/office/drawing/2014/main" id="{4F2732AD-83B2-A3F8-92A8-33576BE21741}"/>
              </a:ext>
            </a:extLst>
          </p:cNvPr>
          <p:cNvSpPr txBox="1"/>
          <p:nvPr/>
        </p:nvSpPr>
        <p:spPr bwMode="auto">
          <a:xfrm>
            <a:off x="1703512" y="3930745"/>
            <a:ext cx="9185940" cy="1860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nSpc>
                <a:spcPct val="150000"/>
              </a:lnSpc>
              <a:buFont typeface="Arial" panose="020B0604020202020204" pitchFamily="34" charset="0"/>
              <a:buChar char="•"/>
            </a:pPr>
            <a:r>
              <a:rPr lang="ja-JP" altLang="en-US" kern="0">
                <a:latin typeface="BIZ UDPゴシック" panose="020B0400000000000000" pitchFamily="50" charset="-128"/>
                <a:ea typeface="BIZ UDPゴシック" panose="020B0400000000000000" pitchFamily="50" charset="-128"/>
              </a:rPr>
              <a:t>「コピーしてちょっと修正」 を繰り返す</a:t>
            </a:r>
          </a:p>
          <a:p>
            <a:pPr marL="342900" indent="-342900" algn="l">
              <a:lnSpc>
                <a:spcPct val="150000"/>
              </a:lnSpc>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ちょっとずつ違うバージョンが無数に増える</a:t>
            </a:r>
            <a:endParaRPr kumimoji="1" lang="en-US" altLang="ja-JP" kern="0">
              <a:latin typeface="BIZ UDPゴシック" panose="020B0400000000000000" pitchFamily="50" charset="-128"/>
              <a:ea typeface="BIZ UDPゴシック" panose="020B0400000000000000" pitchFamily="50" charset="-128"/>
            </a:endParaRPr>
          </a:p>
          <a:p>
            <a:pPr marL="342900" indent="-342900" algn="l">
              <a:lnSpc>
                <a:spcPct val="150000"/>
              </a:lnSpc>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どれを</a:t>
            </a:r>
            <a:r>
              <a:rPr kumimoji="1" lang="ja-JP" altLang="en-US" kern="0">
                <a:solidFill>
                  <a:srgbClr val="FF0000"/>
                </a:solidFill>
                <a:latin typeface="BIZ UDPゴシック" panose="020B0400000000000000" pitchFamily="50" charset="-128"/>
                <a:ea typeface="BIZ UDPゴシック" panose="020B0400000000000000" pitchFamily="50" charset="-128"/>
              </a:rPr>
              <a:t>マスター原本</a:t>
            </a:r>
            <a:r>
              <a:rPr kumimoji="1" lang="ja-JP" altLang="en-US" kern="0">
                <a:latin typeface="BIZ UDPゴシック" panose="020B0400000000000000" pitchFamily="50" charset="-128"/>
                <a:ea typeface="BIZ UDPゴシック" panose="020B0400000000000000" pitchFamily="50" charset="-128"/>
              </a:rPr>
              <a:t>にしたら良いのか分からなくなる</a:t>
            </a:r>
            <a:endParaRPr kumimoji="1" lang="en-US" altLang="ja-JP" kern="0">
              <a:latin typeface="BIZ UDPゴシック" panose="020B0400000000000000" pitchFamily="50" charset="-128"/>
              <a:ea typeface="BIZ UDPゴシック" panose="020B0400000000000000" pitchFamily="50" charset="-128"/>
            </a:endParaRPr>
          </a:p>
          <a:p>
            <a:pPr marL="342900" indent="-342900" algn="l">
              <a:lnSpc>
                <a:spcPct val="150000"/>
              </a:lnSpc>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内容の更新が必要なときに</a:t>
            </a:r>
            <a:r>
              <a:rPr kumimoji="1" lang="ja-JP" altLang="en-US" kern="0">
                <a:solidFill>
                  <a:srgbClr val="FF0000"/>
                </a:solidFill>
                <a:latin typeface="BIZ UDPゴシック" panose="020B0400000000000000" pitchFamily="50" charset="-128"/>
                <a:ea typeface="BIZ UDPゴシック" panose="020B0400000000000000" pitchFamily="50" charset="-128"/>
              </a:rPr>
              <a:t>すべてを修正するのが面倒</a:t>
            </a:r>
            <a:endParaRPr kumimoji="1"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68483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BFF1820B-D575-AB84-7096-F9D00E1EBDA1}"/>
              </a:ext>
            </a:extLst>
          </p:cNvPr>
          <p:cNvSpPr/>
          <p:nvPr/>
        </p:nvSpPr>
        <p:spPr bwMode="auto">
          <a:xfrm>
            <a:off x="767408" y="1124744"/>
            <a:ext cx="10441160"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2.3) 悩み２： 章・節番号をつけるのが面倒くさい</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研修用テキストはページ数が多いので章・節番号をつけたくなる。</a:t>
            </a:r>
            <a:endParaRPr kumimoji="1" lang="en-US" altLang="ja-JP" sz="2400" kern="0">
              <a:latin typeface="BIZ UDPゴシック" panose="020B0400000000000000" pitchFamily="50" charset="-128"/>
              <a:ea typeface="BIZ UDPゴシック" panose="020B0400000000000000" pitchFamily="50" charset="-128"/>
            </a:endParaRPr>
          </a:p>
          <a:p>
            <a:pPr algn="l"/>
            <a:r>
              <a:rPr kumimoji="1" lang="ja-JP" altLang="en-US" sz="2400" kern="0">
                <a:latin typeface="BIZ UDPゴシック" panose="020B0400000000000000" pitchFamily="50" charset="-128"/>
                <a:ea typeface="BIZ UDPゴシック" panose="020B0400000000000000" pitchFamily="50" charset="-128"/>
              </a:rPr>
              <a:t>しかし自動付番機能がないので手作業でやらなければならない。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5" name="テキスト ボックス 44">
            <a:extLst>
              <a:ext uri="{FF2B5EF4-FFF2-40B4-BE49-F238E27FC236}">
                <a16:creationId xmlns:a16="http://schemas.microsoft.com/office/drawing/2014/main" id="{0035FD0D-15CF-40C4-04D6-0CBFF1611663}"/>
              </a:ext>
            </a:extLst>
          </p:cNvPr>
          <p:cNvSpPr txBox="1"/>
          <p:nvPr/>
        </p:nvSpPr>
        <p:spPr bwMode="auto">
          <a:xfrm>
            <a:off x="7655416" y="2816785"/>
            <a:ext cx="2672234" cy="20313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1</a:t>
            </a:r>
            <a:r>
              <a:rPr kumimoji="1" lang="ja-JP" altLang="en-US" sz="1800" kern="0">
                <a:latin typeface="BIZ UDPゴシック" panose="020B0400000000000000" pitchFamily="50" charset="-128"/>
                <a:ea typeface="BIZ UDPゴシック" panose="020B0400000000000000" pitchFamily="50" charset="-128"/>
              </a:rPr>
              <a:t>章 ・・・・・</a:t>
            </a:r>
            <a:endParaRPr kumimoji="1"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1.1</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1.2</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a:p>
            <a:pPr algn="l"/>
            <a:endParaRPr kumimoji="1"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2</a:t>
            </a:r>
            <a:r>
              <a:rPr lang="ja-JP" altLang="en-US" sz="1800" kern="0">
                <a:latin typeface="BIZ UDPゴシック" panose="020B0400000000000000" pitchFamily="50" charset="-128"/>
                <a:ea typeface="BIZ UDPゴシック" panose="020B0400000000000000" pitchFamily="50" charset="-128"/>
              </a:rPr>
              <a:t>章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2.1</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2.2</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p:txBody>
      </p:sp>
      <p:sp>
        <p:nvSpPr>
          <p:cNvPr id="47" name="正方形/長方形 46">
            <a:extLst>
              <a:ext uri="{FF2B5EF4-FFF2-40B4-BE49-F238E27FC236}">
                <a16:creationId xmlns:a16="http://schemas.microsoft.com/office/drawing/2014/main" id="{A73B2376-19E8-FC8F-7252-F0A8E934ED8D}"/>
              </a:ext>
            </a:extLst>
          </p:cNvPr>
          <p:cNvSpPr/>
          <p:nvPr/>
        </p:nvSpPr>
        <p:spPr bwMode="auto">
          <a:xfrm>
            <a:off x="2251452" y="3649974"/>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8" name="正方形/長方形 47">
            <a:extLst>
              <a:ext uri="{FF2B5EF4-FFF2-40B4-BE49-F238E27FC236}">
                <a16:creationId xmlns:a16="http://schemas.microsoft.com/office/drawing/2014/main" id="{E4A18546-8D3F-2C89-5B9D-D02DA5F70E3A}"/>
              </a:ext>
            </a:extLst>
          </p:cNvPr>
          <p:cNvSpPr/>
          <p:nvPr/>
        </p:nvSpPr>
        <p:spPr bwMode="auto">
          <a:xfrm>
            <a:off x="2190250" y="3581041"/>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9" name="正方形/長方形 48">
            <a:extLst>
              <a:ext uri="{FF2B5EF4-FFF2-40B4-BE49-F238E27FC236}">
                <a16:creationId xmlns:a16="http://schemas.microsoft.com/office/drawing/2014/main" id="{E2A0C2B5-9B3B-2024-A020-9A746105FA09}"/>
              </a:ext>
            </a:extLst>
          </p:cNvPr>
          <p:cNvSpPr/>
          <p:nvPr/>
        </p:nvSpPr>
        <p:spPr bwMode="auto">
          <a:xfrm>
            <a:off x="2129046" y="3512109"/>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0" name="正方形/長方形 49">
            <a:extLst>
              <a:ext uri="{FF2B5EF4-FFF2-40B4-BE49-F238E27FC236}">
                <a16:creationId xmlns:a16="http://schemas.microsoft.com/office/drawing/2014/main" id="{DF941AB9-050E-C43F-9A02-C67B278EB9A6}"/>
              </a:ext>
            </a:extLst>
          </p:cNvPr>
          <p:cNvSpPr/>
          <p:nvPr/>
        </p:nvSpPr>
        <p:spPr bwMode="auto">
          <a:xfrm>
            <a:off x="2067842" y="3443177"/>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1" name="正方形/長方形 50">
            <a:extLst>
              <a:ext uri="{FF2B5EF4-FFF2-40B4-BE49-F238E27FC236}">
                <a16:creationId xmlns:a16="http://schemas.microsoft.com/office/drawing/2014/main" id="{4C7AB1AC-DFD5-E6AC-D845-987C5231DE03}"/>
              </a:ext>
            </a:extLst>
          </p:cNvPr>
          <p:cNvSpPr/>
          <p:nvPr/>
        </p:nvSpPr>
        <p:spPr bwMode="auto">
          <a:xfrm>
            <a:off x="2006638" y="3374245"/>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2" name="正方形/長方形 51">
            <a:extLst>
              <a:ext uri="{FF2B5EF4-FFF2-40B4-BE49-F238E27FC236}">
                <a16:creationId xmlns:a16="http://schemas.microsoft.com/office/drawing/2014/main" id="{BFD7D91B-EA6F-98CD-937F-34402509830F}"/>
              </a:ext>
            </a:extLst>
          </p:cNvPr>
          <p:cNvSpPr/>
          <p:nvPr/>
        </p:nvSpPr>
        <p:spPr bwMode="auto">
          <a:xfrm>
            <a:off x="1945434" y="3305313"/>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3" name="正方形/長方形 52">
            <a:extLst>
              <a:ext uri="{FF2B5EF4-FFF2-40B4-BE49-F238E27FC236}">
                <a16:creationId xmlns:a16="http://schemas.microsoft.com/office/drawing/2014/main" id="{339DE2FD-2A88-AC64-3703-4634BC9A4A29}"/>
              </a:ext>
            </a:extLst>
          </p:cNvPr>
          <p:cNvSpPr/>
          <p:nvPr/>
        </p:nvSpPr>
        <p:spPr bwMode="auto">
          <a:xfrm>
            <a:off x="1884230" y="3236381"/>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54" name="図 53">
            <a:extLst>
              <a:ext uri="{FF2B5EF4-FFF2-40B4-BE49-F238E27FC236}">
                <a16:creationId xmlns:a16="http://schemas.microsoft.com/office/drawing/2014/main" id="{9D2EE2A0-F58F-B56F-0BDD-66FB907824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5602" y="3454097"/>
            <a:ext cx="571699" cy="547977"/>
          </a:xfrm>
          <a:prstGeom prst="rect">
            <a:avLst/>
          </a:prstGeom>
        </p:spPr>
      </p:pic>
      <p:sp>
        <p:nvSpPr>
          <p:cNvPr id="55" name="テキスト ボックス 54">
            <a:extLst>
              <a:ext uri="{FF2B5EF4-FFF2-40B4-BE49-F238E27FC236}">
                <a16:creationId xmlns:a16="http://schemas.microsoft.com/office/drawing/2014/main" id="{67B52A22-B6DC-D533-BB9C-F65C2D695BFD}"/>
              </a:ext>
            </a:extLst>
          </p:cNvPr>
          <p:cNvSpPr txBox="1"/>
          <p:nvPr/>
        </p:nvSpPr>
        <p:spPr bwMode="auto">
          <a:xfrm>
            <a:off x="1307085" y="2764808"/>
            <a:ext cx="25504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大きな </a:t>
            </a:r>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ファイル</a:t>
            </a:r>
          </a:p>
        </p:txBody>
      </p:sp>
      <p:cxnSp>
        <p:nvCxnSpPr>
          <p:cNvPr id="57" name="直線矢印コネクタ 56">
            <a:extLst>
              <a:ext uri="{FF2B5EF4-FFF2-40B4-BE49-F238E27FC236}">
                <a16:creationId xmlns:a16="http://schemas.microsoft.com/office/drawing/2014/main" id="{C54D028C-9A6E-8D77-079A-DF486B841B0E}"/>
              </a:ext>
            </a:extLst>
          </p:cNvPr>
          <p:cNvCxnSpPr>
            <a:cxnSpLocks/>
          </p:cNvCxnSpPr>
          <p:nvPr/>
        </p:nvCxnSpPr>
        <p:spPr bwMode="auto">
          <a:xfrm>
            <a:off x="3335405" y="3901380"/>
            <a:ext cx="3888432"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58" name="テキスト ボックス 57">
            <a:extLst>
              <a:ext uri="{FF2B5EF4-FFF2-40B4-BE49-F238E27FC236}">
                <a16:creationId xmlns:a16="http://schemas.microsoft.com/office/drawing/2014/main" id="{38161F5C-1662-B3FB-2B29-3C417AB637B3}"/>
              </a:ext>
            </a:extLst>
          </p:cNvPr>
          <p:cNvSpPr txBox="1"/>
          <p:nvPr/>
        </p:nvSpPr>
        <p:spPr bwMode="auto">
          <a:xfrm>
            <a:off x="3692206" y="3292556"/>
            <a:ext cx="3408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こんなナンバリングをしたい</a:t>
            </a:r>
          </a:p>
        </p:txBody>
      </p:sp>
      <p:sp>
        <p:nvSpPr>
          <p:cNvPr id="60" name="テキスト ボックス 59">
            <a:extLst>
              <a:ext uri="{FF2B5EF4-FFF2-40B4-BE49-F238E27FC236}">
                <a16:creationId xmlns:a16="http://schemas.microsoft.com/office/drawing/2014/main" id="{255CF21E-F34D-2855-9B9A-C9BABF118E7C}"/>
              </a:ext>
            </a:extLst>
          </p:cNvPr>
          <p:cNvSpPr txBox="1"/>
          <p:nvPr/>
        </p:nvSpPr>
        <p:spPr bwMode="auto">
          <a:xfrm>
            <a:off x="7392144" y="5013176"/>
            <a:ext cx="39604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Ｗｏｒｄなら簡単にできるのに、</a:t>
            </a:r>
            <a:endParaRPr kumimoji="1" lang="en-US" altLang="ja-JP" sz="1800" kern="0">
              <a:latin typeface="BIZ UDPゴシック" panose="020B0400000000000000" pitchFamily="50" charset="-128"/>
              <a:ea typeface="BIZ UDPゴシック" panose="020B0400000000000000" pitchFamily="50" charset="-128"/>
            </a:endParaRPr>
          </a:p>
          <a:p>
            <a:pPr algn="l"/>
            <a:r>
              <a:rPr lang="en-US" altLang="ja-JP" sz="1800" kern="0">
                <a:latin typeface="BIZ UDPゴシック" panose="020B0400000000000000" pitchFamily="50" charset="-128"/>
                <a:ea typeface="BIZ UDPゴシック" panose="020B0400000000000000" pitchFamily="50" charset="-128"/>
              </a:rPr>
              <a:t>PowerPoint </a:t>
            </a:r>
            <a:r>
              <a:rPr lang="ja-JP" altLang="en-US" sz="1800" kern="0">
                <a:latin typeface="BIZ UDPゴシック" panose="020B0400000000000000" pitchFamily="50" charset="-128"/>
                <a:ea typeface="BIZ UDPゴシック" panose="020B0400000000000000" pitchFamily="50" charset="-128"/>
              </a:rPr>
              <a:t>にはその機能がない</a:t>
            </a:r>
            <a:endParaRPr kumimoji="1" lang="ja-JP" altLang="en-US" sz="18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353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4363A519-4846-A46A-55C2-3F881FF7C9B3}"/>
              </a:ext>
            </a:extLst>
          </p:cNvPr>
          <p:cNvSpPr/>
          <p:nvPr/>
        </p:nvSpPr>
        <p:spPr bwMode="auto">
          <a:xfrm>
            <a:off x="898656" y="1124744"/>
            <a:ext cx="10525935"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2.4) なんとかこの悩みを解決できないか？</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つまり悩みは大まかにこの二つ</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61" name="テキスト ボックス 60">
            <a:extLst>
              <a:ext uri="{FF2B5EF4-FFF2-40B4-BE49-F238E27FC236}">
                <a16:creationId xmlns:a16="http://schemas.microsoft.com/office/drawing/2014/main" id="{7A5E077F-0C16-18B5-B6B2-049A18CFCFED}"/>
              </a:ext>
            </a:extLst>
          </p:cNvPr>
          <p:cNvSpPr txBox="1"/>
          <p:nvPr/>
        </p:nvSpPr>
        <p:spPr bwMode="auto">
          <a:xfrm>
            <a:off x="1244610" y="2206220"/>
            <a:ext cx="3960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悩み１：　コピー増殖問題</a:t>
            </a:r>
          </a:p>
        </p:txBody>
      </p:sp>
      <p:sp>
        <p:nvSpPr>
          <p:cNvPr id="62" name="テキスト ボックス 61">
            <a:extLst>
              <a:ext uri="{FF2B5EF4-FFF2-40B4-BE49-F238E27FC236}">
                <a16:creationId xmlns:a16="http://schemas.microsoft.com/office/drawing/2014/main" id="{DDE890EB-4571-2A30-8D4E-B66861819361}"/>
              </a:ext>
            </a:extLst>
          </p:cNvPr>
          <p:cNvSpPr txBox="1"/>
          <p:nvPr/>
        </p:nvSpPr>
        <p:spPr bwMode="auto">
          <a:xfrm>
            <a:off x="1244610" y="2901631"/>
            <a:ext cx="3960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悩み２：　章節番号問題</a:t>
            </a:r>
          </a:p>
        </p:txBody>
      </p:sp>
      <p:sp>
        <p:nvSpPr>
          <p:cNvPr id="66" name="二等辺三角形 65">
            <a:extLst>
              <a:ext uri="{FF2B5EF4-FFF2-40B4-BE49-F238E27FC236}">
                <a16:creationId xmlns:a16="http://schemas.microsoft.com/office/drawing/2014/main" id="{39790FE5-F4D9-C042-4749-E6EAFE690CAA}"/>
              </a:ext>
            </a:extLst>
          </p:cNvPr>
          <p:cNvSpPr/>
          <p:nvPr/>
        </p:nvSpPr>
        <p:spPr bwMode="auto">
          <a:xfrm rot="6096295">
            <a:off x="4529819" y="3980400"/>
            <a:ext cx="264728" cy="746367"/>
          </a:xfrm>
          <a:prstGeom prst="triangle">
            <a:avLst>
              <a:gd name="adj" fmla="val 100000"/>
            </a:avLst>
          </a:prstGeom>
          <a:solidFill>
            <a:schemeClr val="accent1">
              <a:lumMod val="40000"/>
              <a:lumOff val="60000"/>
            </a:schemeClr>
          </a:solidFill>
          <a:ln w="19050" cap="flat" cmpd="sng" algn="ctr">
            <a:noFill/>
            <a:prstDash val="solid"/>
            <a:round/>
            <a:headEnd type="none" w="med" len="med"/>
            <a:tailEnd type="none" w="med" len="med"/>
          </a:ln>
          <a:effectLst/>
        </p:spPr>
        <p:txBody>
          <a:bodyPr rtlCol="0" anchor="ctr"/>
          <a:lstStyle/>
          <a:p>
            <a:pPr algn="ctr"/>
            <a:endParaRPr lang="ja-JP" altLang="en-US" sz="1600" dirty="0">
              <a:latin typeface="BIZ UDPゴシック" panose="020B0400000000000000" pitchFamily="50" charset="-128"/>
              <a:ea typeface="BIZ UDPゴシック" panose="020B0400000000000000" pitchFamily="50" charset="-128"/>
            </a:endParaRPr>
          </a:p>
        </p:txBody>
      </p:sp>
      <p:sp>
        <p:nvSpPr>
          <p:cNvPr id="67" name="四角形: 角を丸くする 66">
            <a:extLst>
              <a:ext uri="{FF2B5EF4-FFF2-40B4-BE49-F238E27FC236}">
                <a16:creationId xmlns:a16="http://schemas.microsoft.com/office/drawing/2014/main" id="{E80A46C1-788A-3E17-0ABB-DEBF088E6039}"/>
              </a:ext>
            </a:extLst>
          </p:cNvPr>
          <p:cNvSpPr/>
          <p:nvPr/>
        </p:nvSpPr>
        <p:spPr bwMode="auto">
          <a:xfrm>
            <a:off x="1423815" y="3967560"/>
            <a:ext cx="2920005" cy="817870"/>
          </a:xfrm>
          <a:prstGeom prst="roundRect">
            <a:avLst>
              <a:gd name="adj" fmla="val 26232"/>
            </a:avLst>
          </a:prstGeom>
          <a:solidFill>
            <a:schemeClr val="accent1">
              <a:lumMod val="40000"/>
              <a:lumOff val="60000"/>
            </a:schemeClr>
          </a:solidFill>
          <a:ln w="19050" cap="flat" cmpd="sng" algn="ctr">
            <a:noFill/>
            <a:prstDash val="solid"/>
            <a:round/>
            <a:headEnd type="none" w="med" len="med"/>
            <a:tailEnd type="none" w="med" len="med"/>
          </a:ln>
          <a:effectLst/>
        </p:spPr>
        <p:txBody>
          <a:bodyPr rtlCol="0" anchor="ctr"/>
          <a:lstStyle/>
          <a:p>
            <a:pPr algn="ctr"/>
            <a:endParaRPr kumimoji="1" lang="ja-JP" altLang="en-US" sz="1200" dirty="0">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5B3D577D-9AD5-8921-33EC-108F8AE64228}"/>
              </a:ext>
            </a:extLst>
          </p:cNvPr>
          <p:cNvSpPr txBox="1"/>
          <p:nvPr/>
        </p:nvSpPr>
        <p:spPr bwMode="auto">
          <a:xfrm>
            <a:off x="1516078" y="3998244"/>
            <a:ext cx="288009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これを解決するために</a:t>
            </a:r>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latin typeface="BIZ UDPゴシック" panose="020B0400000000000000" pitchFamily="50" charset="-128"/>
                <a:ea typeface="BIZ UDPゴシック" panose="020B0400000000000000" pitchFamily="50" charset="-128"/>
              </a:rPr>
              <a:t>作りました！</a:t>
            </a:r>
            <a:endParaRPr kumimoji="1" lang="ja-JP" altLang="en-US" kern="0" dirty="0">
              <a:latin typeface="BIZ UDPゴシック" panose="020B0400000000000000" pitchFamily="50" charset="-128"/>
              <a:ea typeface="BIZ UDPゴシック" panose="020B0400000000000000" pitchFamily="50" charset="-128"/>
            </a:endParaRPr>
          </a:p>
        </p:txBody>
      </p:sp>
      <p:sp>
        <p:nvSpPr>
          <p:cNvPr id="69" name="テキスト ボックス 68">
            <a:extLst>
              <a:ext uri="{FF2B5EF4-FFF2-40B4-BE49-F238E27FC236}">
                <a16:creationId xmlns:a16="http://schemas.microsoft.com/office/drawing/2014/main" id="{A7E3871E-9EAB-7440-EC41-6681159E8106}"/>
              </a:ext>
            </a:extLst>
          </p:cNvPr>
          <p:cNvSpPr txBox="1"/>
          <p:nvPr/>
        </p:nvSpPr>
        <p:spPr bwMode="auto">
          <a:xfrm>
            <a:off x="6426293" y="4052751"/>
            <a:ext cx="47921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400" kern="0">
                <a:latin typeface="BIZ UDPゴシック" panose="020B0400000000000000" pitchFamily="50" charset="-128"/>
                <a:ea typeface="BIZ UDPゴシック" panose="020B0400000000000000" pitchFamily="50" charset="-128"/>
              </a:rPr>
              <a:t>PowerPoint</a:t>
            </a:r>
            <a:r>
              <a:rPr kumimoji="1" lang="ja-JP" altLang="en-US" sz="2400" kern="0">
                <a:latin typeface="BIZ UDPゴシック" panose="020B0400000000000000" pitchFamily="50" charset="-128"/>
                <a:ea typeface="BIZ UDPゴシック" panose="020B0400000000000000" pitchFamily="50" charset="-128"/>
              </a:rPr>
              <a:t>部品マージツール</a:t>
            </a:r>
          </a:p>
        </p:txBody>
      </p:sp>
      <p:pic>
        <p:nvPicPr>
          <p:cNvPr id="71" name="図 70">
            <a:extLst>
              <a:ext uri="{FF2B5EF4-FFF2-40B4-BE49-F238E27FC236}">
                <a16:creationId xmlns:a16="http://schemas.microsoft.com/office/drawing/2014/main" id="{070E56B7-2AC2-B4AF-FF1D-7484B1206376}"/>
              </a:ext>
            </a:extLst>
          </p:cNvPr>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4309358" y="4049697"/>
            <a:ext cx="1911012" cy="1911012"/>
          </a:xfrm>
          <a:prstGeom prst="rect">
            <a:avLst/>
          </a:prstGeom>
        </p:spPr>
      </p:pic>
      <p:pic>
        <p:nvPicPr>
          <p:cNvPr id="74" name="図 73">
            <a:extLst>
              <a:ext uri="{FF2B5EF4-FFF2-40B4-BE49-F238E27FC236}">
                <a16:creationId xmlns:a16="http://schemas.microsoft.com/office/drawing/2014/main" id="{3F82866E-EF45-D603-0A09-DAA6A56C4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0370" y="4645466"/>
            <a:ext cx="4996380" cy="1027901"/>
          </a:xfrm>
          <a:prstGeom prst="rect">
            <a:avLst/>
          </a:prstGeom>
        </p:spPr>
      </p:pic>
    </p:spTree>
    <p:extLst>
      <p:ext uri="{BB962C8B-B14F-4D97-AF65-F5344CB8AC3E}">
        <p14:creationId xmlns:p14="http://schemas.microsoft.com/office/powerpoint/2010/main" val="39988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6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6" grpId="0" animBg="1"/>
      <p:bldP spid="67" grpId="0" animBg="1"/>
      <p:bldP spid="6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idx="4294967295"/>
          </p:nvPr>
        </p:nvSpPr>
        <p:spPr>
          <a:xfrm>
            <a:off x="1415480" y="3068638"/>
            <a:ext cx="9877425" cy="501650"/>
          </a:xfrm>
        </p:spPr>
        <p:txBody>
          <a:bodyPr anchor="ctr"/>
          <a:lstStyle/>
          <a:p>
            <a:pPr algn="ctr"/>
            <a:r>
              <a:rPr lang="ja-JP" altLang="en-US" sz="4000"/>
              <a:t>問題構造の整理と解決策</a:t>
            </a:r>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1127448" y="1052736"/>
            <a:ext cx="28803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kumimoji="1" lang="ja-JP" altLang="en-US" sz="3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594484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96559039-C5CB-5CDC-E242-86F2425DC80D}"/>
              </a:ext>
            </a:extLst>
          </p:cNvPr>
          <p:cNvSpPr/>
          <p:nvPr/>
        </p:nvSpPr>
        <p:spPr bwMode="auto">
          <a:xfrm>
            <a:off x="767408" y="1124744"/>
            <a:ext cx="9289032"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3.1) まずは問題の構造を整理すると・・・</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大きな</a:t>
            </a:r>
            <a:r>
              <a:rPr kumimoji="1" lang="en-US" altLang="ja-JP" sz="2400" kern="0">
                <a:latin typeface="BIZ UDPゴシック" panose="020B0400000000000000" pitchFamily="50" charset="-128"/>
                <a:ea typeface="BIZ UDPゴシック" panose="020B0400000000000000" pitchFamily="50" charset="-128"/>
              </a:rPr>
              <a:t>PowerPoint</a:t>
            </a:r>
            <a:r>
              <a:rPr kumimoji="1" lang="ja-JP" altLang="en-US" sz="2400" kern="0">
                <a:latin typeface="BIZ UDPゴシック" panose="020B0400000000000000" pitchFamily="50" charset="-128"/>
                <a:ea typeface="BIZ UDPゴシック" panose="020B0400000000000000" pitchFamily="50" charset="-128"/>
              </a:rPr>
              <a:t>も実際は小さな部品の集合体</a:t>
            </a:r>
          </a:p>
        </p:txBody>
      </p:sp>
      <p:sp>
        <p:nvSpPr>
          <p:cNvPr id="8" name="正方形/長方形 7">
            <a:extLst>
              <a:ext uri="{FF2B5EF4-FFF2-40B4-BE49-F238E27FC236}">
                <a16:creationId xmlns:a16="http://schemas.microsoft.com/office/drawing/2014/main" id="{9559A3E1-87A8-F96E-0159-96C0D9FC7719}"/>
              </a:ext>
            </a:extLst>
          </p:cNvPr>
          <p:cNvSpPr/>
          <p:nvPr/>
        </p:nvSpPr>
        <p:spPr bwMode="auto">
          <a:xfrm>
            <a:off x="1154675" y="2701379"/>
            <a:ext cx="1595755"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5AB062B0-46B4-FCBB-36F9-3C9F845EE581}"/>
              </a:ext>
            </a:extLst>
          </p:cNvPr>
          <p:cNvSpPr/>
          <p:nvPr/>
        </p:nvSpPr>
        <p:spPr bwMode="auto">
          <a:xfrm>
            <a:off x="3512213" y="2701379"/>
            <a:ext cx="1595755"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47366BF3-B927-3C16-A121-A47CCB8E2F8E}"/>
              </a:ext>
            </a:extLst>
          </p:cNvPr>
          <p:cNvSpPr/>
          <p:nvPr/>
        </p:nvSpPr>
        <p:spPr bwMode="auto">
          <a:xfrm>
            <a:off x="5879976" y="2701379"/>
            <a:ext cx="1595755"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B276A24-0587-8E2A-E039-B8DE7CEB0843}"/>
              </a:ext>
            </a:extLst>
          </p:cNvPr>
          <p:cNvSpPr txBox="1"/>
          <p:nvPr/>
        </p:nvSpPr>
        <p:spPr bwMode="auto">
          <a:xfrm>
            <a:off x="1154675" y="1988840"/>
            <a:ext cx="15957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Ａ社向け</a:t>
            </a:r>
            <a:endParaRPr kumimoji="1" lang="en-US" altLang="ja-JP" kern="0">
              <a:latin typeface="BIZ UDPゴシック" panose="020B0400000000000000" pitchFamily="50" charset="-128"/>
              <a:ea typeface="BIZ UDPゴシック" panose="020B0400000000000000" pitchFamily="50" charset="-128"/>
            </a:endParaRPr>
          </a:p>
          <a:p>
            <a:pPr algn="ctr"/>
            <a:r>
              <a:rPr lang="en-US" altLang="ja-JP" kern="0">
                <a:latin typeface="BIZ UDPゴシック" panose="020B0400000000000000" pitchFamily="50" charset="-128"/>
                <a:ea typeface="BIZ UDPゴシック" panose="020B0400000000000000" pitchFamily="50" charset="-128"/>
              </a:rPr>
              <a:t>.pptx</a:t>
            </a:r>
            <a:endParaRPr kumimoji="1"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EB72E80E-A0CC-F847-536A-EA47F42C4E48}"/>
              </a:ext>
            </a:extLst>
          </p:cNvPr>
          <p:cNvSpPr txBox="1"/>
          <p:nvPr/>
        </p:nvSpPr>
        <p:spPr bwMode="auto">
          <a:xfrm>
            <a:off x="3512213" y="1988840"/>
            <a:ext cx="15957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Ｂ社向け</a:t>
            </a:r>
            <a:endParaRPr kumimoji="1" lang="en-US" altLang="ja-JP" kern="0">
              <a:latin typeface="BIZ UDPゴシック" panose="020B0400000000000000" pitchFamily="50" charset="-128"/>
              <a:ea typeface="BIZ UDPゴシック" panose="020B0400000000000000" pitchFamily="50" charset="-128"/>
            </a:endParaRPr>
          </a:p>
          <a:p>
            <a:pPr algn="ctr"/>
            <a:r>
              <a:rPr lang="en-US" altLang="ja-JP" kern="0">
                <a:latin typeface="BIZ UDPゴシック" panose="020B0400000000000000" pitchFamily="50" charset="-128"/>
                <a:ea typeface="BIZ UDPゴシック" panose="020B0400000000000000" pitchFamily="50" charset="-128"/>
              </a:rPr>
              <a:t>.pptx</a:t>
            </a:r>
          </a:p>
        </p:txBody>
      </p:sp>
      <p:sp>
        <p:nvSpPr>
          <p:cNvPr id="14" name="テキスト ボックス 13">
            <a:extLst>
              <a:ext uri="{FF2B5EF4-FFF2-40B4-BE49-F238E27FC236}">
                <a16:creationId xmlns:a16="http://schemas.microsoft.com/office/drawing/2014/main" id="{EC4F2AB7-E906-0251-919B-D53C48823ADB}"/>
              </a:ext>
            </a:extLst>
          </p:cNvPr>
          <p:cNvSpPr txBox="1"/>
          <p:nvPr/>
        </p:nvSpPr>
        <p:spPr bwMode="auto">
          <a:xfrm>
            <a:off x="5879976" y="1988840"/>
            <a:ext cx="15957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Ｃ社向け</a:t>
            </a:r>
            <a:endParaRPr kumimoji="1" lang="en-US" altLang="ja-JP" kern="0">
              <a:latin typeface="BIZ UDPゴシック" panose="020B0400000000000000" pitchFamily="50" charset="-128"/>
              <a:ea typeface="BIZ UDPゴシック" panose="020B0400000000000000" pitchFamily="50" charset="-128"/>
            </a:endParaRPr>
          </a:p>
          <a:p>
            <a:pPr algn="ctr"/>
            <a:r>
              <a:rPr lang="en-US" altLang="ja-JP" kern="0">
                <a:latin typeface="BIZ UDPゴシック" panose="020B0400000000000000" pitchFamily="50" charset="-128"/>
                <a:ea typeface="BIZ UDPゴシック" panose="020B0400000000000000" pitchFamily="50" charset="-128"/>
              </a:rPr>
              <a:t>.pptx</a:t>
            </a:r>
          </a:p>
        </p:txBody>
      </p:sp>
      <p:sp>
        <p:nvSpPr>
          <p:cNvPr id="16" name="正方形/長方形 15">
            <a:extLst>
              <a:ext uri="{FF2B5EF4-FFF2-40B4-BE49-F238E27FC236}">
                <a16:creationId xmlns:a16="http://schemas.microsoft.com/office/drawing/2014/main" id="{5AA271D1-A2A5-607D-7D91-5FE90CAC1B77}"/>
              </a:ext>
            </a:extLst>
          </p:cNvPr>
          <p:cNvSpPr/>
          <p:nvPr/>
        </p:nvSpPr>
        <p:spPr bwMode="auto">
          <a:xfrm>
            <a:off x="1287655" y="3706339"/>
            <a:ext cx="1329796" cy="654618"/>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AA83E1CB-04AF-F3AF-2169-B8AAD3B2D295}"/>
              </a:ext>
            </a:extLst>
          </p:cNvPr>
          <p:cNvSpPr/>
          <p:nvPr/>
        </p:nvSpPr>
        <p:spPr bwMode="auto">
          <a:xfrm>
            <a:off x="3655221" y="3706339"/>
            <a:ext cx="1329796" cy="654618"/>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C529E1B0-1520-F73F-28CC-A0BC734CEDAC}"/>
              </a:ext>
            </a:extLst>
          </p:cNvPr>
          <p:cNvSpPr/>
          <p:nvPr/>
        </p:nvSpPr>
        <p:spPr bwMode="auto">
          <a:xfrm>
            <a:off x="3655221" y="4496556"/>
            <a:ext cx="1329796" cy="654618"/>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8DD23D76-F0AB-8E06-A9AB-C1666979CDE1}"/>
              </a:ext>
            </a:extLst>
          </p:cNvPr>
          <p:cNvSpPr/>
          <p:nvPr/>
        </p:nvSpPr>
        <p:spPr bwMode="auto">
          <a:xfrm>
            <a:off x="6012955" y="4496556"/>
            <a:ext cx="1329796" cy="654618"/>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9B8B2D08-BF19-0BA3-F3FE-5AD244C7C5B3}"/>
              </a:ext>
            </a:extLst>
          </p:cNvPr>
          <p:cNvSpPr/>
          <p:nvPr/>
        </p:nvSpPr>
        <p:spPr bwMode="auto">
          <a:xfrm>
            <a:off x="1287655" y="3080065"/>
            <a:ext cx="1329796" cy="49295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AA881836-C44D-DF9B-A6F2-85FD511906EA}"/>
              </a:ext>
            </a:extLst>
          </p:cNvPr>
          <p:cNvSpPr/>
          <p:nvPr/>
        </p:nvSpPr>
        <p:spPr bwMode="auto">
          <a:xfrm>
            <a:off x="3655221" y="3080065"/>
            <a:ext cx="1329796" cy="49295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2ACCC61F-208D-56E3-F22E-178EF5556A8C}"/>
              </a:ext>
            </a:extLst>
          </p:cNvPr>
          <p:cNvSpPr/>
          <p:nvPr/>
        </p:nvSpPr>
        <p:spPr bwMode="auto">
          <a:xfrm>
            <a:off x="6012955" y="3080065"/>
            <a:ext cx="1329796" cy="49295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66BDABA-8005-7794-4BF8-EB5E368E68D2}"/>
              </a:ext>
            </a:extLst>
          </p:cNvPr>
          <p:cNvSpPr/>
          <p:nvPr/>
        </p:nvSpPr>
        <p:spPr bwMode="auto">
          <a:xfrm>
            <a:off x="1287655" y="5334265"/>
            <a:ext cx="1329796" cy="49295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F42F48BF-EA3D-1F3C-A845-1C5D86ACFAF4}"/>
              </a:ext>
            </a:extLst>
          </p:cNvPr>
          <p:cNvSpPr/>
          <p:nvPr/>
        </p:nvSpPr>
        <p:spPr bwMode="auto">
          <a:xfrm>
            <a:off x="3655221" y="5334265"/>
            <a:ext cx="1329796" cy="492951"/>
          </a:xfrm>
          <a:prstGeom prst="rect">
            <a:avLst/>
          </a:prstGeom>
          <a:solidFill>
            <a:schemeClr val="tx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DD50E33-B9D9-F7F2-C137-06AE6B971AA4}"/>
              </a:ext>
            </a:extLst>
          </p:cNvPr>
          <p:cNvSpPr/>
          <p:nvPr/>
        </p:nvSpPr>
        <p:spPr bwMode="auto">
          <a:xfrm>
            <a:off x="6012955" y="5334265"/>
            <a:ext cx="1329796" cy="492951"/>
          </a:xfrm>
          <a:prstGeom prst="rect">
            <a:avLst/>
          </a:prstGeom>
          <a:solidFill>
            <a:srgbClr val="FFC0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CA2E9035-0400-4398-C3FB-16E01295C7FF}"/>
              </a:ext>
            </a:extLst>
          </p:cNvPr>
          <p:cNvSpPr txBox="1"/>
          <p:nvPr/>
        </p:nvSpPr>
        <p:spPr bwMode="auto">
          <a:xfrm>
            <a:off x="8081755" y="3126485"/>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３社共通</a:t>
            </a:r>
          </a:p>
        </p:txBody>
      </p:sp>
      <p:sp>
        <p:nvSpPr>
          <p:cNvPr id="28" name="テキスト ボックス 27">
            <a:extLst>
              <a:ext uri="{FF2B5EF4-FFF2-40B4-BE49-F238E27FC236}">
                <a16:creationId xmlns:a16="http://schemas.microsoft.com/office/drawing/2014/main" id="{781173B7-A0C8-323F-4D97-F08043EDD41A}"/>
              </a:ext>
            </a:extLst>
          </p:cNvPr>
          <p:cNvSpPr txBox="1"/>
          <p:nvPr/>
        </p:nvSpPr>
        <p:spPr bwMode="auto">
          <a:xfrm>
            <a:off x="8081755" y="3833593"/>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２社共通</a:t>
            </a:r>
          </a:p>
        </p:txBody>
      </p:sp>
      <p:sp>
        <p:nvSpPr>
          <p:cNvPr id="29" name="テキスト ボックス 28">
            <a:extLst>
              <a:ext uri="{FF2B5EF4-FFF2-40B4-BE49-F238E27FC236}">
                <a16:creationId xmlns:a16="http://schemas.microsoft.com/office/drawing/2014/main" id="{B2B1D752-25C5-4405-2B72-7DEAD42D667A}"/>
              </a:ext>
            </a:extLst>
          </p:cNvPr>
          <p:cNvSpPr txBox="1"/>
          <p:nvPr/>
        </p:nvSpPr>
        <p:spPr bwMode="auto">
          <a:xfrm>
            <a:off x="8081755" y="4623810"/>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２社共通</a:t>
            </a:r>
          </a:p>
        </p:txBody>
      </p:sp>
      <p:sp>
        <p:nvSpPr>
          <p:cNvPr id="30" name="テキスト ボックス 29">
            <a:extLst>
              <a:ext uri="{FF2B5EF4-FFF2-40B4-BE49-F238E27FC236}">
                <a16:creationId xmlns:a16="http://schemas.microsoft.com/office/drawing/2014/main" id="{79903DB0-50A0-2DA1-3A11-ADF407EE65D6}"/>
              </a:ext>
            </a:extLst>
          </p:cNvPr>
          <p:cNvSpPr txBox="1"/>
          <p:nvPr/>
        </p:nvSpPr>
        <p:spPr bwMode="auto">
          <a:xfrm>
            <a:off x="8081755" y="5380685"/>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各社専用</a:t>
            </a:r>
          </a:p>
        </p:txBody>
      </p:sp>
      <p:cxnSp>
        <p:nvCxnSpPr>
          <p:cNvPr id="33" name="直線矢印コネクタ 32">
            <a:extLst>
              <a:ext uri="{FF2B5EF4-FFF2-40B4-BE49-F238E27FC236}">
                <a16:creationId xmlns:a16="http://schemas.microsoft.com/office/drawing/2014/main" id="{5568D6E5-2E37-AF88-BBBC-992AF62F1050}"/>
              </a:ext>
            </a:extLst>
          </p:cNvPr>
          <p:cNvCxnSpPr/>
          <p:nvPr/>
        </p:nvCxnSpPr>
        <p:spPr bwMode="auto">
          <a:xfrm flipH="1">
            <a:off x="7865731" y="3356992"/>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cxnSp>
        <p:nvCxnSpPr>
          <p:cNvPr id="34" name="直線矢印コネクタ 33">
            <a:extLst>
              <a:ext uri="{FF2B5EF4-FFF2-40B4-BE49-F238E27FC236}">
                <a16:creationId xmlns:a16="http://schemas.microsoft.com/office/drawing/2014/main" id="{5476950D-93E8-61CF-BF8E-30B1A65813FA}"/>
              </a:ext>
            </a:extLst>
          </p:cNvPr>
          <p:cNvCxnSpPr/>
          <p:nvPr/>
        </p:nvCxnSpPr>
        <p:spPr bwMode="auto">
          <a:xfrm flipH="1">
            <a:off x="7865731" y="4077072"/>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8A83D686-203E-96CB-5720-97A3562EEB13}"/>
              </a:ext>
            </a:extLst>
          </p:cNvPr>
          <p:cNvCxnSpPr/>
          <p:nvPr/>
        </p:nvCxnSpPr>
        <p:spPr bwMode="auto">
          <a:xfrm flipH="1">
            <a:off x="7865731" y="4869160"/>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cxnSp>
        <p:nvCxnSpPr>
          <p:cNvPr id="36" name="直線矢印コネクタ 35">
            <a:extLst>
              <a:ext uri="{FF2B5EF4-FFF2-40B4-BE49-F238E27FC236}">
                <a16:creationId xmlns:a16="http://schemas.microsoft.com/office/drawing/2014/main" id="{F8379F68-6E8A-1491-36BA-554E7CDFB5E5}"/>
              </a:ext>
            </a:extLst>
          </p:cNvPr>
          <p:cNvCxnSpPr/>
          <p:nvPr/>
        </p:nvCxnSpPr>
        <p:spPr bwMode="auto">
          <a:xfrm flipH="1">
            <a:off x="7865731" y="5589240"/>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spTree>
    <p:extLst>
      <p:ext uri="{BB962C8B-B14F-4D97-AF65-F5344CB8AC3E}">
        <p14:creationId xmlns:p14="http://schemas.microsoft.com/office/powerpoint/2010/main" val="340136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0" name="exportrange">
            <a:extLst>
              <a:ext uri="{FF2B5EF4-FFF2-40B4-BE49-F238E27FC236}">
                <a16:creationId xmlns:a16="http://schemas.microsoft.com/office/drawing/2014/main" id="{3CCB5A9E-7873-E67D-6354-CE1EE8E271CA}"/>
              </a:ext>
            </a:extLst>
          </p:cNvPr>
          <p:cNvSpPr/>
          <p:nvPr/>
        </p:nvSpPr>
        <p:spPr bwMode="auto">
          <a:xfrm>
            <a:off x="767408" y="1060833"/>
            <a:ext cx="10507674" cy="5464511"/>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3.2) 部品を組み合わせて完成版を構成する仕組みを作る</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grpSp>
        <p:nvGrpSpPr>
          <p:cNvPr id="9" name="グループ化 8">
            <a:extLst>
              <a:ext uri="{FF2B5EF4-FFF2-40B4-BE49-F238E27FC236}">
                <a16:creationId xmlns:a16="http://schemas.microsoft.com/office/drawing/2014/main" id="{74A93DEB-A83F-19EB-654B-43CC9B41AA88}"/>
              </a:ext>
            </a:extLst>
          </p:cNvPr>
          <p:cNvGrpSpPr/>
          <p:nvPr/>
        </p:nvGrpSpPr>
        <p:grpSpPr>
          <a:xfrm>
            <a:off x="1498523" y="3058449"/>
            <a:ext cx="1595755" cy="2450827"/>
            <a:chOff x="1498523" y="3058449"/>
            <a:chExt cx="1595755" cy="2756048"/>
          </a:xfrm>
        </p:grpSpPr>
        <p:sp>
          <p:nvSpPr>
            <p:cNvPr id="42" name="正方形/長方形 41">
              <a:extLst>
                <a:ext uri="{FF2B5EF4-FFF2-40B4-BE49-F238E27FC236}">
                  <a16:creationId xmlns:a16="http://schemas.microsoft.com/office/drawing/2014/main" id="{EA429F61-C407-CDE7-8053-C253DF01AB6D}"/>
                </a:ext>
              </a:extLst>
            </p:cNvPr>
            <p:cNvSpPr/>
            <p:nvPr/>
          </p:nvSpPr>
          <p:spPr bwMode="auto">
            <a:xfrm>
              <a:off x="1498523" y="3058449"/>
              <a:ext cx="1595755" cy="275604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5AA271D1-A2A5-607D-7D91-5FE90CAC1B77}"/>
                </a:ext>
              </a:extLst>
            </p:cNvPr>
            <p:cNvSpPr/>
            <p:nvPr/>
          </p:nvSpPr>
          <p:spPr bwMode="auto">
            <a:xfrm>
              <a:off x="1631504" y="3651968"/>
              <a:ext cx="1329796" cy="491824"/>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C529E1B0-1520-F73F-28CC-A0BC734CEDAC}"/>
                </a:ext>
              </a:extLst>
            </p:cNvPr>
            <p:cNvSpPr/>
            <p:nvPr/>
          </p:nvSpPr>
          <p:spPr bwMode="auto">
            <a:xfrm>
              <a:off x="1631503" y="4263510"/>
              <a:ext cx="1329796" cy="491824"/>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9B8B2D08-BF19-0BA3-F3FE-5AD244C7C5B3}"/>
                </a:ext>
              </a:extLst>
            </p:cNvPr>
            <p:cNvSpPr/>
            <p:nvPr/>
          </p:nvSpPr>
          <p:spPr bwMode="auto">
            <a:xfrm>
              <a:off x="1631504" y="3181439"/>
              <a:ext cx="1329796" cy="37036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66BDABA-8005-7794-4BF8-EB5E368E68D2}"/>
                </a:ext>
              </a:extLst>
            </p:cNvPr>
            <p:cNvSpPr/>
            <p:nvPr/>
          </p:nvSpPr>
          <p:spPr bwMode="auto">
            <a:xfrm>
              <a:off x="1631504" y="4875053"/>
              <a:ext cx="1329796" cy="37036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DD50E33-B9D9-F7F2-C137-06AE6B971AA4}"/>
                </a:ext>
              </a:extLst>
            </p:cNvPr>
            <p:cNvSpPr/>
            <p:nvPr/>
          </p:nvSpPr>
          <p:spPr bwMode="auto">
            <a:xfrm>
              <a:off x="1635654" y="5321104"/>
              <a:ext cx="1329796" cy="370361"/>
            </a:xfrm>
            <a:prstGeom prst="rect">
              <a:avLst/>
            </a:prstGeom>
            <a:solidFill>
              <a:srgbClr val="FFC0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grpSp>
      <p:sp>
        <p:nvSpPr>
          <p:cNvPr id="4" name="正方形/長方形 3">
            <a:extLst>
              <a:ext uri="{FF2B5EF4-FFF2-40B4-BE49-F238E27FC236}">
                <a16:creationId xmlns:a16="http://schemas.microsoft.com/office/drawing/2014/main" id="{2C4888BB-B62B-EF45-4AE1-132112A9B4CA}"/>
              </a:ext>
            </a:extLst>
          </p:cNvPr>
          <p:cNvSpPr/>
          <p:nvPr/>
        </p:nvSpPr>
        <p:spPr bwMode="auto">
          <a:xfrm>
            <a:off x="4555667" y="2869498"/>
            <a:ext cx="1872208" cy="55143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Ａ社向け構成</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FB9E7DE1-6C6D-D2DE-6A03-D5233744CA21}"/>
              </a:ext>
            </a:extLst>
          </p:cNvPr>
          <p:cNvSpPr/>
          <p:nvPr/>
        </p:nvSpPr>
        <p:spPr bwMode="auto">
          <a:xfrm>
            <a:off x="4555667" y="3920657"/>
            <a:ext cx="1872208" cy="55143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Ｂ社向け構成</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5793CC7D-D304-21FE-5672-9D9F2C88A28C}"/>
              </a:ext>
            </a:extLst>
          </p:cNvPr>
          <p:cNvSpPr/>
          <p:nvPr/>
        </p:nvSpPr>
        <p:spPr bwMode="auto">
          <a:xfrm>
            <a:off x="4555667" y="4913873"/>
            <a:ext cx="1872208" cy="55143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Ｃ社向け構成</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grpSp>
        <p:nvGrpSpPr>
          <p:cNvPr id="11" name="グループ化 10">
            <a:extLst>
              <a:ext uri="{FF2B5EF4-FFF2-40B4-BE49-F238E27FC236}">
                <a16:creationId xmlns:a16="http://schemas.microsoft.com/office/drawing/2014/main" id="{CC6F7636-2E68-1650-49B6-071DFC74DC7C}"/>
              </a:ext>
            </a:extLst>
          </p:cNvPr>
          <p:cNvGrpSpPr/>
          <p:nvPr/>
        </p:nvGrpSpPr>
        <p:grpSpPr>
          <a:xfrm>
            <a:off x="8462523" y="2825529"/>
            <a:ext cx="639372" cy="639372"/>
            <a:chOff x="3503712" y="3429000"/>
            <a:chExt cx="936104" cy="936104"/>
          </a:xfrm>
        </p:grpSpPr>
        <p:sp>
          <p:nvSpPr>
            <p:cNvPr id="15" name="正方形/長方形 14">
              <a:extLst>
                <a:ext uri="{FF2B5EF4-FFF2-40B4-BE49-F238E27FC236}">
                  <a16:creationId xmlns:a16="http://schemas.microsoft.com/office/drawing/2014/main" id="{77A9C718-37F2-48E3-48ED-E73E7B94EFD0}"/>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6" name="図 25">
              <a:extLst>
                <a:ext uri="{FF2B5EF4-FFF2-40B4-BE49-F238E27FC236}">
                  <a16:creationId xmlns:a16="http://schemas.microsoft.com/office/drawing/2014/main" id="{A2A0A557-02B6-2D38-56B4-21B2FC2A9C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31" name="グループ化 30">
            <a:extLst>
              <a:ext uri="{FF2B5EF4-FFF2-40B4-BE49-F238E27FC236}">
                <a16:creationId xmlns:a16="http://schemas.microsoft.com/office/drawing/2014/main" id="{DDCC4BEC-AC9E-EA38-DB72-5C2352DB9300}"/>
              </a:ext>
            </a:extLst>
          </p:cNvPr>
          <p:cNvGrpSpPr/>
          <p:nvPr/>
        </p:nvGrpSpPr>
        <p:grpSpPr>
          <a:xfrm>
            <a:off x="8462523" y="3876688"/>
            <a:ext cx="639372" cy="639372"/>
            <a:chOff x="3503712" y="3429000"/>
            <a:chExt cx="936104" cy="936104"/>
          </a:xfrm>
        </p:grpSpPr>
        <p:sp>
          <p:nvSpPr>
            <p:cNvPr id="32" name="正方形/長方形 31">
              <a:extLst>
                <a:ext uri="{FF2B5EF4-FFF2-40B4-BE49-F238E27FC236}">
                  <a16:creationId xmlns:a16="http://schemas.microsoft.com/office/drawing/2014/main" id="{96F8D83B-77A1-8DC1-B46A-E3A6EDDA66E4}"/>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37" name="図 36">
              <a:extLst>
                <a:ext uri="{FF2B5EF4-FFF2-40B4-BE49-F238E27FC236}">
                  <a16:creationId xmlns:a16="http://schemas.microsoft.com/office/drawing/2014/main" id="{B79FDF42-3592-05C0-CA28-D809C8F5FB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38" name="グループ化 37">
            <a:extLst>
              <a:ext uri="{FF2B5EF4-FFF2-40B4-BE49-F238E27FC236}">
                <a16:creationId xmlns:a16="http://schemas.microsoft.com/office/drawing/2014/main" id="{F38B3DF5-9C4F-5F76-171E-584E82F8D34B}"/>
              </a:ext>
            </a:extLst>
          </p:cNvPr>
          <p:cNvGrpSpPr/>
          <p:nvPr/>
        </p:nvGrpSpPr>
        <p:grpSpPr>
          <a:xfrm>
            <a:off x="8462523" y="4869904"/>
            <a:ext cx="639372" cy="639372"/>
            <a:chOff x="3503712" y="3429000"/>
            <a:chExt cx="936104" cy="936104"/>
          </a:xfrm>
        </p:grpSpPr>
        <p:sp>
          <p:nvSpPr>
            <p:cNvPr id="39" name="正方形/長方形 38">
              <a:extLst>
                <a:ext uri="{FF2B5EF4-FFF2-40B4-BE49-F238E27FC236}">
                  <a16:creationId xmlns:a16="http://schemas.microsoft.com/office/drawing/2014/main" id="{F78B70D7-F24A-C0F8-4F2C-129A876FE58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40" name="図 39">
              <a:extLst>
                <a:ext uri="{FF2B5EF4-FFF2-40B4-BE49-F238E27FC236}">
                  <a16:creationId xmlns:a16="http://schemas.microsoft.com/office/drawing/2014/main" id="{41374998-C031-824B-A7A5-66D3163CE3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cxnSp>
        <p:nvCxnSpPr>
          <p:cNvPr id="44" name="直線矢印コネクタ 43">
            <a:extLst>
              <a:ext uri="{FF2B5EF4-FFF2-40B4-BE49-F238E27FC236}">
                <a16:creationId xmlns:a16="http://schemas.microsoft.com/office/drawing/2014/main" id="{85F7FCE7-2796-E34F-A961-6FDEED087D6D}"/>
              </a:ext>
            </a:extLst>
          </p:cNvPr>
          <p:cNvCxnSpPr>
            <a:endCxn id="4" idx="1"/>
          </p:cNvCxnSpPr>
          <p:nvPr/>
        </p:nvCxnSpPr>
        <p:spPr bwMode="auto">
          <a:xfrm flipV="1">
            <a:off x="3094278" y="3145216"/>
            <a:ext cx="1461389" cy="777329"/>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5" name="直線矢印コネクタ 44">
            <a:extLst>
              <a:ext uri="{FF2B5EF4-FFF2-40B4-BE49-F238E27FC236}">
                <a16:creationId xmlns:a16="http://schemas.microsoft.com/office/drawing/2014/main" id="{6C6F9090-5DC0-9A07-1750-22650D820377}"/>
              </a:ext>
            </a:extLst>
          </p:cNvPr>
          <p:cNvCxnSpPr>
            <a:cxnSpLocks/>
            <a:endCxn id="5" idx="1"/>
          </p:cNvCxnSpPr>
          <p:nvPr/>
        </p:nvCxnSpPr>
        <p:spPr bwMode="auto">
          <a:xfrm flipV="1">
            <a:off x="3094278" y="4196375"/>
            <a:ext cx="1461389" cy="25475"/>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70853D89-B5D7-F979-D433-AF19207871C2}"/>
              </a:ext>
            </a:extLst>
          </p:cNvPr>
          <p:cNvCxnSpPr>
            <a:cxnSpLocks/>
            <a:endCxn id="6" idx="1"/>
          </p:cNvCxnSpPr>
          <p:nvPr/>
        </p:nvCxnSpPr>
        <p:spPr bwMode="auto">
          <a:xfrm>
            <a:off x="3102581" y="4462773"/>
            <a:ext cx="1453086" cy="726818"/>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52" name="直線矢印コネクタ 51">
            <a:extLst>
              <a:ext uri="{FF2B5EF4-FFF2-40B4-BE49-F238E27FC236}">
                <a16:creationId xmlns:a16="http://schemas.microsoft.com/office/drawing/2014/main" id="{2A99007D-900E-1010-CE3F-E02DDB9E7EF6}"/>
              </a:ext>
            </a:extLst>
          </p:cNvPr>
          <p:cNvCxnSpPr>
            <a:cxnSpLocks/>
            <a:stCxn id="4" idx="3"/>
            <a:endCxn id="15" idx="1"/>
          </p:cNvCxnSpPr>
          <p:nvPr/>
        </p:nvCxnSpPr>
        <p:spPr bwMode="auto">
          <a:xfrm flipV="1">
            <a:off x="6427875" y="3145215"/>
            <a:ext cx="2034648" cy="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55" name="直線矢印コネクタ 54">
            <a:extLst>
              <a:ext uri="{FF2B5EF4-FFF2-40B4-BE49-F238E27FC236}">
                <a16:creationId xmlns:a16="http://schemas.microsoft.com/office/drawing/2014/main" id="{44D2952D-05D1-576D-8792-D4B4972FE101}"/>
              </a:ext>
            </a:extLst>
          </p:cNvPr>
          <p:cNvCxnSpPr>
            <a:cxnSpLocks/>
            <a:stCxn id="5" idx="3"/>
            <a:endCxn id="32" idx="1"/>
          </p:cNvCxnSpPr>
          <p:nvPr/>
        </p:nvCxnSpPr>
        <p:spPr bwMode="auto">
          <a:xfrm flipV="1">
            <a:off x="6427875" y="4196374"/>
            <a:ext cx="2034648" cy="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58" name="直線矢印コネクタ 57">
            <a:extLst>
              <a:ext uri="{FF2B5EF4-FFF2-40B4-BE49-F238E27FC236}">
                <a16:creationId xmlns:a16="http://schemas.microsoft.com/office/drawing/2014/main" id="{36CF1339-93FC-E770-3815-288B4FC8A994}"/>
              </a:ext>
            </a:extLst>
          </p:cNvPr>
          <p:cNvCxnSpPr>
            <a:cxnSpLocks/>
            <a:stCxn id="6" idx="3"/>
            <a:endCxn id="39" idx="1"/>
          </p:cNvCxnSpPr>
          <p:nvPr/>
        </p:nvCxnSpPr>
        <p:spPr bwMode="auto">
          <a:xfrm flipV="1">
            <a:off x="6427875" y="5189590"/>
            <a:ext cx="2034648" cy="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3" name="テキスト ボックス 62">
            <a:extLst>
              <a:ext uri="{FF2B5EF4-FFF2-40B4-BE49-F238E27FC236}">
                <a16:creationId xmlns:a16="http://schemas.microsoft.com/office/drawing/2014/main" id="{279F1780-6812-585A-F4D4-6BAD2694A19F}"/>
              </a:ext>
            </a:extLst>
          </p:cNvPr>
          <p:cNvSpPr txBox="1"/>
          <p:nvPr/>
        </p:nvSpPr>
        <p:spPr bwMode="auto">
          <a:xfrm>
            <a:off x="9316369" y="2824137"/>
            <a:ext cx="1761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Ａ社向け</a:t>
            </a:r>
            <a:r>
              <a:rPr kumimoji="1" lang="en-US" altLang="ja-JP" sz="1800" kern="0">
                <a:latin typeface="BIZ UDPゴシック" panose="020B0400000000000000" pitchFamily="50" charset="-128"/>
                <a:ea typeface="BIZ UDPゴシック" panose="020B0400000000000000" pitchFamily="50" charset="-128"/>
              </a:rPr>
              <a:t>pptx</a:t>
            </a:r>
          </a:p>
          <a:p>
            <a:pPr algn="l"/>
            <a:r>
              <a:rPr kumimoji="1" lang="ja-JP" altLang="en-US" sz="1800" kern="0">
                <a:latin typeface="BIZ UDPゴシック" panose="020B0400000000000000" pitchFamily="50" charset="-128"/>
                <a:ea typeface="BIZ UDPゴシック" panose="020B0400000000000000" pitchFamily="50" charset="-128"/>
              </a:rPr>
              <a:t>完成版</a:t>
            </a:r>
          </a:p>
        </p:txBody>
      </p:sp>
      <p:sp>
        <p:nvSpPr>
          <p:cNvPr id="64" name="テキスト ボックス 63">
            <a:extLst>
              <a:ext uri="{FF2B5EF4-FFF2-40B4-BE49-F238E27FC236}">
                <a16:creationId xmlns:a16="http://schemas.microsoft.com/office/drawing/2014/main" id="{D4CA9888-4F6E-67EA-2B2F-2B3A7C748A9B}"/>
              </a:ext>
            </a:extLst>
          </p:cNvPr>
          <p:cNvSpPr txBox="1"/>
          <p:nvPr/>
        </p:nvSpPr>
        <p:spPr bwMode="auto">
          <a:xfrm>
            <a:off x="9316369" y="3876784"/>
            <a:ext cx="1761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Ｂ社向け</a:t>
            </a:r>
            <a:r>
              <a:rPr kumimoji="1" lang="en-US" altLang="ja-JP" sz="1800" kern="0">
                <a:latin typeface="BIZ UDPゴシック" panose="020B0400000000000000" pitchFamily="50" charset="-128"/>
                <a:ea typeface="BIZ UDPゴシック" panose="020B0400000000000000" pitchFamily="50" charset="-128"/>
              </a:rPr>
              <a:t>pptx</a:t>
            </a:r>
          </a:p>
          <a:p>
            <a:r>
              <a:rPr lang="ja-JP" altLang="en-US" sz="1800" kern="0">
                <a:latin typeface="BIZ UDPゴシック" panose="020B0400000000000000" pitchFamily="50" charset="-128"/>
                <a:ea typeface="BIZ UDPゴシック" panose="020B0400000000000000" pitchFamily="50" charset="-128"/>
              </a:rPr>
              <a:t>完成版</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65" name="テキスト ボックス 64">
            <a:extLst>
              <a:ext uri="{FF2B5EF4-FFF2-40B4-BE49-F238E27FC236}">
                <a16:creationId xmlns:a16="http://schemas.microsoft.com/office/drawing/2014/main" id="{8CA67E14-1704-EAC7-8A84-689A3C21028D}"/>
              </a:ext>
            </a:extLst>
          </p:cNvPr>
          <p:cNvSpPr txBox="1"/>
          <p:nvPr/>
        </p:nvSpPr>
        <p:spPr bwMode="auto">
          <a:xfrm>
            <a:off x="9316369" y="4863273"/>
            <a:ext cx="1761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Ｃ社向け</a:t>
            </a:r>
            <a:r>
              <a:rPr kumimoji="1" lang="en-US" altLang="ja-JP" sz="1800" kern="0">
                <a:latin typeface="BIZ UDPゴシック" panose="020B0400000000000000" pitchFamily="50" charset="-128"/>
                <a:ea typeface="BIZ UDPゴシック" panose="020B0400000000000000" pitchFamily="50" charset="-128"/>
              </a:rPr>
              <a:t>pptx</a:t>
            </a:r>
          </a:p>
          <a:p>
            <a:r>
              <a:rPr lang="ja-JP" altLang="en-US" sz="1800" kern="0">
                <a:latin typeface="BIZ UDPゴシック" panose="020B0400000000000000" pitchFamily="50" charset="-128"/>
                <a:ea typeface="BIZ UDPゴシック" panose="020B0400000000000000" pitchFamily="50" charset="-128"/>
              </a:rPr>
              <a:t>完成版</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F565810B-C38A-7C5C-DF4A-3AA5A17ACAD9}"/>
              </a:ext>
            </a:extLst>
          </p:cNvPr>
          <p:cNvSpPr txBox="1"/>
          <p:nvPr/>
        </p:nvSpPr>
        <p:spPr bwMode="auto">
          <a:xfrm>
            <a:off x="6756645" y="2666755"/>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自動マージ</a:t>
            </a:r>
          </a:p>
        </p:txBody>
      </p:sp>
      <p:sp>
        <p:nvSpPr>
          <p:cNvPr id="67" name="テキスト ボックス 66">
            <a:extLst>
              <a:ext uri="{FF2B5EF4-FFF2-40B4-BE49-F238E27FC236}">
                <a16:creationId xmlns:a16="http://schemas.microsoft.com/office/drawing/2014/main" id="{7444C727-3B0F-1E73-1876-7055097D5159}"/>
              </a:ext>
            </a:extLst>
          </p:cNvPr>
          <p:cNvSpPr txBox="1"/>
          <p:nvPr/>
        </p:nvSpPr>
        <p:spPr bwMode="auto">
          <a:xfrm>
            <a:off x="6756645" y="3717914"/>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自動マージ</a:t>
            </a:r>
          </a:p>
        </p:txBody>
      </p:sp>
      <p:sp>
        <p:nvSpPr>
          <p:cNvPr id="68" name="テキスト ボックス 67">
            <a:extLst>
              <a:ext uri="{FF2B5EF4-FFF2-40B4-BE49-F238E27FC236}">
                <a16:creationId xmlns:a16="http://schemas.microsoft.com/office/drawing/2014/main" id="{AB53A389-031B-EF30-4701-8C4A503B9138}"/>
              </a:ext>
            </a:extLst>
          </p:cNvPr>
          <p:cNvSpPr txBox="1"/>
          <p:nvPr/>
        </p:nvSpPr>
        <p:spPr bwMode="auto">
          <a:xfrm>
            <a:off x="6756645" y="4760776"/>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自動マージ</a:t>
            </a:r>
          </a:p>
        </p:txBody>
      </p: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1277930" y="2253585"/>
            <a:ext cx="2260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部品単位で</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マスターとして管理</a:t>
            </a: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90464"/>
            <a:ext cx="103636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部品を組み合わせて（マージして）自動的に完成版として構成する仕組み</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マスターを更新するだけで各社向け完成版にも反映可能</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CCB49AB0-787C-600A-E1C4-ECB720C0AC6E}"/>
              </a:ext>
            </a:extLst>
          </p:cNvPr>
          <p:cNvSpPr txBox="1"/>
          <p:nvPr/>
        </p:nvSpPr>
        <p:spPr bwMode="auto">
          <a:xfrm>
            <a:off x="8272611" y="5694857"/>
            <a:ext cx="279522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マージ後は編集しない</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（ごく軽微な修正を除く）</a:t>
            </a:r>
          </a:p>
        </p:txBody>
      </p:sp>
      <p:sp>
        <p:nvSpPr>
          <p:cNvPr id="8" name="テキスト ボックス 7">
            <a:extLst>
              <a:ext uri="{FF2B5EF4-FFF2-40B4-BE49-F238E27FC236}">
                <a16:creationId xmlns:a16="http://schemas.microsoft.com/office/drawing/2014/main" id="{08D2D33F-1A53-D3F2-5940-A2A2F0B9A2A7}"/>
              </a:ext>
            </a:extLst>
          </p:cNvPr>
          <p:cNvSpPr txBox="1"/>
          <p:nvPr/>
        </p:nvSpPr>
        <p:spPr bwMode="auto">
          <a:xfrm>
            <a:off x="1143859" y="5694857"/>
            <a:ext cx="279522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更新は必ず部品マスター</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に対して行う</a:t>
            </a:r>
          </a:p>
        </p:txBody>
      </p:sp>
    </p:spTree>
    <p:extLst>
      <p:ext uri="{BB962C8B-B14F-4D97-AF65-F5344CB8AC3E}">
        <p14:creationId xmlns:p14="http://schemas.microsoft.com/office/powerpoint/2010/main" val="390489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F5ED6265-0DC8-1365-B618-99538A75315F}"/>
              </a:ext>
            </a:extLst>
          </p:cNvPr>
          <p:cNvSpPr/>
          <p:nvPr/>
        </p:nvSpPr>
        <p:spPr bwMode="auto">
          <a:xfrm>
            <a:off x="770640" y="980728"/>
            <a:ext cx="10581943" cy="511256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76" name="正方形/長方形 75">
            <a:extLst>
              <a:ext uri="{FF2B5EF4-FFF2-40B4-BE49-F238E27FC236}">
                <a16:creationId xmlns:a16="http://schemas.microsoft.com/office/drawing/2014/main" id="{2D280E14-6454-AA36-C781-E5C4266B0123}"/>
              </a:ext>
            </a:extLst>
          </p:cNvPr>
          <p:cNvSpPr/>
          <p:nvPr/>
        </p:nvSpPr>
        <p:spPr bwMode="auto">
          <a:xfrm>
            <a:off x="9142815" y="3976194"/>
            <a:ext cx="1584176" cy="577489"/>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77" name="正方形/長方形 76">
            <a:extLst>
              <a:ext uri="{FF2B5EF4-FFF2-40B4-BE49-F238E27FC236}">
                <a16:creationId xmlns:a16="http://schemas.microsoft.com/office/drawing/2014/main" id="{FEC5FC33-47C1-D396-B788-7A259672076B}"/>
              </a:ext>
            </a:extLst>
          </p:cNvPr>
          <p:cNvSpPr/>
          <p:nvPr/>
        </p:nvSpPr>
        <p:spPr bwMode="auto">
          <a:xfrm>
            <a:off x="9142815" y="5077002"/>
            <a:ext cx="1584176" cy="577489"/>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EA429F61-C407-CDE7-8053-C253DF01AB6D}"/>
              </a:ext>
            </a:extLst>
          </p:cNvPr>
          <p:cNvSpPr/>
          <p:nvPr/>
        </p:nvSpPr>
        <p:spPr bwMode="auto">
          <a:xfrm>
            <a:off x="2955221" y="3032559"/>
            <a:ext cx="1595755" cy="275604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3.3) 自動マージするときに章・節番号を付与する</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6" name="正方形/長方形 15">
            <a:extLst>
              <a:ext uri="{FF2B5EF4-FFF2-40B4-BE49-F238E27FC236}">
                <a16:creationId xmlns:a16="http://schemas.microsoft.com/office/drawing/2014/main" id="{5AA271D1-A2A5-607D-7D91-5FE90CAC1B77}"/>
              </a:ext>
            </a:extLst>
          </p:cNvPr>
          <p:cNvSpPr/>
          <p:nvPr/>
        </p:nvSpPr>
        <p:spPr bwMode="auto">
          <a:xfrm>
            <a:off x="3088202" y="3601487"/>
            <a:ext cx="1329796" cy="541006"/>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ja-JP" altLang="en-US" sz="1600" kern="0">
                <a:latin typeface="BIZ UDPゴシック" panose="020B0400000000000000" pitchFamily="50" charset="-128"/>
                <a:ea typeface="BIZ UDPゴシック" panose="020B0400000000000000" pitchFamily="50" charset="-128"/>
              </a:rPr>
              <a:t>Ａ項目</a:t>
            </a:r>
            <a:endParaRPr lang="en-US" altLang="ja-JP" sz="1600" kern="0">
              <a:latin typeface="BIZ UDPゴシック" panose="020B0400000000000000" pitchFamily="50" charset="-128"/>
              <a:ea typeface="BIZ UDPゴシック" panose="020B0400000000000000" pitchFamily="50" charset="-128"/>
            </a:endParaRPr>
          </a:p>
          <a:p>
            <a:r>
              <a:rPr lang="ja-JP" altLang="en-US" sz="1600" kern="0">
                <a:latin typeface="BIZ UDPゴシック" panose="020B0400000000000000" pitchFamily="50" charset="-128"/>
                <a:ea typeface="BIZ UDPゴシック" panose="020B0400000000000000" pitchFamily="50" charset="-128"/>
              </a:rPr>
              <a:t>Ｂ項目</a:t>
            </a:r>
            <a:endParaRPr lang="en-US" altLang="ja-JP" sz="1600" kern="0">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C529E1B0-1520-F73F-28CC-A0BC734CEDAC}"/>
              </a:ext>
            </a:extLst>
          </p:cNvPr>
          <p:cNvSpPr/>
          <p:nvPr/>
        </p:nvSpPr>
        <p:spPr bwMode="auto">
          <a:xfrm>
            <a:off x="3088201" y="4213029"/>
            <a:ext cx="1329796" cy="541006"/>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ja-JP" altLang="en-US" sz="1600" kern="0">
                <a:latin typeface="BIZ UDPゴシック" panose="020B0400000000000000" pitchFamily="50" charset="-128"/>
                <a:ea typeface="BIZ UDPゴシック" panose="020B0400000000000000" pitchFamily="50" charset="-128"/>
              </a:rPr>
              <a:t>Ｃ項目</a:t>
            </a:r>
            <a:endParaRPr lang="en-US" altLang="ja-JP" sz="1600" kern="0">
              <a:latin typeface="BIZ UDPゴシック" panose="020B0400000000000000" pitchFamily="50" charset="-128"/>
              <a:ea typeface="BIZ UDPゴシック" panose="020B0400000000000000" pitchFamily="50" charset="-128"/>
            </a:endParaRPr>
          </a:p>
          <a:p>
            <a:r>
              <a:rPr lang="ja-JP" altLang="en-US" sz="1600" kern="0">
                <a:latin typeface="BIZ UDPゴシック" panose="020B0400000000000000" pitchFamily="50" charset="-128"/>
                <a:ea typeface="BIZ UDPゴシック" panose="020B0400000000000000" pitchFamily="50" charset="-128"/>
              </a:rPr>
              <a:t>Ｄ項目</a:t>
            </a:r>
            <a:endParaRPr kumimoji="1" lang="ja-JP" altLang="en-US" sz="16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9B8B2D08-BF19-0BA3-F3FE-5AD244C7C5B3}"/>
              </a:ext>
            </a:extLst>
          </p:cNvPr>
          <p:cNvSpPr/>
          <p:nvPr/>
        </p:nvSpPr>
        <p:spPr bwMode="auto">
          <a:xfrm>
            <a:off x="3088202" y="3155549"/>
            <a:ext cx="1329796" cy="37036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66BDABA-8005-7794-4BF8-EB5E368E68D2}"/>
              </a:ext>
            </a:extLst>
          </p:cNvPr>
          <p:cNvSpPr/>
          <p:nvPr/>
        </p:nvSpPr>
        <p:spPr bwMode="auto">
          <a:xfrm>
            <a:off x="3088202" y="4849163"/>
            <a:ext cx="1329796" cy="37036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DD50E33-B9D9-F7F2-C137-06AE6B971AA4}"/>
              </a:ext>
            </a:extLst>
          </p:cNvPr>
          <p:cNvSpPr/>
          <p:nvPr/>
        </p:nvSpPr>
        <p:spPr bwMode="auto">
          <a:xfrm>
            <a:off x="3092352" y="5295214"/>
            <a:ext cx="1329796" cy="370361"/>
          </a:xfrm>
          <a:prstGeom prst="rect">
            <a:avLst/>
          </a:prstGeom>
          <a:solidFill>
            <a:srgbClr val="FFC0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2C4888BB-B62B-EF45-4AE1-132112A9B4CA}"/>
              </a:ext>
            </a:extLst>
          </p:cNvPr>
          <p:cNvSpPr/>
          <p:nvPr/>
        </p:nvSpPr>
        <p:spPr bwMode="auto">
          <a:xfrm>
            <a:off x="5013239" y="3504771"/>
            <a:ext cx="3196518" cy="120323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マージ仕様書</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342900" marR="0" indent="-34290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使用する部品の指定</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342900" marR="0" indent="-34290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章・節番号の指示</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4" name="直線矢印コネクタ 43">
            <a:extLst>
              <a:ext uri="{FF2B5EF4-FFF2-40B4-BE49-F238E27FC236}">
                <a16:creationId xmlns:a16="http://schemas.microsoft.com/office/drawing/2014/main" id="{85F7FCE7-2796-E34F-A961-6FDEED087D6D}"/>
              </a:ext>
            </a:extLst>
          </p:cNvPr>
          <p:cNvCxnSpPr>
            <a:cxnSpLocks/>
          </p:cNvCxnSpPr>
          <p:nvPr/>
        </p:nvCxnSpPr>
        <p:spPr bwMode="auto">
          <a:xfrm>
            <a:off x="4550976" y="4742159"/>
            <a:ext cx="4364778"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2734628" y="2227695"/>
            <a:ext cx="2260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部品単位で</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マスターとして管理</a:t>
            </a: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自動マージプログラムで章・節番号を付与する</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たとえば部品単位で「章」を構成できる</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5" name="テキスト ボックス 74">
            <a:extLst>
              <a:ext uri="{FF2B5EF4-FFF2-40B4-BE49-F238E27FC236}">
                <a16:creationId xmlns:a16="http://schemas.microsoft.com/office/drawing/2014/main" id="{F97902AE-363F-F7C6-E1CA-A24891DCE02A}"/>
              </a:ext>
            </a:extLst>
          </p:cNvPr>
          <p:cNvSpPr txBox="1"/>
          <p:nvPr/>
        </p:nvSpPr>
        <p:spPr bwMode="auto">
          <a:xfrm>
            <a:off x="8915755" y="3645024"/>
            <a:ext cx="2210176" cy="21259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noAutofit/>
          </a:bodyPr>
          <a:lstStyle/>
          <a:p>
            <a:r>
              <a:rPr lang="en-US" altLang="ja-JP" sz="1800" kern="0">
                <a:latin typeface="BIZ UDPゴシック" panose="020B0400000000000000" pitchFamily="50" charset="-128"/>
                <a:ea typeface="BIZ UDPゴシック" panose="020B0400000000000000" pitchFamily="50" charset="-128"/>
              </a:rPr>
              <a:t>1</a:t>
            </a:r>
            <a:r>
              <a:rPr lang="ja-JP" altLang="en-US" sz="1800" kern="0">
                <a:latin typeface="BIZ UDPゴシック" panose="020B0400000000000000" pitchFamily="50" charset="-128"/>
                <a:ea typeface="BIZ UDPゴシック" panose="020B0400000000000000" pitchFamily="50" charset="-128"/>
              </a:rPr>
              <a:t>章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1.1</a:t>
            </a:r>
            <a:r>
              <a:rPr lang="ja-JP" altLang="en-US" sz="1800" kern="0">
                <a:latin typeface="BIZ UDPゴシック" panose="020B0400000000000000" pitchFamily="50" charset="-128"/>
                <a:ea typeface="BIZ UDPゴシック" panose="020B0400000000000000" pitchFamily="50" charset="-128"/>
              </a:rPr>
              <a:t>節　Ａ項目</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1.2</a:t>
            </a:r>
            <a:r>
              <a:rPr lang="ja-JP" altLang="en-US" sz="1800" kern="0">
                <a:latin typeface="BIZ UDPゴシック" panose="020B0400000000000000" pitchFamily="50" charset="-128"/>
                <a:ea typeface="BIZ UDPゴシック" panose="020B0400000000000000" pitchFamily="50" charset="-128"/>
              </a:rPr>
              <a:t>節　Ｂ項目</a:t>
            </a:r>
            <a:endParaRPr lang="en-US" altLang="ja-JP" sz="1800" kern="0">
              <a:latin typeface="BIZ UDPゴシック" panose="020B0400000000000000" pitchFamily="50" charset="-128"/>
              <a:ea typeface="BIZ UDPゴシック" panose="020B0400000000000000" pitchFamily="50" charset="-128"/>
            </a:endParaRPr>
          </a:p>
          <a:p>
            <a:endParaRPr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2</a:t>
            </a:r>
            <a:r>
              <a:rPr lang="ja-JP" altLang="en-US" sz="1800" kern="0">
                <a:latin typeface="BIZ UDPゴシック" panose="020B0400000000000000" pitchFamily="50" charset="-128"/>
                <a:ea typeface="BIZ UDPゴシック" panose="020B0400000000000000" pitchFamily="50" charset="-128"/>
              </a:rPr>
              <a:t>章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2.1</a:t>
            </a:r>
            <a:r>
              <a:rPr lang="ja-JP" altLang="en-US" sz="1800" kern="0">
                <a:latin typeface="BIZ UDPゴシック" panose="020B0400000000000000" pitchFamily="50" charset="-128"/>
                <a:ea typeface="BIZ UDPゴシック" panose="020B0400000000000000" pitchFamily="50" charset="-128"/>
              </a:rPr>
              <a:t>節　Ｃ項目</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2.2</a:t>
            </a:r>
            <a:r>
              <a:rPr lang="ja-JP" altLang="en-US" sz="1800" kern="0">
                <a:latin typeface="BIZ UDPゴシック" panose="020B0400000000000000" pitchFamily="50" charset="-128"/>
                <a:ea typeface="BIZ UDPゴシック" panose="020B0400000000000000" pitchFamily="50" charset="-128"/>
              </a:rPr>
              <a:t>節　Ｄ項目</a:t>
            </a:r>
            <a:endParaRPr lang="en-US" altLang="ja-JP" sz="180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8AB0454B-0A80-B152-952A-C086311FA336}"/>
              </a:ext>
            </a:extLst>
          </p:cNvPr>
          <p:cNvSpPr txBox="1"/>
          <p:nvPr/>
        </p:nvSpPr>
        <p:spPr bwMode="auto">
          <a:xfrm>
            <a:off x="1080237" y="3907352"/>
            <a:ext cx="19414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部品側には番号</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付与しない</a:t>
            </a:r>
          </a:p>
        </p:txBody>
      </p:sp>
      <p:sp>
        <p:nvSpPr>
          <p:cNvPr id="7" name="テキスト ボックス 6">
            <a:extLst>
              <a:ext uri="{FF2B5EF4-FFF2-40B4-BE49-F238E27FC236}">
                <a16:creationId xmlns:a16="http://schemas.microsoft.com/office/drawing/2014/main" id="{70255D22-F972-7CBB-AA15-5D7513219D70}"/>
              </a:ext>
            </a:extLst>
          </p:cNvPr>
          <p:cNvSpPr txBox="1"/>
          <p:nvPr/>
        </p:nvSpPr>
        <p:spPr bwMode="auto">
          <a:xfrm>
            <a:off x="8734502" y="2547060"/>
            <a:ext cx="257268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マージ時に番号付与するので各社向けの構成違いに対応できる</a:t>
            </a:r>
          </a:p>
        </p:txBody>
      </p:sp>
    </p:spTree>
    <p:extLst>
      <p:ext uri="{BB962C8B-B14F-4D97-AF65-F5344CB8AC3E}">
        <p14:creationId xmlns:p14="http://schemas.microsoft.com/office/powerpoint/2010/main" val="130975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94F9EB1B-7F3E-A448-7871-3E5EA051E2AA}"/>
              </a:ext>
            </a:extLst>
          </p:cNvPr>
          <p:cNvSpPr/>
          <p:nvPr/>
        </p:nvSpPr>
        <p:spPr bwMode="auto">
          <a:xfrm>
            <a:off x="876508"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EA429F61-C407-CDE7-8053-C253DF01AB6D}"/>
              </a:ext>
            </a:extLst>
          </p:cNvPr>
          <p:cNvSpPr/>
          <p:nvPr/>
        </p:nvSpPr>
        <p:spPr bwMode="auto">
          <a:xfrm>
            <a:off x="1061449" y="3163722"/>
            <a:ext cx="2730294" cy="155571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客層： </a:t>
            </a: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{{TARGET}}</a:t>
            </a:r>
          </a:p>
          <a:p>
            <a:pPr marL="0" marR="0" indent="0" defTabSz="914400" rtl="0" eaLnBrk="1" fontAlgn="base" latinLnBrk="0" hangingPunct="1">
              <a:lnSpc>
                <a:spcPct val="15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主力商品： ｛｛</a:t>
            </a: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PLAN</a:t>
            </a: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3.4) 補助機能：変数置換</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2C4888BB-B62B-EF45-4AE1-132112A9B4CA}"/>
              </a:ext>
            </a:extLst>
          </p:cNvPr>
          <p:cNvSpPr/>
          <p:nvPr/>
        </p:nvSpPr>
        <p:spPr bwMode="auto">
          <a:xfrm>
            <a:off x="4373588" y="3035768"/>
            <a:ext cx="3196518" cy="120323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マージ仕様書</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R="0" defTabSz="914400" rtl="0" eaLnBrk="1" fontAlgn="base" latinLnBrk="0" hangingPunct="1">
              <a:lnSpc>
                <a:spcPct val="100000"/>
              </a:lnSpc>
              <a:spcBef>
                <a:spcPct val="0"/>
              </a:spcBef>
              <a:spcAft>
                <a:spcPct val="0"/>
              </a:spcAft>
              <a:buClrTx/>
              <a:buSzTx/>
              <a:tabLst/>
            </a:pP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TARGET=20</a:t>
            </a: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代女性</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R="0" defTabSz="914400" rtl="0" eaLnBrk="1" fontAlgn="base" latinLnBrk="0" hangingPunct="1">
              <a:lnSpc>
                <a:spcPct val="100000"/>
              </a:lnSpc>
              <a:spcBef>
                <a:spcPct val="0"/>
              </a:spcBef>
              <a:spcAft>
                <a:spcPct val="0"/>
              </a:spcAft>
              <a:buClrTx/>
              <a:buSzTx/>
              <a:tabLst/>
            </a:pP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PLAN</a:t>
            </a: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＝極上スイーツ</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4" name="直線矢印コネクタ 43">
            <a:extLst>
              <a:ext uri="{FF2B5EF4-FFF2-40B4-BE49-F238E27FC236}">
                <a16:creationId xmlns:a16="http://schemas.microsoft.com/office/drawing/2014/main" id="{85F7FCE7-2796-E34F-A961-6FDEED087D6D}"/>
              </a:ext>
            </a:extLst>
          </p:cNvPr>
          <p:cNvCxnSpPr>
            <a:cxnSpLocks/>
          </p:cNvCxnSpPr>
          <p:nvPr/>
        </p:nvCxnSpPr>
        <p:spPr bwMode="auto">
          <a:xfrm>
            <a:off x="4035478" y="4273156"/>
            <a:ext cx="4004738"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1193447" y="2001061"/>
            <a:ext cx="27760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部品上で変数</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プレースホルダーを用意</a:t>
            </a:r>
            <a:endParaRPr kumimoji="1" lang="en-US" altLang="ja-JP" sz="1800" kern="0">
              <a:latin typeface="BIZ UDPゴシック" panose="020B0400000000000000" pitchFamily="50" charset="-128"/>
              <a:ea typeface="BIZ UDPゴシック" panose="020B0400000000000000" pitchFamily="50" charset="-128"/>
            </a:endParaRP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定型的項目については変数置換可能</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70255D22-F972-7CBB-AA15-5D7513219D70}"/>
              </a:ext>
            </a:extLst>
          </p:cNvPr>
          <p:cNvSpPr txBox="1"/>
          <p:nvPr/>
        </p:nvSpPr>
        <p:spPr bwMode="auto">
          <a:xfrm>
            <a:off x="8465209" y="2078057"/>
            <a:ext cx="25726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プレースホルダーが</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置換される</a:t>
            </a:r>
          </a:p>
        </p:txBody>
      </p:sp>
      <p:sp>
        <p:nvSpPr>
          <p:cNvPr id="8" name="テキスト ボックス 7">
            <a:extLst>
              <a:ext uri="{FF2B5EF4-FFF2-40B4-BE49-F238E27FC236}">
                <a16:creationId xmlns:a16="http://schemas.microsoft.com/office/drawing/2014/main" id="{7548904F-E724-260A-1746-729F976E887D}"/>
              </a:ext>
            </a:extLst>
          </p:cNvPr>
          <p:cNvSpPr txBox="1"/>
          <p:nvPr/>
        </p:nvSpPr>
        <p:spPr bwMode="auto">
          <a:xfrm>
            <a:off x="4583832" y="2001061"/>
            <a:ext cx="27760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マージ仕様書で変数値を</a:t>
            </a:r>
            <a:endParaRPr lang="en-US" altLang="ja-JP" sz="1800" kern="0">
              <a:latin typeface="BIZ UDPゴシック" panose="020B0400000000000000" pitchFamily="50" charset="-128"/>
              <a:ea typeface="BIZ UDPゴシック" panose="020B0400000000000000" pitchFamily="50" charset="-128"/>
            </a:endParaRPr>
          </a:p>
          <a:p>
            <a:r>
              <a:rPr kumimoji="1" lang="ja-JP" altLang="en-US" sz="1800" kern="0">
                <a:latin typeface="BIZ UDPゴシック" panose="020B0400000000000000" pitchFamily="50" charset="-128"/>
                <a:ea typeface="BIZ UDPゴシック" panose="020B0400000000000000" pitchFamily="50" charset="-128"/>
              </a:rPr>
              <a:t>設定する</a:t>
            </a:r>
            <a:endParaRPr kumimoji="1" lang="en-US" altLang="ja-JP" sz="1800" kern="0">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B7E886BB-4628-02F0-47F7-7E15E2B92342}"/>
              </a:ext>
            </a:extLst>
          </p:cNvPr>
          <p:cNvSpPr/>
          <p:nvPr/>
        </p:nvSpPr>
        <p:spPr bwMode="auto">
          <a:xfrm>
            <a:off x="8222524" y="3163722"/>
            <a:ext cx="3058052" cy="155571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a:latin typeface="BIZ UDPゴシック" panose="020B0400000000000000" pitchFamily="50" charset="-128"/>
                <a:ea typeface="BIZ UDPゴシック" panose="020B0400000000000000" pitchFamily="50" charset="-128"/>
              </a:rPr>
              <a:t>客層： </a:t>
            </a:r>
            <a:r>
              <a:rPr lang="en-US" altLang="ja-JP">
                <a:latin typeface="BIZ UDPゴシック" panose="020B0400000000000000" pitchFamily="50" charset="-128"/>
                <a:ea typeface="BIZ UDPゴシック" panose="020B0400000000000000" pitchFamily="50" charset="-128"/>
              </a:rPr>
              <a:t>20</a:t>
            </a:r>
            <a:r>
              <a:rPr lang="ja-JP" altLang="en-US">
                <a:latin typeface="BIZ UDPゴシック" panose="020B0400000000000000" pitchFamily="50" charset="-128"/>
                <a:ea typeface="BIZ UDPゴシック" panose="020B0400000000000000" pitchFamily="50" charset="-128"/>
              </a:rPr>
              <a:t>代女性</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a:latin typeface="BIZ UDPゴシック" panose="020B0400000000000000" pitchFamily="50" charset="-128"/>
                <a:ea typeface="BIZ UDPゴシック" panose="020B0400000000000000" pitchFamily="50" charset="-128"/>
              </a:rPr>
              <a:t>主力商品： 極上スイーツ</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4053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0F47-554C-E8D4-6AC3-9A7DE16D444F}"/>
            </a:ext>
          </a:extLst>
        </p:cNvPr>
        <p:cNvGrpSpPr/>
        <p:nvPr/>
      </p:nvGrpSpPr>
      <p:grpSpPr>
        <a:xfrm>
          <a:off x="0" y="0"/>
          <a:ext cx="0" cy="0"/>
          <a:chOff x="0" y="0"/>
          <a:chExt cx="0" cy="0"/>
        </a:xfrm>
      </p:grpSpPr>
      <p:sp>
        <p:nvSpPr>
          <p:cNvPr id="26" name="exportrange">
            <a:extLst>
              <a:ext uri="{FF2B5EF4-FFF2-40B4-BE49-F238E27FC236}">
                <a16:creationId xmlns:a16="http://schemas.microsoft.com/office/drawing/2014/main" id="{A1563198-2E56-A7B5-BB89-C984CF7BD233}"/>
              </a:ext>
            </a:extLst>
          </p:cNvPr>
          <p:cNvSpPr/>
          <p:nvPr/>
        </p:nvSpPr>
        <p:spPr bwMode="auto">
          <a:xfrm>
            <a:off x="876508" y="944724"/>
            <a:ext cx="10620091" cy="543660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9F6ADF9B-A7EF-9456-A019-EAE6C3876D83}"/>
              </a:ext>
            </a:extLst>
          </p:cNvPr>
          <p:cNvSpPr>
            <a:spLocks noGrp="1"/>
          </p:cNvSpPr>
          <p:nvPr>
            <p:ph type="title"/>
          </p:nvPr>
        </p:nvSpPr>
        <p:spPr/>
        <p:txBody>
          <a:bodyPr/>
          <a:lstStyle/>
          <a:p>
            <a:r>
              <a:t>3.6) 補助機能： 一時メモ用シェイプの自動削除</a:t>
            </a:r>
          </a:p>
        </p:txBody>
      </p:sp>
      <p:sp>
        <p:nvSpPr>
          <p:cNvPr id="3" name="フッター プレースホルダー 2">
            <a:extLst>
              <a:ext uri="{FF2B5EF4-FFF2-40B4-BE49-F238E27FC236}">
                <a16:creationId xmlns:a16="http://schemas.microsoft.com/office/drawing/2014/main" id="{2F8581E3-69A9-3E77-7105-19073AC88A6B}"/>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grpSp>
        <p:nvGrpSpPr>
          <p:cNvPr id="16" name="グループ化 15">
            <a:extLst>
              <a:ext uri="{FF2B5EF4-FFF2-40B4-BE49-F238E27FC236}">
                <a16:creationId xmlns:a16="http://schemas.microsoft.com/office/drawing/2014/main" id="{4EEDDBEB-1D1F-5182-C666-EA5FB971F4CD}"/>
              </a:ext>
            </a:extLst>
          </p:cNvPr>
          <p:cNvGrpSpPr/>
          <p:nvPr/>
        </p:nvGrpSpPr>
        <p:grpSpPr>
          <a:xfrm>
            <a:off x="1127448" y="1943485"/>
            <a:ext cx="3024335" cy="1838902"/>
            <a:chOff x="911424" y="3163721"/>
            <a:chExt cx="3456383" cy="2104181"/>
          </a:xfrm>
        </p:grpSpPr>
        <p:sp>
          <p:nvSpPr>
            <p:cNvPr id="6" name="正方形/長方形 5">
              <a:extLst>
                <a:ext uri="{FF2B5EF4-FFF2-40B4-BE49-F238E27FC236}">
                  <a16:creationId xmlns:a16="http://schemas.microsoft.com/office/drawing/2014/main" id="{8F1515A1-7E1E-908D-B2EF-6617DFE87A29}"/>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949D798A-847D-277D-10EA-107B5FBB21D7}"/>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sp>
        <p:nvSpPr>
          <p:cNvPr id="30" name="テキスト ボックス 29">
            <a:extLst>
              <a:ext uri="{FF2B5EF4-FFF2-40B4-BE49-F238E27FC236}">
                <a16:creationId xmlns:a16="http://schemas.microsoft.com/office/drawing/2014/main" id="{2FCC6823-F3D9-5AD4-0230-FCD792AF5AD6}"/>
              </a:ext>
            </a:extLst>
          </p:cNvPr>
          <p:cNvSpPr txBox="1"/>
          <p:nvPr/>
        </p:nvSpPr>
        <p:spPr bwMode="auto">
          <a:xfrm>
            <a:off x="5159145" y="2461347"/>
            <a:ext cx="2326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必ず削除される</a:t>
            </a:r>
          </a:p>
        </p:txBody>
      </p:sp>
      <p:sp>
        <p:nvSpPr>
          <p:cNvPr id="31" name="テキスト ボックス 30">
            <a:extLst>
              <a:ext uri="{FF2B5EF4-FFF2-40B4-BE49-F238E27FC236}">
                <a16:creationId xmlns:a16="http://schemas.microsoft.com/office/drawing/2014/main" id="{91F6070A-662B-E818-9DFE-687C25C9A204}"/>
              </a:ext>
            </a:extLst>
          </p:cNvPr>
          <p:cNvSpPr txBox="1"/>
          <p:nvPr/>
        </p:nvSpPr>
        <p:spPr bwMode="auto">
          <a:xfrm>
            <a:off x="1985261" y="4060083"/>
            <a:ext cx="3744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シェイプ削除マーカー</a:t>
            </a:r>
          </a:p>
        </p:txBody>
      </p:sp>
      <p:sp>
        <p:nvSpPr>
          <p:cNvPr id="47" name="テキスト ボックス 46">
            <a:extLst>
              <a:ext uri="{FF2B5EF4-FFF2-40B4-BE49-F238E27FC236}">
                <a16:creationId xmlns:a16="http://schemas.microsoft.com/office/drawing/2014/main" id="{E65F883D-9FEC-6015-A3F6-F69F838C0DFE}"/>
              </a:ext>
            </a:extLst>
          </p:cNvPr>
          <p:cNvSpPr txBox="1"/>
          <p:nvPr/>
        </p:nvSpPr>
        <p:spPr bwMode="auto">
          <a:xfrm>
            <a:off x="3144421" y="4701838"/>
            <a:ext cx="61926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テキスト制作中の注意事項を記した付箋紙のような位置づけのシェイプ。本番資料では必ず削除しなければならないものだが、手動削除ではしばしば見落とされる。</a:t>
            </a:r>
            <a:endParaRPr kumimoji="1" lang="en-US" altLang="ja-JP" sz="1800" kern="0">
              <a:latin typeface="BIZ UDPゴシック" panose="020B0400000000000000" pitchFamily="50" charset="-128"/>
              <a:ea typeface="BIZ UDPゴシック" panose="020B0400000000000000" pitchFamily="50" charset="-128"/>
            </a:endParaRPr>
          </a:p>
          <a:p>
            <a:pPr algn="l"/>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それを確実に削除されるようにするのがこの機能</a:t>
            </a:r>
          </a:p>
        </p:txBody>
      </p:sp>
      <p:pic>
        <p:nvPicPr>
          <p:cNvPr id="4" name="図 3">
            <a:extLst>
              <a:ext uri="{FF2B5EF4-FFF2-40B4-BE49-F238E27FC236}">
                <a16:creationId xmlns:a16="http://schemas.microsoft.com/office/drawing/2014/main" id="{A7483FAE-D793-A0E9-4E38-756CBF6238EC}"/>
              </a:ext>
            </a:extLst>
          </p:cNvPr>
          <p:cNvPicPr>
            <a:picLocks noChangeAspect="1"/>
          </p:cNvPicPr>
          <p:nvPr/>
        </p:nvPicPr>
        <p:blipFill>
          <a:blip r:embed="rId3"/>
          <a:stretch>
            <a:fillRect/>
          </a:stretch>
        </p:blipFill>
        <p:spPr>
          <a:xfrm>
            <a:off x="833982" y="987678"/>
            <a:ext cx="10443353" cy="658425"/>
          </a:xfrm>
          <a:prstGeom prst="rect">
            <a:avLst/>
          </a:prstGeom>
          <a:solidFill>
            <a:schemeClr val="bg1"/>
          </a:solidFill>
        </p:spPr>
      </p:pic>
      <p:grpSp>
        <p:nvGrpSpPr>
          <p:cNvPr id="8" name="グループ化 7">
            <a:extLst>
              <a:ext uri="{FF2B5EF4-FFF2-40B4-BE49-F238E27FC236}">
                <a16:creationId xmlns:a16="http://schemas.microsoft.com/office/drawing/2014/main" id="{A9ACEEB6-8A66-F8FF-5D39-96BBDD178938}"/>
              </a:ext>
            </a:extLst>
          </p:cNvPr>
          <p:cNvGrpSpPr/>
          <p:nvPr/>
        </p:nvGrpSpPr>
        <p:grpSpPr>
          <a:xfrm>
            <a:off x="7947652" y="1943485"/>
            <a:ext cx="3024335" cy="1838902"/>
            <a:chOff x="911424" y="3163721"/>
            <a:chExt cx="3456383" cy="2104181"/>
          </a:xfrm>
        </p:grpSpPr>
        <p:sp>
          <p:nvSpPr>
            <p:cNvPr id="10" name="正方形/長方形 9">
              <a:extLst>
                <a:ext uri="{FF2B5EF4-FFF2-40B4-BE49-F238E27FC236}">
                  <a16:creationId xmlns:a16="http://schemas.microsoft.com/office/drawing/2014/main" id="{7B7B0AD7-B0AD-B571-3A30-3EFC83FB6CE6}"/>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F7BF1EEF-4566-037F-014E-7F84FC62C890}"/>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cxnSp>
        <p:nvCxnSpPr>
          <p:cNvPr id="14" name="直線矢印コネクタ 13">
            <a:extLst>
              <a:ext uri="{FF2B5EF4-FFF2-40B4-BE49-F238E27FC236}">
                <a16:creationId xmlns:a16="http://schemas.microsoft.com/office/drawing/2014/main" id="{5534EA82-D37A-2CAB-C3B3-7CD3986E11FC}"/>
              </a:ext>
            </a:extLst>
          </p:cNvPr>
          <p:cNvCxnSpPr>
            <a:stCxn id="6" idx="3"/>
            <a:endCxn id="10" idx="1"/>
          </p:cNvCxnSpPr>
          <p:nvPr/>
        </p:nvCxnSpPr>
        <p:spPr bwMode="auto">
          <a:xfrm>
            <a:off x="4151783" y="2862936"/>
            <a:ext cx="379586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pic>
        <p:nvPicPr>
          <p:cNvPr id="25" name="図 24">
            <a:extLst>
              <a:ext uri="{FF2B5EF4-FFF2-40B4-BE49-F238E27FC236}">
                <a16:creationId xmlns:a16="http://schemas.microsoft.com/office/drawing/2014/main" id="{211F156F-2C4B-ED7E-FDCC-CBB4EEE5232E}"/>
              </a:ext>
            </a:extLst>
          </p:cNvPr>
          <p:cNvPicPr>
            <a:picLocks noChangeAspect="1"/>
          </p:cNvPicPr>
          <p:nvPr/>
        </p:nvPicPr>
        <p:blipFill>
          <a:blip r:embed="rId4"/>
          <a:stretch>
            <a:fillRect/>
          </a:stretch>
        </p:blipFill>
        <p:spPr>
          <a:xfrm>
            <a:off x="2671283" y="2314172"/>
            <a:ext cx="1457070" cy="597460"/>
          </a:xfrm>
          <a:prstGeom prst="rect">
            <a:avLst/>
          </a:prstGeom>
        </p:spPr>
      </p:pic>
      <p:cxnSp>
        <p:nvCxnSpPr>
          <p:cNvPr id="33" name="直線矢印コネクタ 32">
            <a:extLst>
              <a:ext uri="{FF2B5EF4-FFF2-40B4-BE49-F238E27FC236}">
                <a16:creationId xmlns:a16="http://schemas.microsoft.com/office/drawing/2014/main" id="{875B9659-7A36-2709-C765-999D4B802235}"/>
              </a:ext>
            </a:extLst>
          </p:cNvPr>
          <p:cNvCxnSpPr>
            <a:cxnSpLocks/>
          </p:cNvCxnSpPr>
          <p:nvPr/>
        </p:nvCxnSpPr>
        <p:spPr bwMode="auto">
          <a:xfrm flipV="1">
            <a:off x="2561325" y="2830679"/>
            <a:ext cx="583096" cy="125721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129959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idx="4294967295"/>
          </p:nvPr>
        </p:nvSpPr>
        <p:spPr>
          <a:xfrm>
            <a:off x="1415480" y="3068638"/>
            <a:ext cx="9877425" cy="501650"/>
          </a:xfrm>
        </p:spPr>
        <p:txBody>
          <a:bodyPr anchor="ctr"/>
          <a:lstStyle/>
          <a:p>
            <a:pPr algn="ctr"/>
            <a:r>
              <a:rPr lang="ja-JP" altLang="en-US" sz="4000"/>
              <a:t>現時点の機能解説は</a:t>
            </a:r>
            <a:r>
              <a:rPr lang="en-US" altLang="ja-JP" sz="4000"/>
              <a:t>PPTX</a:t>
            </a:r>
            <a:r>
              <a:rPr lang="ja-JP" altLang="en-US" sz="4000"/>
              <a:t>生成機能のみ</a:t>
            </a:r>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1127448" y="1052736"/>
            <a:ext cx="28803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kumimoji="1" lang="ja-JP" altLang="en-US" sz="3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12300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xportrange">
            <a:extLst>
              <a:ext uri="{FF2B5EF4-FFF2-40B4-BE49-F238E27FC236}">
                <a16:creationId xmlns:a16="http://schemas.microsoft.com/office/drawing/2014/main" id="{526BEC3E-C976-13BB-1D41-23D6198BB2B3}"/>
              </a:ext>
            </a:extLst>
          </p:cNvPr>
          <p:cNvSpPr/>
          <p:nvPr/>
        </p:nvSpPr>
        <p:spPr bwMode="auto">
          <a:xfrm>
            <a:off x="695400" y="1079545"/>
            <a:ext cx="10441160" cy="559705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8" name="四角形: 角を丸くする 57">
            <a:extLst>
              <a:ext uri="{FF2B5EF4-FFF2-40B4-BE49-F238E27FC236}">
                <a16:creationId xmlns:a16="http://schemas.microsoft.com/office/drawing/2014/main" id="{E7D731E8-E5F4-6A16-D175-64D19AE5BCB9}"/>
              </a:ext>
            </a:extLst>
          </p:cNvPr>
          <p:cNvSpPr/>
          <p:nvPr/>
        </p:nvSpPr>
        <p:spPr bwMode="auto">
          <a:xfrm>
            <a:off x="1055440" y="2747481"/>
            <a:ext cx="9244586" cy="1626050"/>
          </a:xfrm>
          <a:prstGeom prst="roundRect">
            <a:avLst/>
          </a:prstGeom>
          <a:solidFill>
            <a:schemeClr val="bg1"/>
          </a:solidFill>
          <a:ln w="28575" cap="flat" cmpd="sng" algn="ctr">
            <a:solidFill>
              <a:schemeClr val="accent2"/>
            </a:solidFill>
            <a:prstDash val="dash"/>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B63437F-8847-9945-31CF-4F9CA1A2F84B}"/>
              </a:ext>
            </a:extLst>
          </p:cNvPr>
          <p:cNvSpPr>
            <a:spLocks noGrp="1"/>
          </p:cNvSpPr>
          <p:nvPr>
            <p:ph type="title"/>
          </p:nvPr>
        </p:nvSpPr>
        <p:spPr/>
        <p:txBody>
          <a:bodyPr/>
          <a:lstStyle/>
          <a:p>
            <a:r>
              <a:t>4.1) PPTX生成機能と、その他の形式文書生成機能</a:t>
            </a:r>
          </a:p>
        </p:txBody>
      </p:sp>
      <p:sp>
        <p:nvSpPr>
          <p:cNvPr id="3" name="フッター プレースホルダー 2">
            <a:extLst>
              <a:ext uri="{FF2B5EF4-FFF2-40B4-BE49-F238E27FC236}">
                <a16:creationId xmlns:a16="http://schemas.microsoft.com/office/drawing/2014/main" id="{87B4DBC7-DFE5-ED73-9782-505D6EF83FAD}"/>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grpSp>
        <p:nvGrpSpPr>
          <p:cNvPr id="4" name="グループ化 3">
            <a:extLst>
              <a:ext uri="{FF2B5EF4-FFF2-40B4-BE49-F238E27FC236}">
                <a16:creationId xmlns:a16="http://schemas.microsoft.com/office/drawing/2014/main" id="{13792284-F89A-BD2E-0B6A-182527D36FB5}"/>
              </a:ext>
            </a:extLst>
          </p:cNvPr>
          <p:cNvGrpSpPr/>
          <p:nvPr/>
        </p:nvGrpSpPr>
        <p:grpSpPr>
          <a:xfrm>
            <a:off x="2063552" y="3680517"/>
            <a:ext cx="730509" cy="730509"/>
            <a:chOff x="3503712" y="3429000"/>
            <a:chExt cx="936104" cy="936104"/>
          </a:xfrm>
        </p:grpSpPr>
        <p:sp>
          <p:nvSpPr>
            <p:cNvPr id="5" name="正方形/長方形 4">
              <a:extLst>
                <a:ext uri="{FF2B5EF4-FFF2-40B4-BE49-F238E27FC236}">
                  <a16:creationId xmlns:a16="http://schemas.microsoft.com/office/drawing/2014/main" id="{39456386-3AA4-2F2E-C28B-50881632A897}"/>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 name="図 5">
              <a:extLst>
                <a:ext uri="{FF2B5EF4-FFF2-40B4-BE49-F238E27FC236}">
                  <a16:creationId xmlns:a16="http://schemas.microsoft.com/office/drawing/2014/main" id="{FDF16080-8411-7B5D-7DE3-127D9CBADE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 name="グループ化 6">
            <a:extLst>
              <a:ext uri="{FF2B5EF4-FFF2-40B4-BE49-F238E27FC236}">
                <a16:creationId xmlns:a16="http://schemas.microsoft.com/office/drawing/2014/main" id="{EEE00742-FFE5-D2BE-6972-5515682F1984}"/>
              </a:ext>
            </a:extLst>
          </p:cNvPr>
          <p:cNvGrpSpPr/>
          <p:nvPr/>
        </p:nvGrpSpPr>
        <p:grpSpPr>
          <a:xfrm>
            <a:off x="1901809" y="3589561"/>
            <a:ext cx="730509" cy="730509"/>
            <a:chOff x="3503712" y="3429000"/>
            <a:chExt cx="936104" cy="936104"/>
          </a:xfrm>
        </p:grpSpPr>
        <p:sp>
          <p:nvSpPr>
            <p:cNvPr id="8" name="正方形/長方形 7">
              <a:extLst>
                <a:ext uri="{FF2B5EF4-FFF2-40B4-BE49-F238E27FC236}">
                  <a16:creationId xmlns:a16="http://schemas.microsoft.com/office/drawing/2014/main" id="{7A5E3CE8-2864-1676-3E38-F1C3C229BD05}"/>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9" name="図 8">
              <a:extLst>
                <a:ext uri="{FF2B5EF4-FFF2-40B4-BE49-F238E27FC236}">
                  <a16:creationId xmlns:a16="http://schemas.microsoft.com/office/drawing/2014/main" id="{BC2D0CCD-49FA-7E5B-4D9A-D7431335CF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10" name="グループ化 9">
            <a:extLst>
              <a:ext uri="{FF2B5EF4-FFF2-40B4-BE49-F238E27FC236}">
                <a16:creationId xmlns:a16="http://schemas.microsoft.com/office/drawing/2014/main" id="{08150B80-7F70-C770-925C-974110CEF185}"/>
              </a:ext>
            </a:extLst>
          </p:cNvPr>
          <p:cNvGrpSpPr/>
          <p:nvPr/>
        </p:nvGrpSpPr>
        <p:grpSpPr>
          <a:xfrm>
            <a:off x="1740065" y="3498606"/>
            <a:ext cx="730509" cy="730509"/>
            <a:chOff x="3503712" y="3429000"/>
            <a:chExt cx="936104" cy="936104"/>
          </a:xfrm>
        </p:grpSpPr>
        <p:sp>
          <p:nvSpPr>
            <p:cNvPr id="11" name="正方形/長方形 10">
              <a:extLst>
                <a:ext uri="{FF2B5EF4-FFF2-40B4-BE49-F238E27FC236}">
                  <a16:creationId xmlns:a16="http://schemas.microsoft.com/office/drawing/2014/main" id="{EBFF3BE2-271B-F642-5176-65D53D7CFB7E}"/>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BB021D07-AE5B-E1D2-7969-91846A420B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13" name="グループ化 12">
            <a:extLst>
              <a:ext uri="{FF2B5EF4-FFF2-40B4-BE49-F238E27FC236}">
                <a16:creationId xmlns:a16="http://schemas.microsoft.com/office/drawing/2014/main" id="{7C343B21-D43B-AEE2-E7B1-F96FB9501EF0}"/>
              </a:ext>
            </a:extLst>
          </p:cNvPr>
          <p:cNvGrpSpPr/>
          <p:nvPr/>
        </p:nvGrpSpPr>
        <p:grpSpPr>
          <a:xfrm>
            <a:off x="1578321" y="3407651"/>
            <a:ext cx="730509" cy="730509"/>
            <a:chOff x="3503712" y="3429000"/>
            <a:chExt cx="936104" cy="936104"/>
          </a:xfrm>
        </p:grpSpPr>
        <p:sp>
          <p:nvSpPr>
            <p:cNvPr id="14" name="正方形/長方形 13">
              <a:extLst>
                <a:ext uri="{FF2B5EF4-FFF2-40B4-BE49-F238E27FC236}">
                  <a16:creationId xmlns:a16="http://schemas.microsoft.com/office/drawing/2014/main" id="{AC60289F-42BF-49C6-5AA5-C115FF48CBD8}"/>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5" name="図 14">
              <a:extLst>
                <a:ext uri="{FF2B5EF4-FFF2-40B4-BE49-F238E27FC236}">
                  <a16:creationId xmlns:a16="http://schemas.microsoft.com/office/drawing/2014/main" id="{CB9BA5E2-6F18-26CD-36D6-8A84C4C149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17" name="テキスト ボックス 16">
            <a:extLst>
              <a:ext uri="{FF2B5EF4-FFF2-40B4-BE49-F238E27FC236}">
                <a16:creationId xmlns:a16="http://schemas.microsoft.com/office/drawing/2014/main" id="{35EB2FF5-FC9F-2639-C922-344561EE4B5A}"/>
              </a:ext>
            </a:extLst>
          </p:cNvPr>
          <p:cNvSpPr txBox="1"/>
          <p:nvPr/>
        </p:nvSpPr>
        <p:spPr bwMode="auto">
          <a:xfrm>
            <a:off x="1182793" y="2851020"/>
            <a:ext cx="2320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文書部品マスター</a:t>
            </a:r>
          </a:p>
        </p:txBody>
      </p:sp>
      <p:grpSp>
        <p:nvGrpSpPr>
          <p:cNvPr id="18" name="グループ化 17">
            <a:extLst>
              <a:ext uri="{FF2B5EF4-FFF2-40B4-BE49-F238E27FC236}">
                <a16:creationId xmlns:a16="http://schemas.microsoft.com/office/drawing/2014/main" id="{689560D3-7A8E-E7AB-21D3-4C0103460832}"/>
              </a:ext>
            </a:extLst>
          </p:cNvPr>
          <p:cNvGrpSpPr/>
          <p:nvPr/>
        </p:nvGrpSpPr>
        <p:grpSpPr>
          <a:xfrm>
            <a:off x="8931124" y="3492561"/>
            <a:ext cx="730509" cy="730509"/>
            <a:chOff x="3503712" y="3429000"/>
            <a:chExt cx="936104" cy="936104"/>
          </a:xfrm>
        </p:grpSpPr>
        <p:sp>
          <p:nvSpPr>
            <p:cNvPr id="19" name="正方形/長方形 18">
              <a:extLst>
                <a:ext uri="{FF2B5EF4-FFF2-40B4-BE49-F238E27FC236}">
                  <a16:creationId xmlns:a16="http://schemas.microsoft.com/office/drawing/2014/main" id="{4AD109BC-7151-64C6-EFC9-C9F9C1F9FE5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0" name="図 19">
              <a:extLst>
                <a:ext uri="{FF2B5EF4-FFF2-40B4-BE49-F238E27FC236}">
                  <a16:creationId xmlns:a16="http://schemas.microsoft.com/office/drawing/2014/main" id="{52168FA2-B2E2-B281-8982-523C257A07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21" name="テキスト ボックス 20">
            <a:extLst>
              <a:ext uri="{FF2B5EF4-FFF2-40B4-BE49-F238E27FC236}">
                <a16:creationId xmlns:a16="http://schemas.microsoft.com/office/drawing/2014/main" id="{435ECA10-2D20-8A5C-3DB7-A89424AC1C33}"/>
              </a:ext>
            </a:extLst>
          </p:cNvPr>
          <p:cNvSpPr txBox="1"/>
          <p:nvPr/>
        </p:nvSpPr>
        <p:spPr bwMode="auto">
          <a:xfrm>
            <a:off x="8602363" y="2851020"/>
            <a:ext cx="15852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結合</a:t>
            </a:r>
            <a:r>
              <a:rPr kumimoji="1" lang="en-US" altLang="ja-JP" kern="0">
                <a:latin typeface="BIZ UDPゴシック" panose="020B0400000000000000" pitchFamily="50" charset="-128"/>
                <a:ea typeface="BIZ UDPゴシック" panose="020B0400000000000000" pitchFamily="50" charset="-128"/>
              </a:rPr>
              <a:t>PPTX</a:t>
            </a:r>
            <a:endParaRPr kumimoji="1" lang="ja-JP" altLang="en-US" kern="0">
              <a:latin typeface="BIZ UDPゴシック" panose="020B0400000000000000" pitchFamily="50" charset="-128"/>
              <a:ea typeface="BIZ UDPゴシック" panose="020B0400000000000000" pitchFamily="50" charset="-128"/>
            </a:endParaRPr>
          </a:p>
        </p:txBody>
      </p:sp>
      <p:sp>
        <p:nvSpPr>
          <p:cNvPr id="22" name="四角形: 角を丸くする 21">
            <a:extLst>
              <a:ext uri="{FF2B5EF4-FFF2-40B4-BE49-F238E27FC236}">
                <a16:creationId xmlns:a16="http://schemas.microsoft.com/office/drawing/2014/main" id="{956B80C2-D07D-CD45-FB72-08EE66516550}"/>
              </a:ext>
            </a:extLst>
          </p:cNvPr>
          <p:cNvSpPr/>
          <p:nvPr/>
        </p:nvSpPr>
        <p:spPr bwMode="auto">
          <a:xfrm>
            <a:off x="4035629" y="3533779"/>
            <a:ext cx="2613890" cy="648072"/>
          </a:xfrm>
          <a:prstGeom prst="roundRect">
            <a:avLst/>
          </a:prstGeom>
          <a:solidFill>
            <a:srgbClr val="31859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2400">
                <a:solidFill>
                  <a:schemeClr val="bg1"/>
                </a:solidFill>
                <a:latin typeface="BIZ UDPゴシック" panose="020B0400000000000000" pitchFamily="50" charset="-128"/>
                <a:ea typeface="BIZ UDPゴシック" panose="020B0400000000000000" pitchFamily="50" charset="-128"/>
              </a:rPr>
              <a:t>PPTX</a:t>
            </a:r>
            <a:r>
              <a:rPr lang="ja-JP" altLang="en-US" sz="2400">
                <a:solidFill>
                  <a:schemeClr val="bg1"/>
                </a:solidFill>
                <a:latin typeface="BIZ UDPゴシック" panose="020B0400000000000000" pitchFamily="50" charset="-128"/>
                <a:ea typeface="BIZ UDPゴシック" panose="020B0400000000000000" pitchFamily="50" charset="-128"/>
              </a:rPr>
              <a:t>生成機能</a:t>
            </a:r>
            <a:endParaRPr kumimoji="1" lang="ja-JP" altLang="en-US" sz="2400" b="1" i="0" u="none" strike="noStrike" cap="none" normalizeH="0" baseline="0" dirty="0">
              <a:ln>
                <a:noFill/>
              </a:ln>
              <a:solidFill>
                <a:schemeClr val="bg1"/>
              </a:solidFill>
              <a:effectLst/>
              <a:latin typeface="BIZ UDPゴシック" panose="020B0400000000000000" pitchFamily="50" charset="-128"/>
              <a:ea typeface="BIZ UDPゴシック" panose="020B0400000000000000" pitchFamily="50" charset="-128"/>
            </a:endParaRPr>
          </a:p>
        </p:txBody>
      </p:sp>
      <p:cxnSp>
        <p:nvCxnSpPr>
          <p:cNvPr id="24" name="直線矢印コネクタ 23">
            <a:extLst>
              <a:ext uri="{FF2B5EF4-FFF2-40B4-BE49-F238E27FC236}">
                <a16:creationId xmlns:a16="http://schemas.microsoft.com/office/drawing/2014/main" id="{ED71F25B-CC6D-CA5C-912C-39DA09F67D3D}"/>
              </a:ext>
            </a:extLst>
          </p:cNvPr>
          <p:cNvCxnSpPr>
            <a:cxnSpLocks/>
            <a:stCxn id="11" idx="3"/>
            <a:endCxn id="22" idx="1"/>
          </p:cNvCxnSpPr>
          <p:nvPr/>
        </p:nvCxnSpPr>
        <p:spPr bwMode="auto">
          <a:xfrm flipV="1">
            <a:off x="2470574" y="3857815"/>
            <a:ext cx="1565055" cy="6046"/>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BB84ED87-C18D-4ABD-6602-C4F9FB159522}"/>
              </a:ext>
            </a:extLst>
          </p:cNvPr>
          <p:cNvCxnSpPr>
            <a:cxnSpLocks/>
            <a:stCxn id="22" idx="3"/>
          </p:cNvCxnSpPr>
          <p:nvPr/>
        </p:nvCxnSpPr>
        <p:spPr bwMode="auto">
          <a:xfrm>
            <a:off x="6649519" y="3857815"/>
            <a:ext cx="1894753" cy="0"/>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28" name="四角形: 角を丸くする 27">
            <a:extLst>
              <a:ext uri="{FF2B5EF4-FFF2-40B4-BE49-F238E27FC236}">
                <a16:creationId xmlns:a16="http://schemas.microsoft.com/office/drawing/2014/main" id="{9FF7AA73-9458-4593-D495-107AB88B269D}"/>
              </a:ext>
            </a:extLst>
          </p:cNvPr>
          <p:cNvSpPr/>
          <p:nvPr/>
        </p:nvSpPr>
        <p:spPr bwMode="auto">
          <a:xfrm>
            <a:off x="4035629" y="5490994"/>
            <a:ext cx="2613890" cy="648072"/>
          </a:xfrm>
          <a:prstGeom prst="roundRect">
            <a:avLst/>
          </a:prstGeom>
          <a:solidFill>
            <a:srgbClr val="31859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ja-JP" altLang="en-US" sz="2400">
                <a:solidFill>
                  <a:schemeClr val="bg1"/>
                </a:solidFill>
                <a:latin typeface="BIZ UDPゴシック" panose="020B0400000000000000" pitchFamily="50" charset="-128"/>
                <a:ea typeface="BIZ UDPゴシック" panose="020B0400000000000000" pitchFamily="50" charset="-128"/>
              </a:rPr>
              <a:t>他形式生成機能</a:t>
            </a:r>
            <a:endParaRPr kumimoji="1" lang="ja-JP" altLang="en-US" sz="2400" b="1" i="0" u="none" strike="noStrike" cap="none" normalizeH="0" baseline="0" dirty="0">
              <a:ln>
                <a:noFill/>
              </a:ln>
              <a:solidFill>
                <a:schemeClr val="bg1"/>
              </a:solidFill>
              <a:effectLst/>
              <a:latin typeface="BIZ UDPゴシック" panose="020B0400000000000000" pitchFamily="50" charset="-128"/>
              <a:ea typeface="BIZ UDPゴシック" panose="020B0400000000000000" pitchFamily="50" charset="-128"/>
            </a:endParaRPr>
          </a:p>
        </p:txBody>
      </p:sp>
      <p:sp>
        <p:nvSpPr>
          <p:cNvPr id="29" name="四角形: 角を丸くする 28">
            <a:extLst>
              <a:ext uri="{FF2B5EF4-FFF2-40B4-BE49-F238E27FC236}">
                <a16:creationId xmlns:a16="http://schemas.microsoft.com/office/drawing/2014/main" id="{F882EA74-9D68-828E-8D7B-5282D48BAB9C}"/>
              </a:ext>
            </a:extLst>
          </p:cNvPr>
          <p:cNvSpPr/>
          <p:nvPr/>
        </p:nvSpPr>
        <p:spPr bwMode="auto">
          <a:xfrm>
            <a:off x="8386339" y="5198077"/>
            <a:ext cx="1913687" cy="355935"/>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PDF</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0" name="四角形: 角を丸くする 29">
            <a:extLst>
              <a:ext uri="{FF2B5EF4-FFF2-40B4-BE49-F238E27FC236}">
                <a16:creationId xmlns:a16="http://schemas.microsoft.com/office/drawing/2014/main" id="{4E116AEB-3039-235E-1D6B-C313EE2DAD0E}"/>
              </a:ext>
            </a:extLst>
          </p:cNvPr>
          <p:cNvSpPr/>
          <p:nvPr/>
        </p:nvSpPr>
        <p:spPr bwMode="auto">
          <a:xfrm>
            <a:off x="8386339" y="5627886"/>
            <a:ext cx="1913687" cy="355935"/>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Markdown</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1" name="四角形: 角を丸くする 30">
            <a:extLst>
              <a:ext uri="{FF2B5EF4-FFF2-40B4-BE49-F238E27FC236}">
                <a16:creationId xmlns:a16="http://schemas.microsoft.com/office/drawing/2014/main" id="{6F07D323-B22D-45C2-4EAC-A844AE95D1BD}"/>
              </a:ext>
            </a:extLst>
          </p:cNvPr>
          <p:cNvSpPr/>
          <p:nvPr/>
        </p:nvSpPr>
        <p:spPr bwMode="auto">
          <a:xfrm>
            <a:off x="8386339" y="6083572"/>
            <a:ext cx="1913687" cy="355935"/>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HTML</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34" name="コネクタ: カギ線 33">
            <a:extLst>
              <a:ext uri="{FF2B5EF4-FFF2-40B4-BE49-F238E27FC236}">
                <a16:creationId xmlns:a16="http://schemas.microsoft.com/office/drawing/2014/main" id="{42A44C88-6CF1-D948-495B-E4049AF23959}"/>
              </a:ext>
            </a:extLst>
          </p:cNvPr>
          <p:cNvCxnSpPr>
            <a:stCxn id="11" idx="2"/>
            <a:endCxn id="28" idx="1"/>
          </p:cNvCxnSpPr>
          <p:nvPr/>
        </p:nvCxnSpPr>
        <p:spPr bwMode="auto">
          <a:xfrm rot="16200000" flipH="1">
            <a:off x="2277517" y="4056917"/>
            <a:ext cx="1585915" cy="1930309"/>
          </a:xfrm>
          <a:prstGeom prst="bentConnector2">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36" name="左中かっこ 35">
            <a:extLst>
              <a:ext uri="{FF2B5EF4-FFF2-40B4-BE49-F238E27FC236}">
                <a16:creationId xmlns:a16="http://schemas.microsoft.com/office/drawing/2014/main" id="{EC168CD6-995A-B592-D36E-3CD173DA7B58}"/>
              </a:ext>
            </a:extLst>
          </p:cNvPr>
          <p:cNvSpPr/>
          <p:nvPr/>
        </p:nvSpPr>
        <p:spPr bwMode="auto">
          <a:xfrm>
            <a:off x="7824192" y="5096252"/>
            <a:ext cx="486721" cy="1437557"/>
          </a:xfrm>
          <a:prstGeom prst="leftBrace">
            <a:avLst>
              <a:gd name="adj1" fmla="val 40897"/>
              <a:gd name="adj2" fmla="val 50000"/>
            </a:avLst>
          </a:prstGeom>
          <a:noFill/>
          <a:ln w="38100"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37" name="直線矢印コネクタ 36">
            <a:extLst>
              <a:ext uri="{FF2B5EF4-FFF2-40B4-BE49-F238E27FC236}">
                <a16:creationId xmlns:a16="http://schemas.microsoft.com/office/drawing/2014/main" id="{33A16EDF-A832-AD85-32BC-3B5251B36CC5}"/>
              </a:ext>
            </a:extLst>
          </p:cNvPr>
          <p:cNvCxnSpPr>
            <a:cxnSpLocks/>
            <a:stCxn id="28" idx="3"/>
            <a:endCxn id="36" idx="1"/>
          </p:cNvCxnSpPr>
          <p:nvPr/>
        </p:nvCxnSpPr>
        <p:spPr bwMode="auto">
          <a:xfrm>
            <a:off x="6649519" y="5815030"/>
            <a:ext cx="1174673" cy="1"/>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40" name="テキスト ボックス 39">
            <a:extLst>
              <a:ext uri="{FF2B5EF4-FFF2-40B4-BE49-F238E27FC236}">
                <a16:creationId xmlns:a16="http://schemas.microsoft.com/office/drawing/2014/main" id="{01466E25-BA3E-AD66-95FB-48AFB5FA91CE}"/>
              </a:ext>
            </a:extLst>
          </p:cNvPr>
          <p:cNvSpPr txBox="1"/>
          <p:nvPr/>
        </p:nvSpPr>
        <p:spPr bwMode="auto">
          <a:xfrm>
            <a:off x="8602363" y="4766849"/>
            <a:ext cx="15852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他形式文書</a:t>
            </a:r>
          </a:p>
        </p:txBody>
      </p:sp>
      <p:sp>
        <p:nvSpPr>
          <p:cNvPr id="41" name="正方形/長方形 40">
            <a:extLst>
              <a:ext uri="{FF2B5EF4-FFF2-40B4-BE49-F238E27FC236}">
                <a16:creationId xmlns:a16="http://schemas.microsoft.com/office/drawing/2014/main" id="{5699D745-7DBD-817C-7E92-9CA547CC2133}"/>
              </a:ext>
            </a:extLst>
          </p:cNvPr>
          <p:cNvSpPr/>
          <p:nvPr/>
        </p:nvSpPr>
        <p:spPr bwMode="auto">
          <a:xfrm>
            <a:off x="4549965" y="4550005"/>
            <a:ext cx="1585219" cy="64807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構成指示</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3" name="直線矢印コネクタ 42">
            <a:extLst>
              <a:ext uri="{FF2B5EF4-FFF2-40B4-BE49-F238E27FC236}">
                <a16:creationId xmlns:a16="http://schemas.microsoft.com/office/drawing/2014/main" id="{ED8CB43B-DE58-E8FC-A128-94CDC1A6FB6E}"/>
              </a:ext>
            </a:extLst>
          </p:cNvPr>
          <p:cNvCxnSpPr>
            <a:stCxn id="41" idx="0"/>
            <a:endCxn id="22" idx="2"/>
          </p:cNvCxnSpPr>
          <p:nvPr/>
        </p:nvCxnSpPr>
        <p:spPr bwMode="auto">
          <a:xfrm flipH="1" flipV="1">
            <a:off x="5342574" y="4181851"/>
            <a:ext cx="1" cy="368154"/>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4" name="直線矢印コネクタ 43">
            <a:extLst>
              <a:ext uri="{FF2B5EF4-FFF2-40B4-BE49-F238E27FC236}">
                <a16:creationId xmlns:a16="http://schemas.microsoft.com/office/drawing/2014/main" id="{DF64B8BD-8220-712E-AB9E-E0A9A5B9CF9D}"/>
              </a:ext>
            </a:extLst>
          </p:cNvPr>
          <p:cNvCxnSpPr>
            <a:cxnSpLocks/>
            <a:stCxn id="41" idx="2"/>
            <a:endCxn id="28" idx="0"/>
          </p:cNvCxnSpPr>
          <p:nvPr/>
        </p:nvCxnSpPr>
        <p:spPr bwMode="auto">
          <a:xfrm flipH="1">
            <a:off x="5342574" y="5198077"/>
            <a:ext cx="1" cy="292917"/>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55" name="テキスト ボックス 54">
            <a:extLst>
              <a:ext uri="{FF2B5EF4-FFF2-40B4-BE49-F238E27FC236}">
                <a16:creationId xmlns:a16="http://schemas.microsoft.com/office/drawing/2014/main" id="{2462A5B5-752B-7397-B127-D4AC34580765}"/>
              </a:ext>
            </a:extLst>
          </p:cNvPr>
          <p:cNvSpPr txBox="1"/>
          <p:nvPr/>
        </p:nvSpPr>
        <p:spPr bwMode="auto">
          <a:xfrm>
            <a:off x="916918" y="1124744"/>
            <a:ext cx="1036365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共通の構成指示ファイルを元に、結合</a:t>
            </a:r>
            <a:r>
              <a:rPr kumimoji="1" lang="en-US" altLang="ja-JP" sz="2400" kern="0">
                <a:latin typeface="BIZ UDPゴシック" panose="020B0400000000000000" pitchFamily="50" charset="-128"/>
                <a:ea typeface="BIZ UDPゴシック" panose="020B0400000000000000" pitchFamily="50" charset="-128"/>
              </a:rPr>
              <a:t>PPTX</a:t>
            </a:r>
            <a:r>
              <a:rPr kumimoji="1" lang="ja-JP" altLang="en-US" sz="2400" kern="0">
                <a:latin typeface="BIZ UDPゴシック" panose="020B0400000000000000" pitchFamily="50" charset="-128"/>
                <a:ea typeface="BIZ UDPゴシック" panose="020B0400000000000000" pitchFamily="50" charset="-128"/>
              </a:rPr>
              <a:t>と他形式文書を生成可能</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全形式に対して共通の付番ができる</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現時点の機能解説は</a:t>
            </a:r>
            <a:r>
              <a:rPr kumimoji="1" lang="en-US" altLang="ja-JP" sz="2400" kern="0">
                <a:latin typeface="BIZ UDPゴシック" panose="020B0400000000000000" pitchFamily="50" charset="-128"/>
                <a:ea typeface="BIZ UDPゴシック" panose="020B0400000000000000" pitchFamily="50" charset="-128"/>
              </a:rPr>
              <a:t>PPTX</a:t>
            </a:r>
            <a:r>
              <a:rPr kumimoji="1" lang="ja-JP" altLang="en-US" sz="2400" kern="0">
                <a:latin typeface="BIZ UDPゴシック" panose="020B0400000000000000" pitchFamily="50" charset="-128"/>
                <a:ea typeface="BIZ UDPゴシック" panose="020B0400000000000000" pitchFamily="50" charset="-128"/>
              </a:rPr>
              <a:t>生成機能についてのみ</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59" name="テキスト ボックス 58">
            <a:extLst>
              <a:ext uri="{FF2B5EF4-FFF2-40B4-BE49-F238E27FC236}">
                <a16:creationId xmlns:a16="http://schemas.microsoft.com/office/drawing/2014/main" id="{360228E2-A8E7-7B88-BBC2-46AA26852C31}"/>
              </a:ext>
            </a:extLst>
          </p:cNvPr>
          <p:cNvSpPr txBox="1"/>
          <p:nvPr/>
        </p:nvSpPr>
        <p:spPr bwMode="auto">
          <a:xfrm>
            <a:off x="8465420" y="2204864"/>
            <a:ext cx="26779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solidFill>
                  <a:schemeClr val="accent2"/>
                </a:solidFill>
                <a:latin typeface="BIZ UDPゴシック" panose="020B0400000000000000" pitchFamily="50" charset="-128"/>
                <a:ea typeface="BIZ UDPゴシック" panose="020B0400000000000000" pitchFamily="50" charset="-128"/>
              </a:rPr>
              <a:t>現時点の機能解説範囲</a:t>
            </a:r>
          </a:p>
        </p:txBody>
      </p:sp>
      <p:cxnSp>
        <p:nvCxnSpPr>
          <p:cNvPr id="70" name="直線コネクタ 69">
            <a:extLst>
              <a:ext uri="{FF2B5EF4-FFF2-40B4-BE49-F238E27FC236}">
                <a16:creationId xmlns:a16="http://schemas.microsoft.com/office/drawing/2014/main" id="{60F54DDB-DEB9-06FF-82B9-3DE6C844D0A6}"/>
              </a:ext>
            </a:extLst>
          </p:cNvPr>
          <p:cNvCxnSpPr/>
          <p:nvPr/>
        </p:nvCxnSpPr>
        <p:spPr bwMode="auto">
          <a:xfrm flipV="1">
            <a:off x="8544272" y="2564904"/>
            <a:ext cx="144016" cy="182577"/>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Tree>
    <p:extLst>
      <p:ext uri="{BB962C8B-B14F-4D97-AF65-F5344CB8AC3E}">
        <p14:creationId xmlns:p14="http://schemas.microsoft.com/office/powerpoint/2010/main" val="1880027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idx="4294967295"/>
          </p:nvPr>
        </p:nvSpPr>
        <p:spPr>
          <a:xfrm>
            <a:off x="1415480" y="3068638"/>
            <a:ext cx="9877425" cy="501650"/>
          </a:xfrm>
        </p:spPr>
        <p:txBody>
          <a:bodyPr anchor="ctr"/>
          <a:lstStyle/>
          <a:p>
            <a:pPr algn="ctr"/>
            <a:r>
              <a:rPr lang="en-US" altLang="ja-JP" sz="4000"/>
              <a:t>Requirements &amp; Quick Start</a:t>
            </a:r>
            <a:endParaRPr lang="ja-JP" altLang="en-US" sz="4000"/>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1127448" y="1052736"/>
            <a:ext cx="28803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kumimoji="1" lang="ja-JP" altLang="en-US" sz="3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303233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94F9EB1B-7F3E-A448-7871-3E5EA051E2AA}"/>
              </a:ext>
            </a:extLst>
          </p:cNvPr>
          <p:cNvSpPr/>
          <p:nvPr/>
        </p:nvSpPr>
        <p:spPr bwMode="auto">
          <a:xfrm>
            <a:off x="876508" y="944724"/>
            <a:ext cx="10620091" cy="529258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t>5.1) システム要件</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1487488" y="1523375"/>
            <a:ext cx="56886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Windows10/11</a:t>
            </a: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ＯＳ</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A38B5325-AD49-398E-03AC-7900310CF9E1}"/>
              </a:ext>
            </a:extLst>
          </p:cNvPr>
          <p:cNvSpPr txBox="1"/>
          <p:nvPr/>
        </p:nvSpPr>
        <p:spPr bwMode="auto">
          <a:xfrm>
            <a:off x="916918" y="2186268"/>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400" kern="0">
                <a:latin typeface="BIZ UDPゴシック" panose="020B0400000000000000" pitchFamily="50" charset="-128"/>
                <a:ea typeface="BIZ UDPゴシック" panose="020B0400000000000000" pitchFamily="50" charset="-128"/>
              </a:rPr>
              <a:t>Software</a:t>
            </a:r>
          </a:p>
        </p:txBody>
      </p:sp>
      <p:sp>
        <p:nvSpPr>
          <p:cNvPr id="9" name="テキスト ボックス 8">
            <a:extLst>
              <a:ext uri="{FF2B5EF4-FFF2-40B4-BE49-F238E27FC236}">
                <a16:creationId xmlns:a16="http://schemas.microsoft.com/office/drawing/2014/main" id="{B6B096B8-59A5-8B8C-2217-9953CD7A9D15}"/>
              </a:ext>
            </a:extLst>
          </p:cNvPr>
          <p:cNvSpPr txBox="1"/>
          <p:nvPr/>
        </p:nvSpPr>
        <p:spPr bwMode="auto">
          <a:xfrm>
            <a:off x="1487488" y="2696605"/>
            <a:ext cx="56886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Python 3.11 </a:t>
            </a:r>
            <a:r>
              <a:rPr lang="ja-JP" altLang="en-US" sz="1800" kern="0">
                <a:latin typeface="BIZ UDPゴシック" panose="020B0400000000000000" pitchFamily="50" charset="-128"/>
                <a:ea typeface="BIZ UDPゴシック" panose="020B0400000000000000" pitchFamily="50" charset="-128"/>
              </a:rPr>
              <a:t>以上</a:t>
            </a:r>
            <a:endParaRPr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Microsoft PowerPoint Desktop</a:t>
            </a:r>
            <a:r>
              <a:rPr lang="ja-JP" altLang="en-US" sz="1800" kern="0">
                <a:latin typeface="BIZ UDPゴシック" panose="020B0400000000000000" pitchFamily="50" charset="-128"/>
                <a:ea typeface="BIZ UDPゴシック" panose="020B0400000000000000" pitchFamily="50" charset="-128"/>
              </a:rPr>
              <a:t>版</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 Microsoft 365</a:t>
            </a:r>
          </a:p>
          <a:p>
            <a:r>
              <a:rPr lang="en-US" altLang="ja-JP" sz="1800" kern="0">
                <a:latin typeface="BIZ UDPゴシック" panose="020B0400000000000000" pitchFamily="50" charset="-128"/>
                <a:ea typeface="BIZ UDPゴシック" panose="020B0400000000000000" pitchFamily="50" charset="-128"/>
              </a:rPr>
              <a:t>  - PowerPoint 2021 </a:t>
            </a:r>
            <a:r>
              <a:rPr lang="ja-JP" altLang="en-US" sz="1800" kern="0">
                <a:latin typeface="BIZ UDPゴシック" panose="020B0400000000000000" pitchFamily="50" charset="-128"/>
                <a:ea typeface="BIZ UDPゴシック" panose="020B0400000000000000" pitchFamily="50" charset="-128"/>
              </a:rPr>
              <a:t>など</a:t>
            </a:r>
            <a:endParaRPr lang="en-US" altLang="ja-JP" sz="18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6E479B5A-45A2-2446-8033-3C58F89F1544}"/>
              </a:ext>
            </a:extLst>
          </p:cNvPr>
          <p:cNvSpPr txBox="1"/>
          <p:nvPr/>
        </p:nvSpPr>
        <p:spPr bwMode="auto">
          <a:xfrm>
            <a:off x="916918" y="4133984"/>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Ｔｅｓｔ環境</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75AAD353-9C2E-E227-EA11-C1500C09B451}"/>
              </a:ext>
            </a:extLst>
          </p:cNvPr>
          <p:cNvSpPr txBox="1"/>
          <p:nvPr/>
        </p:nvSpPr>
        <p:spPr bwMode="auto">
          <a:xfrm>
            <a:off x="1487488" y="4595649"/>
            <a:ext cx="655272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Windows 11</a:t>
            </a:r>
          </a:p>
          <a:p>
            <a:r>
              <a:rPr lang="en-US" altLang="ja-JP" sz="1800" kern="0">
                <a:latin typeface="BIZ UDPゴシック" panose="020B0400000000000000" pitchFamily="50" charset="-128"/>
                <a:ea typeface="BIZ UDPゴシック" panose="020B0400000000000000" pitchFamily="50" charset="-128"/>
              </a:rPr>
              <a:t>Python 3.11</a:t>
            </a:r>
          </a:p>
          <a:p>
            <a:r>
              <a:rPr lang="en-US" altLang="ja-JP" sz="1800" kern="0">
                <a:latin typeface="BIZ UDPゴシック" panose="020B0400000000000000" pitchFamily="50" charset="-128"/>
                <a:ea typeface="BIZ UDPゴシック" panose="020B0400000000000000" pitchFamily="50" charset="-128"/>
              </a:rPr>
              <a:t>PowerPoint for Microsoft 365</a:t>
            </a:r>
          </a:p>
        </p:txBody>
      </p:sp>
    </p:spTree>
    <p:extLst>
      <p:ext uri="{BB962C8B-B14F-4D97-AF65-F5344CB8AC3E}">
        <p14:creationId xmlns:p14="http://schemas.microsoft.com/office/powerpoint/2010/main" val="12887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t>5.2) インストール方法</a:t>
            </a:r>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504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kern="0">
                <a:latin typeface="BIZ UDPゴシック" panose="020B0400000000000000" pitchFamily="50" charset="-128"/>
                <a:ea typeface="BIZ UDPゴシック" panose="020B0400000000000000" pitchFamily="50" charset="-128"/>
              </a:rPr>
              <a:t>### 1. Clone repository</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git clone https://github.com/hiro77284/ppt-md-merger.git</a:t>
            </a:r>
          </a:p>
          <a:p>
            <a:r>
              <a:rPr lang="en-US" altLang="ja-JP" sz="1400" kern="0">
                <a:latin typeface="BIZ UDPゴシック" panose="020B0400000000000000" pitchFamily="50" charset="-128"/>
                <a:ea typeface="BIZ UDPゴシック" panose="020B0400000000000000" pitchFamily="50" charset="-128"/>
              </a:rPr>
              <a:t>cd ppt-md-merger</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 2. Create virtual environment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python -m venv .venv</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 3. Activate virtual environment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```(PowerShell)</a:t>
            </a:r>
          </a:p>
          <a:p>
            <a:r>
              <a:rPr lang="en-US" altLang="ja-JP" sz="1400" kern="0">
                <a:latin typeface="BIZ UDPゴシック" panose="020B0400000000000000" pitchFamily="50" charset="-128"/>
                <a:ea typeface="BIZ UDPゴシック" panose="020B0400000000000000" pitchFamily="50" charset="-128"/>
              </a:rPr>
              <a:t>.venv\Scripts\Activate.ps1</a:t>
            </a:r>
          </a:p>
          <a:p>
            <a:r>
              <a:rPr lang="en-US" altLang="ja-JP" sz="1400" kern="0">
                <a:latin typeface="BIZ UDPゴシック" panose="020B0400000000000000" pitchFamily="50" charset="-128"/>
                <a:ea typeface="BIZ UDPゴシック" panose="020B0400000000000000" pitchFamily="50" charset="-128"/>
              </a:rPr>
              <a: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```(Command Prompt)</a:t>
            </a:r>
          </a:p>
          <a:p>
            <a:r>
              <a:rPr lang="en-US" altLang="ja-JP" sz="1400" kern="0">
                <a:latin typeface="BIZ UDPゴシック" panose="020B0400000000000000" pitchFamily="50" charset="-128"/>
                <a:ea typeface="BIZ UDPゴシック" panose="020B0400000000000000" pitchFamily="50" charset="-128"/>
              </a:rPr>
              <a:t>.venv\Scripts\Activate.bat</a:t>
            </a:r>
          </a:p>
          <a:p>
            <a:r>
              <a:rPr lang="en-US" altLang="ja-JP" sz="1400" kern="0">
                <a:latin typeface="BIZ UDPゴシック" panose="020B0400000000000000" pitchFamily="50" charset="-128"/>
                <a:ea typeface="BIZ UDPゴシック" panose="020B0400000000000000" pitchFamily="50" charset="-128"/>
              </a:rPr>
              <a: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 4. Install package</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pip install -e .</a:t>
            </a:r>
          </a:p>
          <a:p>
            <a:pPr algn="l"/>
            <a:endParaRPr kumimoji="1" lang="en-US" altLang="ja-JP" sz="14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5911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t>5.3) Quick Start</a:t>
            </a:r>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 </a:t>
            </a:r>
            <a:r>
              <a:rPr lang="fr-FR" altLang="ja-JP" sz="1600" kern="0">
                <a:latin typeface="BIZ UDPゴシック" panose="020B0400000000000000" pitchFamily="50" charset="-128"/>
                <a:ea typeface="BIZ UDPゴシック" panose="020B0400000000000000" pitchFamily="50" charset="-128"/>
              </a:rPr>
              <a:t>1. Prepare parts pptx files</a:t>
            </a:r>
            <a:endParaRPr lang="en-US" altLang="ja-JP" sz="1600" kern="0">
              <a:latin typeface="BIZ UDPゴシック" panose="020B0400000000000000" pitchFamily="50" charset="-128"/>
              <a:ea typeface="BIZ UDPゴシック" panose="020B0400000000000000" pitchFamily="50" charset="-128"/>
            </a:endParaRPr>
          </a:p>
          <a:p>
            <a:endParaRPr lang="en-US" altLang="ja-JP" sz="1600" kern="0">
              <a:latin typeface="BIZ UDPゴシック" panose="020B0400000000000000" pitchFamily="50" charset="-128"/>
              <a:ea typeface="BIZ UDPゴシック" panose="020B0400000000000000" pitchFamily="50" charset="-128"/>
            </a:endParaRPr>
          </a:p>
          <a:p>
            <a:r>
              <a:rPr lang="en-US" altLang="ja-JP" sz="1600" kern="0">
                <a:latin typeface="BIZ UDPゴシック" panose="020B0400000000000000" pitchFamily="50" charset="-128"/>
                <a:ea typeface="BIZ UDPゴシック" panose="020B0400000000000000" pitchFamily="50" charset="-128"/>
              </a:rPr>
              <a:t>parts/</a:t>
            </a:r>
          </a:p>
          <a:p>
            <a:r>
              <a:rPr lang="en-US" altLang="ja-JP" sz="1600" kern="0">
                <a:latin typeface="BIZ UDPゴシック" panose="020B0400000000000000" pitchFamily="50" charset="-128"/>
                <a:ea typeface="BIZ UDPゴシック" panose="020B0400000000000000" pitchFamily="50" charset="-128"/>
              </a:rPr>
              <a:t>├── 00_intro.pptx</a:t>
            </a:r>
          </a:p>
          <a:p>
            <a:r>
              <a:rPr lang="en-US" altLang="ja-JP" sz="1600" kern="0">
                <a:latin typeface="BIZ UDPゴシック" panose="020B0400000000000000" pitchFamily="50" charset="-128"/>
                <a:ea typeface="BIZ UDPゴシック" panose="020B0400000000000000" pitchFamily="50" charset="-128"/>
              </a:rPr>
              <a:t>├── 10_basic.pptx</a:t>
            </a:r>
          </a:p>
          <a:p>
            <a:r>
              <a:rPr lang="en-US" altLang="ja-JP" sz="1600" kern="0">
                <a:latin typeface="BIZ UDPゴシック" panose="020B0400000000000000" pitchFamily="50" charset="-128"/>
                <a:ea typeface="BIZ UDPゴシック" panose="020B0400000000000000" pitchFamily="50" charset="-128"/>
              </a:rPr>
              <a:t>└── 20_example.pptx</a:t>
            </a:r>
          </a:p>
          <a:p>
            <a:endParaRPr lang="en-US" altLang="ja-JP" sz="16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4035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t>5.3.1) 2. Create merge recipe YAML</a:t>
            </a:r>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2. </a:t>
            </a:r>
            <a:r>
              <a:rPr lang="fr-FR"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Create merge recipe YAML</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PowerPoint</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ファイルを単純結合する結合指示書のサンプル</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output: </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merged.pptx        #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結合後の</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pptx</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ファイルのファイル名</a:t>
            </a:r>
          </a:p>
          <a:p>
            <a:endPar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procedure:</a:t>
            </a:r>
          </a:p>
          <a:p>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operation: insertpptx		 #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結合後対象のファイルを列挙する</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00_intro.pptx</a:t>
            </a:r>
          </a:p>
          <a:p>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operation: insertpptx</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10_basic.pptx</a:t>
            </a:r>
          </a:p>
          <a:p>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operation: insertpptx</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20_example.pptx</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Tree>
    <p:extLst>
      <p:ext uri="{BB962C8B-B14F-4D97-AF65-F5344CB8AC3E}">
        <p14:creationId xmlns:p14="http://schemas.microsoft.com/office/powerpoint/2010/main" val="315181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t>5.3.2) 3. Run merge</a:t>
            </a:r>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3. </a:t>
            </a:r>
            <a:r>
              <a:rPr lang="fr-FR"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Run merge</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pptmdmerge pptmerge merge_recipe.yaml  [options]</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
        <p:nvSpPr>
          <p:cNvPr id="4" name="テキスト ボックス 3">
            <a:extLst>
              <a:ext uri="{FF2B5EF4-FFF2-40B4-BE49-F238E27FC236}">
                <a16:creationId xmlns:a16="http://schemas.microsoft.com/office/drawing/2014/main" id="{E19C2ACC-A508-C253-BC5C-F671590B32BB}"/>
              </a:ext>
            </a:extLst>
          </p:cNvPr>
          <p:cNvSpPr txBox="1"/>
          <p:nvPr/>
        </p:nvSpPr>
        <p:spPr bwMode="auto">
          <a:xfrm>
            <a:off x="826364" y="2186861"/>
            <a:ext cx="103636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options</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--log-level debug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設定ミス等を検証するために処理内容を確認したい場合、デバッグ表示を有効に</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--force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何度も作り直す場合は出力ファイルを上書きにする</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
        <p:nvSpPr>
          <p:cNvPr id="7" name="テキスト ボックス 6">
            <a:extLst>
              <a:ext uri="{FF2B5EF4-FFF2-40B4-BE49-F238E27FC236}">
                <a16:creationId xmlns:a16="http://schemas.microsoft.com/office/drawing/2014/main" id="{EF0DA7DE-286D-2ADC-72E6-69D714F32A62}"/>
              </a:ext>
            </a:extLst>
          </p:cNvPr>
          <p:cNvSpPr txBox="1"/>
          <p:nvPr/>
        </p:nvSpPr>
        <p:spPr bwMode="auto">
          <a:xfrm>
            <a:off x="826364" y="3449307"/>
            <a:ext cx="103636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4. </a:t>
            </a:r>
            <a:r>
              <a:rPr lang="fr-FR"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output</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merged.pptx</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Tree>
    <p:extLst>
      <p:ext uri="{BB962C8B-B14F-4D97-AF65-F5344CB8AC3E}">
        <p14:creationId xmlns:p14="http://schemas.microsoft.com/office/powerpoint/2010/main" val="238998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t>5.4) Examples</a:t>
            </a:r>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Tree>
    <p:extLst>
      <p:ext uri="{BB962C8B-B14F-4D97-AF65-F5344CB8AC3E}">
        <p14:creationId xmlns:p14="http://schemas.microsoft.com/office/powerpoint/2010/main" val="356946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28533</TotalTime>
  <Words>4704</Words>
  <Application>Microsoft Office PowerPoint</Application>
  <PresentationFormat>ワイド画面</PresentationFormat>
  <Paragraphs>957</Paragraphs>
  <Slides>22</Slides>
  <Notes>22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22</vt:i4>
      </vt:variant>
    </vt:vector>
  </HeadingPairs>
  <TitlesOfParts>
    <vt:vector size="29" baseType="lpstr">
      <vt:lpstr>BIZ UDPゴシック</vt:lpstr>
      <vt:lpstr>FOT-UD丸ゴ_ラージ Pr6 M</vt:lpstr>
      <vt:lpstr>Moralerspace Neon HW</vt:lpstr>
      <vt:lpstr>Arial</vt:lpstr>
      <vt:lpstr>Garamond</vt:lpstr>
      <vt:lpstr>Wingdings</vt:lpstr>
      <vt:lpstr>Edge</vt:lpstr>
      <vt:lpstr>PPT &amp; MD merger とは？</vt:lpstr>
      <vt:lpstr>1.1) PPT \&amp; MD merger とは？</vt:lpstr>
      <vt:lpstr>大きなPowerPointファイルを作る時の悩みとは？</vt:lpstr>
      <vt:lpstr>2.1) どんな人のためのツール？</vt:lpstr>
      <vt:lpstr>2.2) 悩み１： ちょっとずつ違うPowerPointのコピーが増殖</vt:lpstr>
      <vt:lpstr>2.3) 悩み２： 章・節番号をつけるのが面倒くさい</vt:lpstr>
      <vt:lpstr>2.4) なんとかこの悩みを解決できないか？</vt:lpstr>
      <vt:lpstr>問題構造の整理と解決策</vt:lpstr>
      <vt:lpstr>3.1) まずは問題の構造を整理すると・・・</vt:lpstr>
      <vt:lpstr>3.2) 部品を組み合わせて完成版を構成する仕組みを作る</vt:lpstr>
      <vt:lpstr>3.3) 自動マージするときに章・節番号を付与する</vt:lpstr>
      <vt:lpstr>3.4) 補助機能：変数置換</vt:lpstr>
      <vt:lpstr>3.6) 補助機能： 一時メモ用シェイプの自動削除</vt:lpstr>
      <vt:lpstr>現時点の機能解説はPPTX生成機能のみ</vt:lpstr>
      <vt:lpstr>4.1) PPTX生成機能と、その他の形式文書生成機能</vt:lpstr>
      <vt:lpstr>Requirements &amp; Quick Start</vt:lpstr>
      <vt:lpstr>5.1) システム要件</vt:lpstr>
      <vt:lpstr>5.2) インストール方法</vt:lpstr>
      <vt:lpstr>5.3) Quick Start</vt:lpstr>
      <vt:lpstr>5.3.1) 2. Create merge recipe YAML</vt:lpstr>
      <vt:lpstr>5.3.2) 3. Run merge</vt:lpstr>
      <vt:lpstr>5.4)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瑞浩 開米</cp:lastModifiedBy>
  <cp:revision>3677</cp:revision>
  <dcterms:modified xsi:type="dcterms:W3CDTF">2026-06-08T13:00:44Z</dcterms:modified>
</cp:coreProperties>
</file>