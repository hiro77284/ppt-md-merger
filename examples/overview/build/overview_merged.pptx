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24"/>
  </p:notesMasterIdLst>
  <p:sldIdLst>
    <p:sldId id="1976" r:id="rId2"/>
    <p:sldId id="1797" r:id="rId3"/>
    <p:sldId id="1977" r:id="rId4"/>
    <p:sldId id="1795" r:id="rId5"/>
    <p:sldId id="1783" r:id="rId6"/>
    <p:sldId id="1784" r:id="rId7"/>
    <p:sldId id="1782" r:id="rId8"/>
    <p:sldId id="1978" r:id="rId9"/>
    <p:sldId id="1780" r:id="rId10"/>
    <p:sldId id="1786" r:id="rId11"/>
    <p:sldId id="1787" r:id="rId12"/>
    <p:sldId id="1789" r:id="rId13"/>
    <p:sldId id="1794" r:id="rId14"/>
    <p:sldId id="1979" r:id="rId15"/>
    <p:sldId id="1796" r:id="rId16"/>
    <p:sldId id="1980" r:id="rId17"/>
    <p:sldId id="1785" r:id="rId18"/>
    <p:sldId id="1791" r:id="rId19"/>
    <p:sldId id="1792" r:id="rId20"/>
    <p:sldId id="1793" r:id="rId21"/>
    <p:sldId id="1798" r:id="rId22"/>
    <p:sldId id="1790" r:id="rId23"/>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347"/>
    <a:srgbClr val="FF9933"/>
    <a:srgbClr val="CC66FF"/>
    <a:srgbClr val="E34234"/>
    <a:srgbClr val="292929"/>
    <a:srgbClr val="FF7F50"/>
    <a:srgbClr val="FF3300"/>
    <a:srgbClr val="C8EED0"/>
    <a:srgbClr val="5E5E5E"/>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3345" autoAdjust="0"/>
  </p:normalViewPr>
  <p:slideViewPr>
    <p:cSldViewPr>
      <p:cViewPr varScale="1">
        <p:scale>
          <a:sx n="71" d="100"/>
          <a:sy n="71" d="100"/>
        </p:scale>
        <p:origin x="1164" y="6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20145035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../extracted/figures/ppt_md_merger_overview_slide1_fig.png</a:t>
            </a:r>
          </a:p>
          <a:p>
            <a:endParaRPr/>
          </a:p>
          <a:p>
            <a:r>
              <a:t>===BLOCK===</a:t>
            </a:r>
          </a:p>
          <a:p>
            <a:r>
              <a:t>{{BLOCK:MD:LONG}}</a:t>
            </a:r>
          </a:p>
          <a:p>
            <a:endParaRPr/>
          </a:p>
          <a:p>
            <a:r>
              <a:t>export-note: ../extracted/ppt_md_merger_overview_slide1_md.md</a:t>
            </a:r>
          </a:p>
          <a:p>
            <a:r>
              <a:t>{{#id:section:ppt_md_merger_overview:slide1}}</a:t>
            </a:r>
          </a:p>
          <a:p>
            <a:r>
              <a:t>## PPT &amp; MD merger とは？</a:t>
            </a:r>
          </a:p>
          <a:p>
            <a:endParaRPr/>
          </a:p>
          <a:p>
            <a:r>
              <a:t>PPT &amp; MD merger は、「pptxファイルを文書部品として扱い、多様な形式の文書を生成できるジェネレーター」 です。　（ツールそのものは Python スクリプトであり、Windows + PowerPoint 環境で動作します）</a:t>
            </a:r>
          </a:p>
          <a:p>
            <a:endParaRPr/>
          </a:p>
          <a:p>
            <a:r>
              <a:t>```{=latex}</a:t>
            </a:r>
          </a:p>
          <a:p>
            <a:r>
              <a:t>\begin{center}</a:t>
            </a:r>
          </a:p>
          <a:p>
            <a:r>
              <a:t>```</a:t>
            </a:r>
          </a:p>
          <a:p>
            <a:endParaRPr/>
          </a:p>
          <a:p>
            <a:r>
              <a:t>![](figures/ppt_md_merger_overview_slide1_fig.png){ width=95% }</a:t>
            </a:r>
          </a:p>
          <a:p>
            <a:endParaRPr/>
          </a:p>
          <a:p>
            <a:r>
              <a:t>```{=latex}</a:t>
            </a:r>
          </a:p>
          <a:p>
            <a:r>
              <a:t>\end{center}</a:t>
            </a:r>
          </a:p>
          <a:p>
            <a:r>
              <a:t>```</a:t>
            </a:r>
          </a:p>
          <a:p>
            <a:endParaRPr/>
          </a:p>
          <a:p>
            <a:r>
              <a:t>何はともあれ使ってみたい、という場合は　[5) Requirements &amp; Quick Start](#5-requirements--quick-start) をご覧ください。システム要件、インストール方法、Quick Start ガイド、11種類のサンプルデータの案内があります。</a:t>
            </a:r>
          </a:p>
          <a:p>
            <a:endParaRPr/>
          </a:p>
          <a:p>
            <a:r>
              <a:t>何やら変わったコンセプトっぽいから、そこからじっくり知りたいという場合はこのまま次の [2) 大きな PowerPointファイ ルを作る時の悩みとは？](#2-%E5%A4%A7%E3%81%8D%E3%81%AApowerpoint%E3%83%95%E3%82%A1%E3%82%A4%E3%83%AB%E3%82%92%E4%BD%9C%E3%82%8B%E6%99%82%E3%81%AE%E6%82%A9%E3%81%BF%E3%81%A8%E3%81%AF) へ進んでください。</a:t>
            </a:r>
          </a:p>
          <a:p>
            <a:endParaRPr/>
          </a:p>
          <a:p>
            <a:r>
              <a:t>何ができるツールなのか詳細に知りたい場合は[5.4) Examples](#54-examples)から機能別詳細解説に飛べます。</a:t>
            </a:r>
          </a:p>
          <a:p>
            <a:endParaRPr/>
          </a:p>
          <a:p>
            <a:r>
              <a:t>ただし、現時点での機能解説は PPTX をマージ生成する例のみで、MD,PDF,HTML 等の他形式文書を生成する例の解説は作っておりません。機能としては動いていますが設定が複雑なため、ドキュメントを書くのに少し時間がかかる見込みです。（[仕様書](/docs/md_merge_spec.md)はありますが、これを読んで使い方が分かるかというと難しいです）</a:t>
            </a:r>
          </a:p>
          <a:p>
            <a:endParaRP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1596402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11612174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../extracted/figures/ppt_md_merger_overview_slide2_fig.png</a:t>
            </a:r>
          </a:p>
          <a:p>
            <a:endParaRPr/>
          </a:p>
          <a:p>
            <a:r>
              <a:t>===BLOCK===</a:t>
            </a:r>
          </a:p>
          <a:p>
            <a:r>
              <a:t>{{BLOCK:MD:LONG}}</a:t>
            </a:r>
          </a:p>
          <a:p>
            <a:endParaRPr/>
          </a:p>
          <a:p>
            <a:r>
              <a:t>export-note: ../extracted/ppt_md_merger_overview_slide2_md.md</a:t>
            </a:r>
          </a:p>
          <a:p>
            <a:r>
              <a:t>{{#id:section:ppt_md_merger_overview:slide2}}</a:t>
            </a:r>
          </a:p>
          <a:p>
            <a:r>
              <a:t>## どんな人のためのツール？</a:t>
            </a:r>
          </a:p>
          <a:p>
            <a:endParaRPr/>
          </a:p>
          <a:p>
            <a:r>
              <a:t>このツールは、研修用テキストや業務マニュアルなど、「仕事を教える、手順を決める」ための資料を PowerPoint で大量に作る企業/個人のためのツールです。</a:t>
            </a:r>
          </a:p>
          <a:p>
            <a:endParaRPr/>
          </a:p>
          <a:p>
            <a:r>
              <a:t>その種のテキストを作る時によくある悩みとはなんでしょう？</a:t>
            </a:r>
          </a:p>
          <a:p>
            <a:endParaRPr/>
          </a:p>
          <a:p>
            <a:r>
              <a:t>```{=latex}</a:t>
            </a:r>
          </a:p>
          <a:p>
            <a:r>
              <a:t>\begin{center}</a:t>
            </a:r>
          </a:p>
          <a:p>
            <a:r>
              <a:t>```</a:t>
            </a:r>
          </a:p>
          <a:p>
            <a:endParaRPr/>
          </a:p>
          <a:p>
            <a:r>
              <a:t>![](figures/ppt_md_merger_overview_slide2_fig.png){ width=95% }</a:t>
            </a:r>
          </a:p>
          <a:p>
            <a:endParaRPr/>
          </a:p>
          <a:p>
            <a:r>
              <a:t>```{=latex}</a:t>
            </a:r>
          </a:p>
          <a:p>
            <a:r>
              <a:t>\end{center}</a:t>
            </a:r>
          </a:p>
          <a:p>
            <a:r>
              <a:t>```</a:t>
            </a:r>
          </a:p>
          <a:p>
            <a:endParaRPr/>
          </a:p>
          <a:p>
            <a:r>
              <a:t>たとえば、文書のバリエーションが増えすぎて収集がつかなくなる。　章・節番号をつけるのが面倒くさい。　講師用と受講者用の2種類を作らなきゃいけないのが面倒くさい！</a:t>
            </a:r>
          </a:p>
          <a:p>
            <a:endParaRPr/>
          </a:p>
          <a:p>
            <a:r>
              <a:t>こんな問題を解決するために作ったツールです。</a:t>
            </a:r>
          </a:p>
          <a:p>
            <a:endParaRPr/>
          </a:p>
          <a:p>
            <a:r>
              <a:t>そのために、「pptxファイルを文書部品として扱い、必要に応じて結合する」 というコンセプトを採用したものです。まずはその背景から詳しくお話ししましょう。</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18385370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../extracted/figures/ppt_md_merger_overview_slide3_fig.png</a:t>
            </a:r>
          </a:p>
          <a:p>
            <a:endParaRPr/>
          </a:p>
          <a:p>
            <a:r>
              <a:t>===BLOCK===</a:t>
            </a:r>
          </a:p>
          <a:p>
            <a:r>
              <a:t>{{BLOCK:MD:LONG}}</a:t>
            </a:r>
          </a:p>
          <a:p>
            <a:endParaRPr/>
          </a:p>
          <a:p>
            <a:r>
              <a:t>export-note: ../extracted/ppt_md_merger_overview_slide3_md.md</a:t>
            </a:r>
          </a:p>
          <a:p>
            <a:r>
              <a:t>{{#id:section:ppt_md_merger_overview:slide3}}</a:t>
            </a:r>
          </a:p>
          <a:p>
            <a:r>
              <a:t>## 悩み１： ちょっとずつ違うPowerPointのコピーが増殖</a:t>
            </a:r>
          </a:p>
          <a:p>
            <a:endParaRPr/>
          </a:p>
          <a:p>
            <a:r>
              <a:t>PowerPoint で研修用のテキストを作るときは、こんな悩みがよくあります。（研修用テキストに限りませんが）</a:t>
            </a:r>
          </a:p>
          <a:p>
            <a:endParaRPr/>
          </a:p>
          <a:p>
            <a:r>
              <a:t>Ａ社向けに作ったテキストをコピー＋ちょっと修正してＢ社向けを作り、それをまたコピー＋ちょっと修正してＣ社向けを作り、・・・・ということを繰り返すわけです。すると、ちょっとずつ違うバージョンが無数に増えてしまい、収拾がつかなくなってしまいます。</a:t>
            </a:r>
          </a:p>
          <a:p>
            <a:endParaRPr/>
          </a:p>
          <a:p>
            <a:r>
              <a:t>「ちょっと修正」 の中にはそのまま永続的に使うものもあれば、そのときだけの臨時の修正もあり、それを区別しておかないと **「あれ？　以前、ここのところ直したはずだったんだけど・・・」**　という問題が起きてしまいます。</a:t>
            </a:r>
          </a:p>
          <a:p>
            <a:endParaRPr/>
          </a:p>
          <a:p>
            <a:r>
              <a:t>```{=latex}</a:t>
            </a:r>
          </a:p>
          <a:p>
            <a:r>
              <a:t>\begin{center}</a:t>
            </a:r>
          </a:p>
          <a:p>
            <a:r>
              <a:t>```</a:t>
            </a:r>
          </a:p>
          <a:p>
            <a:endParaRPr/>
          </a:p>
          <a:p>
            <a:r>
              <a:t>![](figures/ppt_md_merger_overview_slide3_fig.png){ width=90% }</a:t>
            </a:r>
          </a:p>
          <a:p>
            <a:endParaRPr/>
          </a:p>
          <a:p>
            <a:r>
              <a:t>```{=latex}</a:t>
            </a:r>
          </a:p>
          <a:p>
            <a:r>
              <a:t>\end{center}</a:t>
            </a:r>
          </a:p>
          <a:p>
            <a:r>
              <a:t>```</a:t>
            </a:r>
          </a:p>
          <a:p>
            <a:endParaRPr/>
          </a:p>
          <a:p>
            <a:r>
              <a:t>結局、コピーが増殖すると、どれをマスター原本にしたら良いのか分かりません。</a:t>
            </a:r>
          </a:p>
          <a:p>
            <a:endParaRPr/>
          </a:p>
          <a:p>
            <a:r>
              <a:t>さらに、企業研修は同じ講座を定期的に行うことが多いので、「Ａ、Ｂ、Ｃ社向け」 をそれぞれメンテナンスしなければいけないのですが、すべてコピーですから、同じ修正をすべてに行う必要があり、とても面倒です。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20337475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../extracted/figures/ppt_md_merger_overview_slide4_fig.png</a:t>
            </a:r>
          </a:p>
          <a:p>
            <a:endParaRPr/>
          </a:p>
          <a:p>
            <a:r>
              <a:t>===BLOCK===</a:t>
            </a:r>
          </a:p>
          <a:p>
            <a:r>
              <a:t>{{BLOCK:MD:LONG}}</a:t>
            </a:r>
          </a:p>
          <a:p>
            <a:endParaRPr/>
          </a:p>
          <a:p>
            <a:r>
              <a:t>export-note: ../extracted/ppt_md_merger_overview_slide4_md.md</a:t>
            </a:r>
          </a:p>
          <a:p>
            <a:r>
              <a:t>{{#id:section:ppt_md_merger_overview:slide4}}</a:t>
            </a:r>
          </a:p>
          <a:p>
            <a:r>
              <a:t>## 悩み２： 章・節番号をつけるのが面倒くさい</a:t>
            </a:r>
          </a:p>
          <a:p>
            <a:endParaRPr/>
          </a:p>
          <a:p>
            <a:r>
              <a:t>また別な悩みもあります。研修用テキストはページ数が多いので章・節番号をつけたくなるのですが、PowerPointにはWordのような自動付番機能がないので、手作業でやらなければなりません。</a:t>
            </a:r>
          </a:p>
          <a:p>
            <a:endParaRPr/>
          </a:p>
          <a:p>
            <a:r>
              <a:t>```{=latex}</a:t>
            </a:r>
          </a:p>
          <a:p>
            <a:r>
              <a:t>\begin{center}</a:t>
            </a:r>
          </a:p>
          <a:p>
            <a:r>
              <a:t>```</a:t>
            </a:r>
          </a:p>
          <a:p>
            <a:endParaRPr/>
          </a:p>
          <a:p>
            <a:r>
              <a:t>![](figures/ppt_md_merger_overview_slide4_fig.png){ width=95% }</a:t>
            </a:r>
          </a:p>
          <a:p>
            <a:endParaRPr/>
          </a:p>
          <a:p>
            <a:r>
              <a:t>```{=latex}</a:t>
            </a:r>
          </a:p>
          <a:p>
            <a:r>
              <a:t>\end{center}</a:t>
            </a:r>
          </a:p>
          <a:p>
            <a:r>
              <a:t>```</a:t>
            </a:r>
          </a:p>
          <a:p>
            <a:endParaRPr/>
          </a:p>
          <a:p>
            <a:r>
              <a:t>プレゼン用の資料なら20ページ程度で済むことが多いですが、研修テキストでは100ページを超えることもよくあります。ページの追加/削除があるたびに手動で付番しなおすのは大変な手間がかかります。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29046514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../extracted/figures/ppt_md_merger_overview_slide5_fig.png</a:t>
            </a:r>
          </a:p>
          <a:p>
            <a:endParaRPr/>
          </a:p>
          <a:p>
            <a:r>
              <a:t>===BLOCK===</a:t>
            </a:r>
          </a:p>
          <a:p>
            <a:r>
              <a:t>{{BLOCK:MD:LONG}}</a:t>
            </a:r>
          </a:p>
          <a:p>
            <a:endParaRPr/>
          </a:p>
          <a:p>
            <a:r>
              <a:t>export-note: ../extracted/ppt_md_merger_overview_slide5_md.md</a:t>
            </a:r>
          </a:p>
          <a:p>
            <a:r>
              <a:t>{{#id:section:ppt_md_merger_overview:slide5}}</a:t>
            </a:r>
          </a:p>
          <a:p>
            <a:r>
              <a:t>## なんとかこの悩みを解決できないか？</a:t>
            </a:r>
          </a:p>
          <a:p>
            <a:endParaRPr/>
          </a:p>
          <a:p>
            <a:r>
              <a:t>つまり悩みはおおまかに</a:t>
            </a:r>
          </a:p>
          <a:p>
            <a:endParaRPr/>
          </a:p>
          <a:p>
            <a:r>
              <a:t>1. コピー増殖問題</a:t>
            </a:r>
          </a:p>
          <a:p>
            <a:r>
              <a:t>1. 章節番号問題</a:t>
            </a:r>
          </a:p>
          <a:p>
            <a:endParaRPr/>
          </a:p>
          <a:p>
            <a:r>
              <a:t>の2つです。なんとかこれを解決できないか？　と考えて、</a:t>
            </a:r>
          </a:p>
          <a:p>
            <a:endParaRPr/>
          </a:p>
          <a:p>
            <a:r>
              <a:t>```{=latex}</a:t>
            </a:r>
          </a:p>
          <a:p>
            <a:r>
              <a:t>\begin{center}</a:t>
            </a:r>
          </a:p>
          <a:p>
            <a:r>
              <a:t>```</a:t>
            </a:r>
          </a:p>
          <a:p>
            <a:endParaRPr/>
          </a:p>
          <a:p>
            <a:r>
              <a:t>![](figures/ppt_md_merger_overview_slide5_fig.png){ width=80% }</a:t>
            </a:r>
          </a:p>
          <a:p>
            <a:endParaRPr/>
          </a:p>
          <a:p>
            <a:r>
              <a:t>```{=latex}</a:t>
            </a:r>
          </a:p>
          <a:p>
            <a:r>
              <a:t>\end{center}</a:t>
            </a:r>
          </a:p>
          <a:p>
            <a:r>
              <a:t>```</a:t>
            </a:r>
          </a:p>
          <a:p>
            <a:endParaRPr/>
          </a:p>
          <a:p>
            <a:r>
              <a:t>PowerPoint 部品マージツール、 PPT &amp; MD merger を作りました！</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28252684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7</a:t>
            </a:fld>
            <a:endParaRPr kumimoji="1" lang="ja-JP" altLang="en-US"/>
          </a:p>
        </p:txBody>
      </p:sp>
    </p:spTree>
    <p:extLst>
      <p:ext uri="{BB962C8B-B14F-4D97-AF65-F5344CB8AC3E}">
        <p14:creationId xmlns:p14="http://schemas.microsoft.com/office/powerpoint/2010/main" val="18403397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../extracted/figures/ppt_md_merger_overview_slide6_fig.png</a:t>
            </a:r>
          </a:p>
          <a:p>
            <a:endParaRPr/>
          </a:p>
          <a:p>
            <a:r>
              <a:t>===BLOCK===</a:t>
            </a:r>
          </a:p>
          <a:p>
            <a:r>
              <a:t>{{BLOCK:MD:LONG}}</a:t>
            </a:r>
          </a:p>
          <a:p>
            <a:endParaRPr/>
          </a:p>
          <a:p>
            <a:r>
              <a:t>export-note: ../extracted/ppt_md_merger_overview_slide6_md.md</a:t>
            </a:r>
          </a:p>
          <a:p>
            <a:r>
              <a:t>{{#id:section:ppt_md_merger_overview:slide6}}</a:t>
            </a:r>
          </a:p>
          <a:p>
            <a:r>
              <a:t>## まずは問題の構造を整理すると・・・</a:t>
            </a:r>
          </a:p>
          <a:p>
            <a:endParaRPr/>
          </a:p>
          <a:p>
            <a:r>
              <a:t>いったん、問題の構造を整理しましょう。</a:t>
            </a:r>
          </a:p>
          <a:p>
            <a:endParaRPr/>
          </a:p>
          <a:p>
            <a:r>
              <a:t>大きなPowerPointファイルも実際は小さな部品の集合体です。</a:t>
            </a:r>
          </a:p>
          <a:p>
            <a:endParaRPr/>
          </a:p>
          <a:p>
            <a:r>
              <a:t>```{=latex}</a:t>
            </a:r>
          </a:p>
          <a:p>
            <a:r>
              <a:t>\begin{center}</a:t>
            </a:r>
          </a:p>
          <a:p>
            <a:r>
              <a:t>```</a:t>
            </a:r>
          </a:p>
          <a:p>
            <a:endParaRPr/>
          </a:p>
          <a:p>
            <a:r>
              <a:t>![](figures/ppt_md_merger_overview_slide6_fig.png){ width=80% }</a:t>
            </a:r>
          </a:p>
          <a:p>
            <a:endParaRPr/>
          </a:p>
          <a:p>
            <a:r>
              <a:t>```{=latex}</a:t>
            </a:r>
          </a:p>
          <a:p>
            <a:r>
              <a:t>\end{center}</a:t>
            </a:r>
          </a:p>
          <a:p>
            <a:r>
              <a:t>```</a:t>
            </a:r>
          </a:p>
          <a:p>
            <a:endParaRPr/>
          </a:p>
          <a:p>
            <a:r>
              <a:t>たとえばＡ社向け、Ｂ、Ｃ社向けと3種類の .pptx があるとして、その中には３社共通の部品もあれば２社共通の部品、各社専用の部品もあります。その組合せが各社違うということです。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8</a:t>
            </a:fld>
            <a:endParaRPr kumimoji="1" lang="ja-JP" altLang="en-US"/>
          </a:p>
        </p:txBody>
      </p:sp>
    </p:spTree>
    <p:extLst>
      <p:ext uri="{BB962C8B-B14F-4D97-AF65-F5344CB8AC3E}">
        <p14:creationId xmlns:p14="http://schemas.microsoft.com/office/powerpoint/2010/main" val="4283445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../extracted/figures/ppt_md_merger_overview_slide7_fig.png</a:t>
            </a:r>
          </a:p>
          <a:p>
            <a:endParaRPr/>
          </a:p>
          <a:p>
            <a:r>
              <a:t>===BLOCK===</a:t>
            </a:r>
          </a:p>
          <a:p>
            <a:r>
              <a:t>{{BLOCK:MD:LONG}}</a:t>
            </a:r>
          </a:p>
          <a:p>
            <a:endParaRPr/>
          </a:p>
          <a:p>
            <a:r>
              <a:t>export-note: ../extracted/ppt_md_merger_overview_slide7_md.md</a:t>
            </a:r>
          </a:p>
          <a:p>
            <a:r>
              <a:t>{{#id:section:ppt_md_merger_overview:slide7}}</a:t>
            </a:r>
          </a:p>
          <a:p>
            <a:r>
              <a:t>## 部品を組み合わせて完成版を構成する仕組みを作る</a:t>
            </a:r>
          </a:p>
          <a:p>
            <a:endParaRPr/>
          </a:p>
          <a:p>
            <a:r>
              <a:t>そこで、部品の組み合わせを自動的に結合（マージ）して完成版を作れるしくみがあれば良さそうです。</a:t>
            </a:r>
          </a:p>
          <a:p>
            <a:endParaRPr/>
          </a:p>
          <a:p>
            <a:r>
              <a:t>pptx部品単位でマスターを管理し、更新は必ずマスターに対して行うようにします。そうすれば 「○○社向け構成」 が何百種類あってもマージするだけで完成版ができるので、自動的に各社向け完成版に反映可能です。</a:t>
            </a:r>
          </a:p>
          <a:p>
            <a:endParaRPr/>
          </a:p>
          <a:p>
            <a:r>
              <a:t>```{=latex}</a:t>
            </a:r>
          </a:p>
          <a:p>
            <a:r>
              <a:t>\begin{center}</a:t>
            </a:r>
          </a:p>
          <a:p>
            <a:r>
              <a:t>```</a:t>
            </a:r>
          </a:p>
          <a:p>
            <a:endParaRPr/>
          </a:p>
          <a:p>
            <a:r>
              <a:t>![](figures/ppt_md_merger_overview_slide7_fig.png){ width=95% }</a:t>
            </a:r>
          </a:p>
          <a:p>
            <a:endParaRPr/>
          </a:p>
          <a:p>
            <a:r>
              <a:t>```{=latex}</a:t>
            </a:r>
          </a:p>
          <a:p>
            <a:r>
              <a:t>\end{center}</a:t>
            </a:r>
          </a:p>
          <a:p>
            <a:r>
              <a:t>```</a:t>
            </a:r>
          </a:p>
          <a:p>
            <a:endParaRPr/>
          </a:p>
          <a:p>
            <a:r>
              <a:t>したがって、原則としてマージ後は編集しません。（その場限りで捨てるような語句軽微な修正はしてもかまいませんが）</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9</a:t>
            </a:fld>
            <a:endParaRPr kumimoji="1" lang="ja-JP" altLang="en-US"/>
          </a:p>
        </p:txBody>
      </p:sp>
    </p:spTree>
    <p:extLst>
      <p:ext uri="{BB962C8B-B14F-4D97-AF65-F5344CB8AC3E}">
        <p14:creationId xmlns:p14="http://schemas.microsoft.com/office/powerpoint/2010/main" val="27071004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../extracted/figures/ppt_md_merger_overview_slide8_fig.png</a:t>
            </a:r>
          </a:p>
          <a:p>
            <a:endParaRPr/>
          </a:p>
          <a:p>
            <a:r>
              <a:t>===BLOCK===</a:t>
            </a:r>
          </a:p>
          <a:p>
            <a:r>
              <a:t>{{BLOCK:MD:LONG}}</a:t>
            </a:r>
          </a:p>
          <a:p>
            <a:endParaRPr/>
          </a:p>
          <a:p>
            <a:r>
              <a:t>export-note: ../extracted/ppt_md_merger_overview_slide8_md.md</a:t>
            </a:r>
          </a:p>
          <a:p>
            <a:r>
              <a:t>{{#id:section:ppt_md_merger_overview:slide8}}</a:t>
            </a:r>
          </a:p>
          <a:p>
            <a:r>
              <a:t>## 自動マージするときに章・節番号を付与する</a:t>
            </a:r>
          </a:p>
          <a:p>
            <a:endParaRPr/>
          </a:p>
          <a:p>
            <a:r>
              <a:t>自動マージするときに章/節番号の付与もできます。</a:t>
            </a:r>
          </a:p>
          <a:p>
            <a:endParaRPr/>
          </a:p>
          <a:p>
            <a:r>
              <a:t>```{=latex}</a:t>
            </a:r>
          </a:p>
          <a:p>
            <a:r>
              <a:t>\begin{center}</a:t>
            </a:r>
          </a:p>
          <a:p>
            <a:r>
              <a:t>```</a:t>
            </a:r>
          </a:p>
          <a:p>
            <a:endParaRPr/>
          </a:p>
          <a:p>
            <a:r>
              <a:t>![](figures/ppt_md_merger_overview_slide8_fig.png){ width=95% }</a:t>
            </a:r>
          </a:p>
          <a:p>
            <a:endParaRPr/>
          </a:p>
          <a:p>
            <a:r>
              <a:t>```{=latex}</a:t>
            </a:r>
          </a:p>
          <a:p>
            <a:r>
              <a:t>\end{center}</a:t>
            </a:r>
          </a:p>
          <a:p>
            <a:r>
              <a:t>```</a:t>
            </a:r>
          </a:p>
          <a:p>
            <a:endParaRPr/>
          </a:p>
          <a:p>
            <a:r>
              <a:t>部品側には番号を付与せず、マージ時に付番するので各社向けの構成の違いにも対応できます。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10</a:t>
            </a:fld>
            <a:endParaRPr kumimoji="1" lang="ja-JP" altLang="en-US"/>
          </a:p>
        </p:txBody>
      </p:sp>
    </p:spTree>
    <p:extLst>
      <p:ext uri="{BB962C8B-B14F-4D97-AF65-F5344CB8AC3E}">
        <p14:creationId xmlns:p14="http://schemas.microsoft.com/office/powerpoint/2010/main" val="28511584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../extracted/figures/ppt_md_merger_overview_slide9_fig.png</a:t>
            </a:r>
          </a:p>
          <a:p>
            <a:endParaRPr/>
          </a:p>
          <a:p>
            <a:r>
              <a:t>===BLOCK===</a:t>
            </a:r>
          </a:p>
          <a:p>
            <a:r>
              <a:t>{{BLOCK:MD:LONG}}</a:t>
            </a:r>
          </a:p>
          <a:p>
            <a:endParaRPr/>
          </a:p>
          <a:p>
            <a:r>
              <a:t>export-note: ../extracted/ppt_md_merger_overview_slide9_md.md</a:t>
            </a:r>
          </a:p>
          <a:p>
            <a:r>
              <a:t>{{#id:section:ppt_md_merger_overview:slide9}}</a:t>
            </a:r>
          </a:p>
          <a:p>
            <a:r>
              <a:t>## 補助機能：変数置換</a:t>
            </a:r>
          </a:p>
          <a:p>
            <a:endParaRPr/>
          </a:p>
          <a:p>
            <a:r>
              <a:t>さらに変数置換機能をつけました。 pptx部品上で特殊な書式で変数を書いておくと、その内容をマージ仕様書の設定にしたがって書き換えられます。</a:t>
            </a:r>
          </a:p>
          <a:p>
            <a:endParaRPr/>
          </a:p>
          <a:p>
            <a:r>
              <a:t>```{=latex}</a:t>
            </a:r>
          </a:p>
          <a:p>
            <a:r>
              <a:t>\begin{center}</a:t>
            </a:r>
          </a:p>
          <a:p>
            <a:r>
              <a:t>```</a:t>
            </a:r>
          </a:p>
          <a:p>
            <a:endParaRPr/>
          </a:p>
          <a:p>
            <a:r>
              <a:t>![](figures/ppt_md_merger_overview_slide9_fig.png){ width=90% }</a:t>
            </a:r>
          </a:p>
          <a:p>
            <a:endParaRPr/>
          </a:p>
          <a:p>
            <a:r>
              <a:t>```{=latex}</a:t>
            </a:r>
          </a:p>
          <a:p>
            <a:r>
              <a:t>\end{center}</a:t>
            </a:r>
          </a:p>
          <a:p>
            <a:r>
              <a:t>```</a:t>
            </a:r>
          </a:p>
          <a:p>
            <a:endParaRPr/>
          </a:p>
          <a:p>
            <a:r>
              <a:t>仕向先別のバリエーションをこの方法でも吸収することができます。</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11</a:t>
            </a:fld>
            <a:endParaRPr kumimoji="1" lang="ja-JP" altLang="en-US"/>
          </a:p>
        </p:txBody>
      </p:sp>
    </p:spTree>
    <p:extLst>
      <p:ext uri="{BB962C8B-B14F-4D97-AF65-F5344CB8AC3E}">
        <p14:creationId xmlns:p14="http://schemas.microsoft.com/office/powerpoint/2010/main" val="24298894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C1540-4952-2273-D5C6-57DA34A252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B53CE2-9510-95A7-53EA-77EFEFB0BA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699B1AF-E779-ECF4-F9B7-8039C6C403C0}"/>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../extracted/figures/ppt_md_merger_overview_slide11_fig.png</a:t>
            </a:r>
          </a:p>
          <a:p>
            <a:endParaRPr/>
          </a:p>
          <a:p>
            <a:r>
              <a:t>===BLOCK===</a:t>
            </a:r>
          </a:p>
          <a:p>
            <a:r>
              <a:t>{{BLOCK:MD:LONG}}</a:t>
            </a:r>
          </a:p>
          <a:p>
            <a:endParaRPr/>
          </a:p>
          <a:p>
            <a:r>
              <a:t>export-note: ../extracted/ppt_md_merger_overview_slide11_md.md</a:t>
            </a:r>
          </a:p>
          <a:p>
            <a:r>
              <a:t>{{#id:section:ppt_md_merger_overview:slide11}}</a:t>
            </a:r>
          </a:p>
          <a:p>
            <a:r>
              <a:t>## 補助機能： 一時メモ用シェイプの自動削除</a:t>
            </a:r>
          </a:p>
          <a:p>
            <a:endParaRPr/>
          </a:p>
          <a:p>
            <a:r>
              <a:t>シェイプ/スライド自動削除機能の派生形で、オプションの有無を問わず必ず削除されるシェイプを作る特殊マーカーもあります。</a:t>
            </a:r>
          </a:p>
          <a:p>
            <a:endParaRPr/>
          </a:p>
          <a:p>
            <a:r>
              <a:t>長い研修テキストの制作中には、 「とりあえずたたき台を書いておくけど、必ず直前に最終確認しろ！」 というような事項がどうしても出てくるものです。 紙の資料なら付箋紙を貼るところですがデジタル文書ではそれができない。 そこでパワポ資料では付箋紙代わりに目立つ図形にそうした注意書きを書いて残しておいたりしますが、これは本番資料からは必ず削除しなければならないもの。</a:t>
            </a:r>
          </a:p>
          <a:p>
            <a:endParaRPr/>
          </a:p>
          <a:p>
            <a:r>
              <a:t>ところが・・・そう、残ってしまうことがあるんですね。</a:t>
            </a:r>
          </a:p>
          <a:p>
            <a:endParaRPr/>
          </a:p>
          <a:p>
            <a:r>
              <a:t>```{=latex}</a:t>
            </a:r>
          </a:p>
          <a:p>
            <a:r>
              <a:t>\begin{center}</a:t>
            </a:r>
          </a:p>
          <a:p>
            <a:r>
              <a:t>```</a:t>
            </a:r>
          </a:p>
          <a:p>
            <a:endParaRPr/>
          </a:p>
          <a:p>
            <a:r>
              <a:t>![](figures/ppt_md_merger_overview_slide11_fig.png){ width=90% }</a:t>
            </a:r>
          </a:p>
          <a:p>
            <a:endParaRPr/>
          </a:p>
          <a:p>
            <a:r>
              <a:t>```{=latex}</a:t>
            </a:r>
          </a:p>
          <a:p>
            <a:r>
              <a:t>\end{center}</a:t>
            </a:r>
          </a:p>
          <a:p>
            <a:r>
              <a:t>```</a:t>
            </a:r>
          </a:p>
          <a:p>
            <a:endParaRPr/>
          </a:p>
          <a:p>
            <a:r>
              <a:t>そこで、この一時メモ用シェイプの自動削除機能です。これを使えば必ず削除されるので安心です。</a:t>
            </a:r>
          </a:p>
          <a:p>
            <a:endParaRPr/>
          </a:p>
        </p:txBody>
      </p:sp>
      <p:sp>
        <p:nvSpPr>
          <p:cNvPr id="4" name="スライド番号プレースホルダー 3">
            <a:extLst>
              <a:ext uri="{FF2B5EF4-FFF2-40B4-BE49-F238E27FC236}">
                <a16:creationId xmlns:a16="http://schemas.microsoft.com/office/drawing/2014/main" id="{1FC87322-6B16-8D97-CC09-0E2A9863EA3A}"/>
              </a:ext>
            </a:extLst>
          </p:cNvPr>
          <p:cNvSpPr>
            <a:spLocks noGrp="1"/>
          </p:cNvSpPr>
          <p:nvPr>
            <p:ph type="sldNum" sz="quarter" idx="5"/>
          </p:nvPr>
        </p:nvSpPr>
        <p:spPr/>
        <p:txBody>
          <a:bodyPr/>
          <a:lstStyle/>
          <a:p>
            <a:fld id="{BA10FDB7-3E02-4363-90B3-590B3C26A88D}" type="slidenum">
              <a:rPr kumimoji="1" lang="ja-JP" altLang="en-US" smtClean="0"/>
              <a:t>12</a:t>
            </a:fld>
            <a:endParaRPr kumimoji="1" lang="ja-JP" altLang="en-US"/>
          </a:p>
        </p:txBody>
      </p:sp>
    </p:spTree>
    <p:extLst>
      <p:ext uri="{BB962C8B-B14F-4D97-AF65-F5344CB8AC3E}">
        <p14:creationId xmlns:p14="http://schemas.microsoft.com/office/powerpoint/2010/main" val="14861690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13</a:t>
            </a:fld>
            <a:endParaRPr kumimoji="1" lang="ja-JP" altLang="en-US"/>
          </a:p>
        </p:txBody>
      </p:sp>
    </p:spTree>
    <p:extLst>
      <p:ext uri="{BB962C8B-B14F-4D97-AF65-F5344CB8AC3E}">
        <p14:creationId xmlns:p14="http://schemas.microsoft.com/office/powerpoint/2010/main" val="24259944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../extracted/figures/ppt_md_merger_overview_slide12_fig.png</a:t>
            </a:r>
          </a:p>
          <a:p>
            <a:endParaRPr/>
          </a:p>
          <a:p>
            <a:r>
              <a:t>===BLOCK===</a:t>
            </a:r>
          </a:p>
          <a:p>
            <a:r>
              <a:t>{{BLOCK:MD:LONG}}</a:t>
            </a:r>
          </a:p>
          <a:p>
            <a:endParaRPr/>
          </a:p>
          <a:p>
            <a:r>
              <a:t>export-note: ../extracted/ppt_md_merger_overview_slide12_md.md</a:t>
            </a:r>
          </a:p>
          <a:p>
            <a:r>
              <a:t>{{#id:section:ppt_md_merger_overview:slide12}}</a:t>
            </a:r>
          </a:p>
          <a:p>
            <a:r>
              <a:t>## PPTX生成機能と、その他の形式文書生成機能</a:t>
            </a:r>
          </a:p>
          <a:p>
            <a:endParaRPr/>
          </a:p>
          <a:p>
            <a:r>
              <a:t>なお、PPT&amp;MD merger は大まかに PPTX生成と他形式（PDF,MD,HTML)生成の２つの機能に分かれています。 PPTX生成はPPTX形式だけで完結しますが、他形式生成のほうはいったんMarkdown形式を出力して結合するので別系統の機能として構築したもので、設定方法等も少々複雑です。</a:t>
            </a:r>
          </a:p>
          <a:p>
            <a:r>
              <a:t>現時点で詳しい（図版つき）機能解説を用意しているのはPPTX生成の範囲のみで、他形式分については準備中です。ただし、他形式生成も図版つき解説がないだけで、機能としては動いているので、詳細スペック文書やサンプルを読んでいただけば、使い方は察しがつくかもしれません。（かもしれません・・・・・保証はしない(^_^;)　まあ、おいおい書きますよ）</a:t>
            </a:r>
          </a:p>
          <a:p>
            <a:endParaRPr/>
          </a:p>
          <a:p>
            <a:r>
              <a:t>```{=latex}</a:t>
            </a:r>
          </a:p>
          <a:p>
            <a:r>
              <a:t>\begin{center}</a:t>
            </a:r>
          </a:p>
          <a:p>
            <a:r>
              <a:t>```</a:t>
            </a:r>
          </a:p>
          <a:p>
            <a:endParaRPr/>
          </a:p>
          <a:p>
            <a:r>
              <a:t>![](figures/ppt_md_merger_overview_slide12_fig.png){ width=95% }</a:t>
            </a:r>
          </a:p>
          <a:p>
            <a:endParaRPr/>
          </a:p>
          <a:p>
            <a:r>
              <a:t>```{=latex}</a:t>
            </a:r>
          </a:p>
          <a:p>
            <a:r>
              <a:t>\end{center}</a:t>
            </a:r>
          </a:p>
          <a:p>
            <a:r>
              <a:t>```</a:t>
            </a:r>
          </a:p>
          <a:p>
            <a:endParaRPr/>
          </a:p>
          <a:p>
            <a:r>
              <a:t>以下、PPTX生成機能の詳細解説、および他形式生成機能も含む詳細スペック文書へのリンク一覧です。　しかし、「詳細を読むよりまず試しに使ってみたい」　という場合はこの後の Quick Start をご覧ください。</a:t>
            </a:r>
          </a:p>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14</a:t>
            </a:fld>
            <a:endParaRPr kumimoji="1" lang="ja-JP" altLang="en-US"/>
          </a:p>
        </p:txBody>
      </p:sp>
    </p:spTree>
    <p:extLst>
      <p:ext uri="{BB962C8B-B14F-4D97-AF65-F5344CB8AC3E}">
        <p14:creationId xmlns:p14="http://schemas.microsoft.com/office/powerpoint/2010/main" val="32851416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15</a:t>
            </a:fld>
            <a:endParaRPr kumimoji="1" lang="ja-JP" altLang="en-US"/>
          </a:p>
        </p:txBody>
      </p:sp>
    </p:spTree>
    <p:extLst>
      <p:ext uri="{BB962C8B-B14F-4D97-AF65-F5344CB8AC3E}">
        <p14:creationId xmlns:p14="http://schemas.microsoft.com/office/powerpoint/2010/main" val="14148444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../extracted/ppt_md_merger_overview_slide13_md.md</a:t>
            </a:r>
          </a:p>
          <a:p>
            <a:r>
              <a:t>{{#id:section:ppt_md_merger_overview:slide13}}</a:t>
            </a:r>
          </a:p>
          <a:p>
            <a:r>
              <a:t>## システム要件</a:t>
            </a:r>
          </a:p>
          <a:p>
            <a:endParaRPr/>
          </a:p>
          <a:p>
            <a:r>
              <a:t>PPTX生成機能のみ、とりあえず試してみるための手順を示します。</a:t>
            </a:r>
          </a:p>
          <a:p>
            <a:endParaRPr/>
          </a:p>
          <a:p>
            <a:r>
              <a:t>PPT &amp; MD merger のシステム要件です。</a:t>
            </a:r>
          </a:p>
          <a:p>
            <a:endParaRPr/>
          </a:p>
          <a:p>
            <a:r>
              <a:t>### OS</a:t>
            </a:r>
          </a:p>
          <a:p>
            <a:endParaRPr/>
          </a:p>
          <a:p>
            <a:r>
              <a:t>```md</a:t>
            </a:r>
          </a:p>
          <a:p>
            <a:r>
              <a:t>Windows10/11</a:t>
            </a:r>
          </a:p>
          <a:p>
            <a:r>
              <a:t>```</a:t>
            </a:r>
          </a:p>
          <a:p>
            <a:endParaRPr/>
          </a:p>
          <a:p>
            <a:r>
              <a:t>### Software</a:t>
            </a:r>
          </a:p>
          <a:p>
            <a:endParaRPr/>
          </a:p>
          <a:p>
            <a:r>
              <a:t>Python 3.11以上</a:t>
            </a:r>
          </a:p>
          <a:p>
            <a:endParaRPr/>
          </a:p>
          <a:p>
            <a:r>
              <a:t>```md</a:t>
            </a:r>
          </a:p>
          <a:p>
            <a:r>
              <a:t>Microsoft PowerPoint Desktop版</a:t>
            </a:r>
          </a:p>
          <a:p>
            <a:r>
              <a:t>  - Microsoft 365</a:t>
            </a:r>
          </a:p>
          <a:p>
            <a:r>
              <a:t>  - PowerPoint 2021 など</a:t>
            </a:r>
          </a:p>
          <a:p>
            <a:r>
              <a:t>```</a:t>
            </a:r>
          </a:p>
          <a:p>
            <a:endParaRPr/>
          </a:p>
          <a:p>
            <a:endParaRPr/>
          </a:p>
          <a:p>
            <a:r>
              <a:t>```md</a:t>
            </a:r>
          </a:p>
          <a:p>
            <a:r>
              <a:t>Test環境</a:t>
            </a:r>
          </a:p>
          <a:p>
            <a:r>
              <a:t>  - Windows 11</a:t>
            </a:r>
          </a:p>
          <a:p>
            <a:r>
              <a:t>  - Python 3.14</a:t>
            </a:r>
          </a:p>
          <a:p>
            <a:r>
              <a:t>  - PowerPoint for Microsoft 365</a:t>
            </a:r>
          </a:p>
          <a:p>
            <a:r>
              <a:t>```</a:t>
            </a:r>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16</a:t>
            </a:fld>
            <a:endParaRPr kumimoji="1" lang="ja-JP" altLang="en-US"/>
          </a:p>
        </p:txBody>
      </p:sp>
    </p:spTree>
    <p:extLst>
      <p:ext uri="{BB962C8B-B14F-4D97-AF65-F5344CB8AC3E}">
        <p14:creationId xmlns:p14="http://schemas.microsoft.com/office/powerpoint/2010/main" val="23939905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../extracted/ppt_md_merger_overview_slide14_md.md</a:t>
            </a:r>
          </a:p>
          <a:p>
            <a:r>
              <a:t>{{#id:section:ppt_md_merger_overview:slide14}}</a:t>
            </a:r>
          </a:p>
          <a:p>
            <a:r>
              <a:t>## インストール方法</a:t>
            </a:r>
          </a:p>
          <a:p>
            <a:endParaRPr/>
          </a:p>
          <a:p>
            <a:r>
              <a:t>### 1. Clone repository</a:t>
            </a:r>
          </a:p>
          <a:p>
            <a:endParaRPr/>
          </a:p>
          <a:p>
            <a:r>
              <a:t>```bash</a:t>
            </a:r>
          </a:p>
          <a:p>
            <a:r>
              <a:t>git clone https://github.com/USERNAME/ppt-md-merger.git</a:t>
            </a:r>
          </a:p>
          <a:p>
            <a:r>
              <a:t>cd ppt-md-merger</a:t>
            </a:r>
          </a:p>
          <a:p>
            <a:r>
              <a:t>```</a:t>
            </a:r>
          </a:p>
          <a:p>
            <a:endParaRPr/>
          </a:p>
          <a:p>
            <a:r>
              <a:t>### 2. Create virtual environment</a:t>
            </a:r>
          </a:p>
          <a:p>
            <a:endParaRPr/>
          </a:p>
          <a:p>
            <a:r>
              <a:t>python仮想環境の構築</a:t>
            </a:r>
          </a:p>
          <a:p>
            <a:r>
              <a:t>```powershell</a:t>
            </a:r>
          </a:p>
          <a:p>
            <a:r>
              <a:t>python -m venv .venv</a:t>
            </a:r>
          </a:p>
          <a:p>
            <a:r>
              <a:t>```</a:t>
            </a:r>
          </a:p>
          <a:p>
            <a:endParaRPr/>
          </a:p>
          <a:p>
            <a:r>
              <a:t>### 3. Activate virtual environment</a:t>
            </a:r>
          </a:p>
          <a:p>
            <a:endParaRPr/>
          </a:p>
          <a:p>
            <a:r>
              <a:t>仮想環境の有効化</a:t>
            </a:r>
          </a:p>
          <a:p>
            <a:endParaRPr/>
          </a:p>
          <a:p>
            <a:r>
              <a:t>```powershell</a:t>
            </a:r>
          </a:p>
          <a:p>
            <a:r>
              <a:t>.venv\Scripts\Activate.ps1</a:t>
            </a:r>
          </a:p>
          <a:p>
            <a:r>
              <a:t>```</a:t>
            </a:r>
          </a:p>
          <a:p>
            <a:endParaRPr/>
          </a:p>
          <a:p>
            <a:r>
              <a:t>仮想環境からの退出</a:t>
            </a:r>
          </a:p>
          <a:p>
            <a:endParaRPr/>
          </a:p>
          <a:p>
            <a:r>
              <a:t>```powershell</a:t>
            </a:r>
          </a:p>
          <a:p>
            <a:r>
              <a:t>.venv\Scripts\deactivate.bat</a:t>
            </a:r>
          </a:p>
          <a:p>
            <a:r>
              <a:t>```</a:t>
            </a:r>
          </a:p>
          <a:p>
            <a:endParaRPr/>
          </a:p>
          <a:p>
            <a:r>
              <a:t>### 4. Install package</a:t>
            </a:r>
          </a:p>
          <a:p>
            <a:endParaRPr/>
          </a:p>
          <a:p>
            <a:r>
              <a:t>```powershell</a:t>
            </a:r>
          </a:p>
          <a:p>
            <a:r>
              <a:t>pip install -e .</a:t>
            </a:r>
          </a:p>
          <a:p>
            <a:r>
              <a:t>```</a:t>
            </a: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17</a:t>
            </a:fld>
            <a:endParaRPr kumimoji="1" lang="ja-JP" altLang="en-US"/>
          </a:p>
        </p:txBody>
      </p:sp>
    </p:spTree>
    <p:extLst>
      <p:ext uri="{BB962C8B-B14F-4D97-AF65-F5344CB8AC3E}">
        <p14:creationId xmlns:p14="http://schemas.microsoft.com/office/powerpoint/2010/main" val="35086128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../extracted/ppt_md_merger_overview_slide15_md.md</a:t>
            </a:r>
          </a:p>
          <a:p>
            <a:r>
              <a:t>{{#id:section:ppt_md_merger_overview:slide15}}</a:t>
            </a:r>
          </a:p>
          <a:p>
            <a:r>
              <a:t>## Quick Start</a:t>
            </a:r>
          </a:p>
          <a:p>
            <a:endParaRPr/>
          </a:p>
          <a:p>
            <a:r>
              <a:t>### 1. Prepare parts pptx files</a:t>
            </a:r>
          </a:p>
          <a:p>
            <a:endParaRPr/>
          </a:p>
          <a:p>
            <a:r>
              <a:t>適当なpptxファイルを用意します。中身は何を書いてもかまいません。</a:t>
            </a:r>
          </a:p>
          <a:p>
            <a:endParaRPr/>
          </a:p>
          <a:p>
            <a:r>
              <a:t>```</a:t>
            </a:r>
          </a:p>
          <a:p>
            <a:r>
              <a:t>parts/</a:t>
            </a:r>
          </a:p>
          <a:p>
            <a:r>
              <a:t>├── 00_intro.pptx</a:t>
            </a:r>
          </a:p>
          <a:p>
            <a:r>
              <a:t>├── 10_basic.pptx</a:t>
            </a:r>
          </a:p>
          <a:p>
            <a:r>
              <a:t>└── 20_example.pptx</a:t>
            </a:r>
          </a:p>
          <a:p>
            <a:r>
              <a:t>```</a:t>
            </a: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18</a:t>
            </a:fld>
            <a:endParaRPr kumimoji="1" lang="ja-JP" altLang="en-US"/>
          </a:p>
        </p:txBody>
      </p:sp>
    </p:spTree>
    <p:extLst>
      <p:ext uri="{BB962C8B-B14F-4D97-AF65-F5344CB8AC3E}">
        <p14:creationId xmlns:p14="http://schemas.microsoft.com/office/powerpoint/2010/main" val="30746241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../extracted/ppt_md_merger_overview_slide16_md.md</a:t>
            </a:r>
          </a:p>
          <a:p>
            <a:r>
              <a:t>{{#id:subsection:ppt_md_merger_overview:slide16_2}} </a:t>
            </a:r>
          </a:p>
          <a:p>
            <a:r>
              <a:t>### 2. Create merge recipe YAML</a:t>
            </a:r>
          </a:p>
          <a:p>
            <a:endParaRPr/>
          </a:p>
          <a:p>
            <a:r>
              <a:t>PowerPointファイルを単純結合する結合指示書のサンプル</a:t>
            </a:r>
          </a:p>
          <a:p>
            <a:endParaRPr/>
          </a:p>
          <a:p>
            <a:r>
              <a:t>```</a:t>
            </a:r>
          </a:p>
          <a:p>
            <a:r>
              <a:t>output: </a:t>
            </a:r>
          </a:p>
          <a:p>
            <a:r>
              <a:t>  pptxfilename: merged.pptx        # 結合後のpptxファイルのファイル名</a:t>
            </a:r>
          </a:p>
          <a:p>
            <a:endParaRPr/>
          </a:p>
          <a:p>
            <a:r>
              <a:t>procedure:</a:t>
            </a:r>
          </a:p>
          <a:p>
            <a:r>
              <a:t>  - operation: insertpptx		 # 結合後対象のファイルを列挙する</a:t>
            </a:r>
          </a:p>
          <a:p>
            <a:r>
              <a:t>    pptxfilename: 00_intro.pptx</a:t>
            </a:r>
          </a:p>
          <a:p>
            <a:r>
              <a:t>  - operation: insertpptx</a:t>
            </a:r>
          </a:p>
          <a:p>
            <a:r>
              <a:t>    pptxfilename: 10_basic.pptx</a:t>
            </a:r>
          </a:p>
          <a:p>
            <a:r>
              <a:t>  - operation: insertpptx</a:t>
            </a:r>
          </a:p>
          <a:p>
            <a:r>
              <a:t>    pptxfilename: 20_example.pptx</a:t>
            </a:r>
          </a:p>
          <a:p>
            <a:r>
              <a:t>```</a:t>
            </a: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19</a:t>
            </a:fld>
            <a:endParaRPr kumimoji="1" lang="ja-JP" altLang="en-US"/>
          </a:p>
        </p:txBody>
      </p:sp>
    </p:spTree>
    <p:extLst>
      <p:ext uri="{BB962C8B-B14F-4D97-AF65-F5344CB8AC3E}">
        <p14:creationId xmlns:p14="http://schemas.microsoft.com/office/powerpoint/2010/main" val="160747116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../extracted/ppt_md_merger_overview_slide17_md.md</a:t>
            </a:r>
          </a:p>
          <a:p>
            <a:r>
              <a:t>{{#id:subsection:ppt_md_merger_overview:slide17_3}} --&gt;</a:t>
            </a:r>
          </a:p>
          <a:p>
            <a:r>
              <a:t>### 3. Run merge</a:t>
            </a:r>
          </a:p>
          <a:p>
            <a:endParaRPr/>
          </a:p>
          <a:p>
            <a:r>
              <a:t>```</a:t>
            </a:r>
          </a:p>
          <a:p>
            <a:r>
              <a:t>pptmdmerge pptmerge merge_recipe.yaml  [options]</a:t>
            </a:r>
          </a:p>
          <a:p>
            <a:r>
              <a:t>```</a:t>
            </a:r>
          </a:p>
          <a:p>
            <a:endParaRPr/>
          </a:p>
          <a:p>
            <a:r>
              <a:t>```</a:t>
            </a:r>
          </a:p>
          <a:p>
            <a:r>
              <a:t>options</a:t>
            </a:r>
          </a:p>
          <a:p>
            <a:r>
              <a:t>  --log-level debug    設定ミス等を検証するために処理内容を確認したい場合、デバッグ表示を有効に</a:t>
            </a:r>
          </a:p>
          <a:p>
            <a:r>
              <a:t>  --force              何度も作り直す場合は出力ファイルを上書きにする</a:t>
            </a:r>
          </a:p>
          <a:p>
            <a:r>
              <a:t>```</a:t>
            </a:r>
          </a:p>
          <a:p>
            <a:endParaRPr/>
          </a:p>
          <a:p>
            <a:r>
              <a:t>### 4. output</a:t>
            </a:r>
          </a:p>
          <a:p>
            <a:endParaRPr/>
          </a:p>
          <a:p>
            <a:r>
              <a:t>```</a:t>
            </a:r>
          </a:p>
          <a:p>
            <a:r>
              <a:t>merged.pptx</a:t>
            </a:r>
          </a:p>
          <a:p>
            <a:r>
              <a:t>```</a:t>
            </a: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20</a:t>
            </a:fld>
            <a:endParaRPr kumimoji="1" lang="ja-JP" altLang="en-US"/>
          </a:p>
        </p:txBody>
      </p:sp>
    </p:spTree>
    <p:extLst>
      <p:ext uri="{BB962C8B-B14F-4D97-AF65-F5344CB8AC3E}">
        <p14:creationId xmlns:p14="http://schemas.microsoft.com/office/powerpoint/2010/main" val="28750190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t>export-note: ../extracted/ppt_md_merger_overview_slide18_md.md</a:t>
            </a:r>
          </a:p>
          <a:p>
            <a:r>
              <a:t>{{#id:section:ppt_md_merger_overview:slide18}}</a:t>
            </a:r>
          </a:p>
          <a:p>
            <a:r>
              <a:t>## Examples</a:t>
            </a:r>
          </a:p>
          <a:p>
            <a:endParaRPr/>
          </a:p>
          <a:p>
            <a:r>
              <a:t>### 単純マージ</a:t>
            </a:r>
          </a:p>
          <a:p>
            <a:endParaRPr/>
          </a:p>
          <a:p>
            <a:r>
              <a:t>２つのファイルを単純に結合するサンプルです。</a:t>
            </a:r>
          </a:p>
          <a:p>
            <a:endParaRPr/>
          </a:p>
          <a:p>
            <a:r>
              <a:t>サンプルフォルダ：　pm1_simple_ppt_merge</a:t>
            </a:r>
          </a:p>
          <a:p>
            <a:endParaRPr/>
          </a:p>
          <a:p>
            <a:r>
              <a:t>[![サンプル：単純マージ](../../pm1_simple_ppt_merge/build/figures/simple_ppt_merge_guide_keyvisual.png/){ width=60% }](../../pm1_simple_ppt_merge/README.md)</a:t>
            </a:r>
          </a:p>
          <a:p>
            <a:endParaRPr/>
          </a:p>
          <a:p>
            <a:r>
              <a:t>```{=latex}</a:t>
            </a:r>
          </a:p>
          <a:p>
            <a:r>
              <a:t>\par\vspace{5\baselineskip}</a:t>
            </a:r>
          </a:p>
          <a:p>
            <a:r>
              <a:t>```</a:t>
            </a:r>
          </a:p>
          <a:p>
            <a:endParaRPr/>
          </a:p>
          <a:p>
            <a:r>
              <a:t>### 簡易ナンバリング</a:t>
            </a:r>
          </a:p>
          <a:p>
            <a:endParaRPr/>
          </a:p>
          <a:p>
            <a:r>
              <a:t>2つの pptx ファイルを結合してファイル単位で chapter としてナンバリングする機能のサンプルです。</a:t>
            </a:r>
          </a:p>
          <a:p>
            <a:endParaRPr/>
          </a:p>
          <a:p>
            <a:r>
              <a:t>サンプルフォルダ：　pm2_simple_numbering</a:t>
            </a:r>
          </a:p>
          <a:p>
            <a:endParaRPr/>
          </a:p>
          <a:p>
            <a:r>
              <a:t>[![サンプル：簡易ナンバリング](../../pm2_simple_numbering/build/figures/simple_numbering_guide_keyvisual.png/){ width=70% }](../../pm2_simple_numbering/README.md)</a:t>
            </a:r>
          </a:p>
          <a:p>
            <a:endParaRPr/>
          </a:p>
          <a:p>
            <a:endParaRPr/>
          </a:p>
          <a:p>
            <a:r>
              <a:t>```{=latex}</a:t>
            </a:r>
          </a:p>
          <a:p>
            <a:r>
              <a:t>\vfill</a:t>
            </a:r>
          </a:p>
          <a:p>
            <a:r>
              <a:t>\newpage</a:t>
            </a:r>
          </a:p>
          <a:p>
            <a:r>
              <a:t>```</a:t>
            </a:r>
          </a:p>
          <a:p>
            <a:endParaRPr/>
          </a:p>
          <a:p>
            <a:r>
              <a:t>### chapter_marker によるナンバリング</a:t>
            </a:r>
          </a:p>
          <a:p>
            <a:endParaRPr/>
          </a:p>
          <a:p>
            <a:r>
              <a:t>スライド上に埋め込んだ特殊文字列 #CHAPT#, #SECTION# で章・節番号のカウントを行う方法のサンプルです。</a:t>
            </a:r>
          </a:p>
          <a:p>
            <a:endParaRPr/>
          </a:p>
          <a:p>
            <a:r>
              <a:t>サンプルフォルダ：　pm3_chapter_marker_numbering</a:t>
            </a:r>
          </a:p>
          <a:p>
            <a:endParaRPr/>
          </a:p>
          <a:p>
            <a:r>
              <a:t>[![サンプル：chapter_marker によるナンバリング](../../pm3_chapter_marker_numbering/build/figures/chapter_marker_numbering_guide_keyvisual.png/){ width=90% }](../../pm3_chapter_marker_numbering/README.md)</a:t>
            </a:r>
          </a:p>
          <a:p>
            <a:endParaRPr/>
          </a:p>
          <a:p>
            <a:endParaRPr/>
          </a:p>
          <a:p>
            <a:r>
              <a:t>```{=latex}</a:t>
            </a:r>
          </a:p>
          <a:p>
            <a:r>
              <a:t>\par\vspace{5\baselineskip}</a:t>
            </a:r>
          </a:p>
          <a:p>
            <a:r>
              <a:t>```</a:t>
            </a:r>
          </a:p>
          <a:p>
            <a:endParaRPr/>
          </a:p>
          <a:p>
            <a:r>
              <a:t>### スライド中の変数置換</a:t>
            </a:r>
          </a:p>
          <a:p>
            <a:endParaRPr/>
          </a:p>
          <a:p>
            <a:r>
              <a:t>スライド上に差し替え可能なプレースホルダーを用意しておき、設定ファイルの変数でそれを差し替え表示する方法のサンプルです。</a:t>
            </a:r>
          </a:p>
          <a:p>
            <a:endParaRPr/>
          </a:p>
          <a:p>
            <a:r>
              <a:t>サンプルフォルダ：　pm_variable_replacement</a:t>
            </a:r>
          </a:p>
          <a:p>
            <a:endParaRPr/>
          </a:p>
          <a:p>
            <a:r>
              <a:t>[![サンプル：スライド中の変数置換](../../pm4_variable_replacement/build/figures/variable_replacement_guide_keyvisual.png/){ width=90% }](../../pm4_variable_replacement/README.md)</a:t>
            </a:r>
          </a:p>
          <a:p>
            <a:endParaRPr/>
          </a:p>
          <a:p>
            <a:endParaRPr/>
          </a:p>
          <a:p>
            <a:r>
              <a:t>```{=latex}</a:t>
            </a:r>
          </a:p>
          <a:p>
            <a:r>
              <a:t>\vfill</a:t>
            </a:r>
          </a:p>
          <a:p>
            <a:r>
              <a:t>\newpage</a:t>
            </a:r>
          </a:p>
          <a:p>
            <a:r>
              <a:t>```</a:t>
            </a:r>
          </a:p>
          <a:p>
            <a:endParaRPr/>
          </a:p>
          <a:p>
            <a:r>
              <a:t>### Chapter Cover 挿入運用</a:t>
            </a:r>
          </a:p>
          <a:p>
            <a:endParaRPr/>
          </a:p>
          <a:p>
            <a:r>
              <a:t>本題のコンテンツの前に章とびら（Chapter Cover）を挿入する運用方法です。</a:t>
            </a:r>
          </a:p>
          <a:p>
            <a:endParaRPr/>
          </a:p>
          <a:p>
            <a:r>
              <a:t>サンプルフォルダ：　pm5_chapter_cover_insertion</a:t>
            </a:r>
          </a:p>
          <a:p>
            <a:endParaRPr/>
          </a:p>
          <a:p>
            <a:r>
              <a:t>[![サンプル：Chapter Cover 挿入運用](../../pm5_chapter_cover_insertion/build/figures/chapter_cover_insertion_guide_keyvisual.png/){ width=80% }](../../pm5_chapter_cover_insertion/README.md)</a:t>
            </a:r>
          </a:p>
          <a:p>
            <a:endParaRPr/>
          </a:p>
          <a:p>
            <a:endParaRPr/>
          </a:p>
          <a:p>
            <a:r>
              <a:t>```{=latex}</a:t>
            </a:r>
          </a:p>
          <a:p>
            <a:r>
              <a:t>\par\vspace{5\baselineskip}</a:t>
            </a:r>
          </a:p>
          <a:p>
            <a:r>
              <a:t>```</a:t>
            </a:r>
          </a:p>
          <a:p>
            <a:endParaRPr/>
          </a:p>
          <a:p>
            <a:r>
              <a:t>### stylebaseを別に指定する機能</a:t>
            </a:r>
          </a:p>
          <a:p>
            <a:endParaRPr/>
          </a:p>
          <a:p>
            <a:r>
              <a:t>pptxファイルを結合する際、コンテンツとは別にスタイル情報のみ使用するファイルを別途指定する機能です。</a:t>
            </a:r>
          </a:p>
          <a:p>
            <a:endParaRPr/>
          </a:p>
          <a:p>
            <a:r>
              <a:t>サンプルフォルダ：　pm6_stylebase</a:t>
            </a:r>
          </a:p>
          <a:p>
            <a:endParaRPr/>
          </a:p>
          <a:p>
            <a:r>
              <a:t>[![サンプル：stylebaseを別に指定する機能](../../pm6_stylebase/build/figures/stylebase_guide_keyvisual.png/){ width=90% }](../../pm6_stylebase/README.md)</a:t>
            </a:r>
          </a:p>
          <a:p>
            <a:endParaRPr/>
          </a:p>
          <a:p>
            <a:endParaRPr/>
          </a:p>
          <a:p>
            <a:r>
              <a:t>```{=latex}</a:t>
            </a:r>
          </a:p>
          <a:p>
            <a:r>
              <a:t>\vfill</a:t>
            </a:r>
          </a:p>
          <a:p>
            <a:r>
              <a:t>\newpage</a:t>
            </a:r>
          </a:p>
          <a:p>
            <a:r>
              <a:t>```</a:t>
            </a:r>
          </a:p>
          <a:p>
            <a:endParaRPr/>
          </a:p>
          <a:p>
            <a:r>
              <a:t>### ファイルの分割挿入機能</a:t>
            </a:r>
          </a:p>
          <a:p>
            <a:endParaRPr/>
          </a:p>
          <a:p>
            <a:r>
              <a:t>ファイル全体ではなく一部を選択して結合する機能です。</a:t>
            </a:r>
          </a:p>
          <a:p>
            <a:endParaRPr/>
          </a:p>
          <a:p>
            <a:r>
              <a:t>サンプルフォルダ：　pm7_splitted_insertion</a:t>
            </a:r>
          </a:p>
          <a:p>
            <a:endParaRPr/>
          </a:p>
          <a:p>
            <a:r>
              <a:t>[![サンプル：ファイルの分割挿入機能](../../pm7_splitted_insertion/build/figures/splitted_insertion_guide_keyvisual.png/){ width=60% }](../../pm7_splitted_insertion/README.md)</a:t>
            </a:r>
          </a:p>
          <a:p>
            <a:endParaRPr/>
          </a:p>
          <a:p>
            <a:endParaRPr/>
          </a:p>
          <a:p>
            <a:r>
              <a:t>```{=latex}</a:t>
            </a:r>
          </a:p>
          <a:p>
            <a:r>
              <a:t>\par\vspace{5\baselineskip}</a:t>
            </a:r>
          </a:p>
          <a:p>
            <a:r>
              <a:t>```</a:t>
            </a:r>
          </a:p>
          <a:p>
            <a:endParaRPr/>
          </a:p>
          <a:p>
            <a:r>
              <a:t>### 指定したシェイプを消去</a:t>
            </a:r>
          </a:p>
          <a:p>
            <a:endParaRPr/>
          </a:p>
          <a:p>
            <a:r>
              <a:t>配付資料には載せたくないシェイプを特殊マーカーで自動消去する機能です。</a:t>
            </a:r>
          </a:p>
          <a:p>
            <a:endParaRPr/>
          </a:p>
          <a:p>
            <a:r>
              <a:t>サンプルフォルダ：　pm8_delete_csp</a:t>
            </a:r>
          </a:p>
          <a:p>
            <a:endParaRPr/>
          </a:p>
          <a:p>
            <a:r>
              <a:t>[![サンプル：指定したシェイプを消去](../../pm8_delete_csp/build/figures/delete_csp_guide_keyvisual.png/){ width=90% }](../../pm8_delete_csp/README.md)</a:t>
            </a:r>
          </a:p>
          <a:p>
            <a:endParaRPr/>
          </a:p>
          <a:p>
            <a:endParaRPr/>
          </a:p>
          <a:p>
            <a:r>
              <a:t>```{=latex}</a:t>
            </a:r>
          </a:p>
          <a:p>
            <a:r>
              <a:t>\vfill</a:t>
            </a:r>
          </a:p>
          <a:p>
            <a:r>
              <a:t>\newpage</a:t>
            </a:r>
          </a:p>
          <a:p>
            <a:r>
              <a:t>```</a:t>
            </a:r>
          </a:p>
          <a:p>
            <a:endParaRPr/>
          </a:p>
          <a:p>
            <a:r>
              <a:t>### 指定したスライドを削除</a:t>
            </a:r>
          </a:p>
          <a:p>
            <a:endParaRPr/>
          </a:p>
          <a:p>
            <a:r>
              <a:t>配付資料には載せたくないスライドを特殊マーカーで自動削除する機能です。</a:t>
            </a:r>
          </a:p>
          <a:p>
            <a:endParaRPr/>
          </a:p>
          <a:p>
            <a:r>
              <a:t>サンプルフォルダ：　pm9_delete_csl</a:t>
            </a:r>
          </a:p>
          <a:p>
            <a:endParaRPr/>
          </a:p>
          <a:p>
            <a:r>
              <a:t>[![サンプル：指定したスライドを削除](../../pm9_delete_csl/build/figures/delete_csl_guide_keyvisual.png/){ width=90% }](../../pm9_delete_csl/README.md)</a:t>
            </a:r>
          </a:p>
          <a:p>
            <a:endParaRPr/>
          </a:p>
          <a:p>
            <a:endParaRPr/>
          </a:p>
          <a:p>
            <a:r>
              <a:t>```{=latex}</a:t>
            </a:r>
          </a:p>
          <a:p>
            <a:r>
              <a:t>\par\vspace{5\baselineskip}</a:t>
            </a:r>
          </a:p>
          <a:p>
            <a:r>
              <a:t>```</a:t>
            </a:r>
          </a:p>
          <a:p>
            <a:endParaRPr/>
          </a:p>
          <a:p>
            <a:r>
              <a:t>### 作業用のメモを書く</a:t>
            </a:r>
          </a:p>
          <a:p>
            <a:endParaRPr/>
          </a:p>
          <a:p>
            <a:r>
              <a:t>原稿制作中の一時的メモなど、 「後で見直す部分に貼っておく付箋紙」 のような用途に使う機能です。</a:t>
            </a:r>
          </a:p>
          <a:p>
            <a:endParaRPr/>
          </a:p>
          <a:p>
            <a:r>
              <a:t>サンプルフォルダ：　pm10_memo_temp</a:t>
            </a:r>
          </a:p>
          <a:p>
            <a:endParaRPr/>
          </a:p>
          <a:p>
            <a:r>
              <a:t>[![サンプル：作業用のメモを書く](../../pm10_memo_temp/build/figures/memo_temp_guide_keyvisual.png/){ width=90% }](../../pm10_memo_temp/README.md)</a:t>
            </a:r>
          </a:p>
          <a:p>
            <a:endParaRPr/>
          </a:p>
          <a:p>
            <a:endParaRPr/>
          </a:p>
          <a:p>
            <a:r>
              <a:t>```{=latex}</a:t>
            </a:r>
          </a:p>
          <a:p>
            <a:r>
              <a:t>\vfill</a:t>
            </a:r>
          </a:p>
          <a:p>
            <a:r>
              <a:t>\newpage</a:t>
            </a:r>
          </a:p>
          <a:p>
            <a:r>
              <a:t>```</a:t>
            </a:r>
          </a:p>
          <a:p>
            <a:endParaRPr/>
          </a:p>
          <a:p>
            <a:r>
              <a:t>### 特殊定数を置換する</a:t>
            </a:r>
          </a:p>
          <a:p>
            <a:endParaRPr/>
          </a:p>
          <a:p>
            <a:r>
              <a:t>ソースpptxのファイル名やスライド番号、スライドタイトルに置換される特殊定数機能です。</a:t>
            </a:r>
          </a:p>
          <a:p>
            <a:endParaRPr/>
          </a:p>
          <a:p>
            <a:r>
              <a:t>サンプルフォルダ：　pm11_title_filename</a:t>
            </a:r>
          </a:p>
          <a:p>
            <a:endParaRPr/>
          </a:p>
          <a:p>
            <a:r>
              <a:t>[![サンプル：特殊定数を置換する](../../pm11_title_filename/build/figures/title_filename_guide_keyvisual.png/){ width=90% }](../../pm11_title_filename/README.md)</a:t>
            </a:r>
          </a:p>
          <a:p>
            <a:endParaRPr/>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21</a:t>
            </a:fld>
            <a:endParaRPr kumimoji="1" lang="ja-JP" altLang="en-US"/>
          </a:p>
        </p:txBody>
      </p:sp>
    </p:spTree>
    <p:extLst>
      <p:ext uri="{BB962C8B-B14F-4D97-AF65-F5344CB8AC3E}">
        <p14:creationId xmlns:p14="http://schemas.microsoft.com/office/powerpoint/2010/main" val="18856758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en-US" altLang="ja-JP" sz="4000"/>
              <a:t>PPT &amp; MD merger </a:t>
            </a:r>
            <a:r>
              <a:rPr lang="ja-JP" altLang="en-US" sz="4000"/>
              <a:t>とは？</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335843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1.1) PPT \&amp; MD merger とは？</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30" name="グループ化 29">
            <a:extLst>
              <a:ext uri="{FF2B5EF4-FFF2-40B4-BE49-F238E27FC236}">
                <a16:creationId xmlns:a16="http://schemas.microsoft.com/office/drawing/2014/main" id="{A40DD4C3-F02D-D384-326C-9365C52C729B}"/>
              </a:ext>
            </a:extLst>
          </p:cNvPr>
          <p:cNvGrpSpPr/>
          <p:nvPr/>
        </p:nvGrpSpPr>
        <p:grpSpPr>
          <a:xfrm>
            <a:off x="2303855" y="3076076"/>
            <a:ext cx="730509" cy="730509"/>
            <a:chOff x="3503712" y="3429000"/>
            <a:chExt cx="936104" cy="936104"/>
          </a:xfrm>
        </p:grpSpPr>
        <p:sp>
          <p:nvSpPr>
            <p:cNvPr id="31" name="正方形/長方形 30">
              <a:extLst>
                <a:ext uri="{FF2B5EF4-FFF2-40B4-BE49-F238E27FC236}">
                  <a16:creationId xmlns:a16="http://schemas.microsoft.com/office/drawing/2014/main" id="{33452CF4-2A28-35F8-F2FD-D9F88B0F2DF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1B1FDA7D-31B5-40D5-483D-7429B726599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5" name="グループ化 54">
            <a:extLst>
              <a:ext uri="{FF2B5EF4-FFF2-40B4-BE49-F238E27FC236}">
                <a16:creationId xmlns:a16="http://schemas.microsoft.com/office/drawing/2014/main" id="{881A365C-D9B8-05EE-B65D-A169D75EC842}"/>
              </a:ext>
            </a:extLst>
          </p:cNvPr>
          <p:cNvGrpSpPr/>
          <p:nvPr/>
        </p:nvGrpSpPr>
        <p:grpSpPr>
          <a:xfrm>
            <a:off x="2142112" y="2985120"/>
            <a:ext cx="730509" cy="730509"/>
            <a:chOff x="3503712" y="3429000"/>
            <a:chExt cx="936104" cy="936104"/>
          </a:xfrm>
        </p:grpSpPr>
        <p:sp>
          <p:nvSpPr>
            <p:cNvPr id="56" name="正方形/長方形 55">
              <a:extLst>
                <a:ext uri="{FF2B5EF4-FFF2-40B4-BE49-F238E27FC236}">
                  <a16:creationId xmlns:a16="http://schemas.microsoft.com/office/drawing/2014/main" id="{3AA147CD-5C56-875F-664B-BE8A0E92C9B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7" name="図 56">
              <a:extLst>
                <a:ext uri="{FF2B5EF4-FFF2-40B4-BE49-F238E27FC236}">
                  <a16:creationId xmlns:a16="http://schemas.microsoft.com/office/drawing/2014/main" id="{B58EFB1E-C9F1-2F9D-0669-859C00021C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8" name="グループ化 57">
            <a:extLst>
              <a:ext uri="{FF2B5EF4-FFF2-40B4-BE49-F238E27FC236}">
                <a16:creationId xmlns:a16="http://schemas.microsoft.com/office/drawing/2014/main" id="{0C37569A-38A0-5368-608A-B79E5DB81D2C}"/>
              </a:ext>
            </a:extLst>
          </p:cNvPr>
          <p:cNvGrpSpPr/>
          <p:nvPr/>
        </p:nvGrpSpPr>
        <p:grpSpPr>
          <a:xfrm>
            <a:off x="1980368" y="2894165"/>
            <a:ext cx="730509" cy="730509"/>
            <a:chOff x="3503712" y="3429000"/>
            <a:chExt cx="936104" cy="936104"/>
          </a:xfrm>
        </p:grpSpPr>
        <p:sp>
          <p:nvSpPr>
            <p:cNvPr id="59" name="正方形/長方形 58">
              <a:extLst>
                <a:ext uri="{FF2B5EF4-FFF2-40B4-BE49-F238E27FC236}">
                  <a16:creationId xmlns:a16="http://schemas.microsoft.com/office/drawing/2014/main" id="{4BF4D749-826D-6AD5-22B3-114247CCA9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0" name="図 59">
              <a:extLst>
                <a:ext uri="{FF2B5EF4-FFF2-40B4-BE49-F238E27FC236}">
                  <a16:creationId xmlns:a16="http://schemas.microsoft.com/office/drawing/2014/main" id="{B0152A4E-09CC-359A-3549-8D7DF72BD15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1" name="グループ化 60">
            <a:extLst>
              <a:ext uri="{FF2B5EF4-FFF2-40B4-BE49-F238E27FC236}">
                <a16:creationId xmlns:a16="http://schemas.microsoft.com/office/drawing/2014/main" id="{0495C077-43F8-7AA4-CA19-98F506F369EB}"/>
              </a:ext>
            </a:extLst>
          </p:cNvPr>
          <p:cNvGrpSpPr/>
          <p:nvPr/>
        </p:nvGrpSpPr>
        <p:grpSpPr>
          <a:xfrm>
            <a:off x="1818624" y="2803210"/>
            <a:ext cx="730509" cy="730509"/>
            <a:chOff x="3503712" y="3429000"/>
            <a:chExt cx="936104" cy="936104"/>
          </a:xfrm>
        </p:grpSpPr>
        <p:sp>
          <p:nvSpPr>
            <p:cNvPr id="62" name="正方形/長方形 61">
              <a:extLst>
                <a:ext uri="{FF2B5EF4-FFF2-40B4-BE49-F238E27FC236}">
                  <a16:creationId xmlns:a16="http://schemas.microsoft.com/office/drawing/2014/main" id="{C7748FB5-F691-53B4-41BE-314E1A692AF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3" name="図 62">
              <a:extLst>
                <a:ext uri="{FF2B5EF4-FFF2-40B4-BE49-F238E27FC236}">
                  <a16:creationId xmlns:a16="http://schemas.microsoft.com/office/drawing/2014/main" id="{D62CA6D0-6F7A-AF66-9F74-373239ED79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4" name="グループ化 63">
            <a:extLst>
              <a:ext uri="{FF2B5EF4-FFF2-40B4-BE49-F238E27FC236}">
                <a16:creationId xmlns:a16="http://schemas.microsoft.com/office/drawing/2014/main" id="{38D390B9-9E1B-6400-4D24-AA394BF871F0}"/>
              </a:ext>
            </a:extLst>
          </p:cNvPr>
          <p:cNvGrpSpPr/>
          <p:nvPr/>
        </p:nvGrpSpPr>
        <p:grpSpPr>
          <a:xfrm>
            <a:off x="1586797" y="3676635"/>
            <a:ext cx="730509" cy="730509"/>
            <a:chOff x="3503712" y="3429000"/>
            <a:chExt cx="936104" cy="936104"/>
          </a:xfrm>
        </p:grpSpPr>
        <p:sp>
          <p:nvSpPr>
            <p:cNvPr id="65" name="正方形/長方形 64">
              <a:extLst>
                <a:ext uri="{FF2B5EF4-FFF2-40B4-BE49-F238E27FC236}">
                  <a16:creationId xmlns:a16="http://schemas.microsoft.com/office/drawing/2014/main" id="{545385FD-760B-4171-E595-E9F91FB4C1B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6" name="図 65">
              <a:extLst>
                <a:ext uri="{FF2B5EF4-FFF2-40B4-BE49-F238E27FC236}">
                  <a16:creationId xmlns:a16="http://schemas.microsoft.com/office/drawing/2014/main" id="{8C9AE3D6-C45C-0A04-1DFF-9C35642088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7" name="グループ化 66">
            <a:extLst>
              <a:ext uri="{FF2B5EF4-FFF2-40B4-BE49-F238E27FC236}">
                <a16:creationId xmlns:a16="http://schemas.microsoft.com/office/drawing/2014/main" id="{0B1E8AFF-1107-D3D5-1985-60CADEB3E325}"/>
              </a:ext>
            </a:extLst>
          </p:cNvPr>
          <p:cNvGrpSpPr/>
          <p:nvPr/>
        </p:nvGrpSpPr>
        <p:grpSpPr>
          <a:xfrm>
            <a:off x="1425054" y="3585679"/>
            <a:ext cx="730509" cy="730509"/>
            <a:chOff x="3503712" y="3429000"/>
            <a:chExt cx="936104" cy="936104"/>
          </a:xfrm>
        </p:grpSpPr>
        <p:sp>
          <p:nvSpPr>
            <p:cNvPr id="68" name="正方形/長方形 67">
              <a:extLst>
                <a:ext uri="{FF2B5EF4-FFF2-40B4-BE49-F238E27FC236}">
                  <a16:creationId xmlns:a16="http://schemas.microsoft.com/office/drawing/2014/main" id="{A0A0AB9C-AF2D-B6E8-B6F8-B094001B37B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9" name="図 68">
              <a:extLst>
                <a:ext uri="{FF2B5EF4-FFF2-40B4-BE49-F238E27FC236}">
                  <a16:creationId xmlns:a16="http://schemas.microsoft.com/office/drawing/2014/main" id="{D6F21FF1-FEA6-A537-CA37-A63858591BF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0" name="グループ化 69">
            <a:extLst>
              <a:ext uri="{FF2B5EF4-FFF2-40B4-BE49-F238E27FC236}">
                <a16:creationId xmlns:a16="http://schemas.microsoft.com/office/drawing/2014/main" id="{0E09F27F-3F46-0F7A-282D-2C34B1619D9D}"/>
              </a:ext>
            </a:extLst>
          </p:cNvPr>
          <p:cNvGrpSpPr/>
          <p:nvPr/>
        </p:nvGrpSpPr>
        <p:grpSpPr>
          <a:xfrm>
            <a:off x="1263310" y="3494724"/>
            <a:ext cx="730509" cy="730509"/>
            <a:chOff x="3503712" y="3429000"/>
            <a:chExt cx="936104" cy="936104"/>
          </a:xfrm>
        </p:grpSpPr>
        <p:sp>
          <p:nvSpPr>
            <p:cNvPr id="71" name="正方形/長方形 70">
              <a:extLst>
                <a:ext uri="{FF2B5EF4-FFF2-40B4-BE49-F238E27FC236}">
                  <a16:creationId xmlns:a16="http://schemas.microsoft.com/office/drawing/2014/main" id="{7094F8A3-90F4-F0B7-0B4E-E0FA702B4E9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2" name="図 71">
              <a:extLst>
                <a:ext uri="{FF2B5EF4-FFF2-40B4-BE49-F238E27FC236}">
                  <a16:creationId xmlns:a16="http://schemas.microsoft.com/office/drawing/2014/main" id="{51EFBC36-76F8-8593-E2D8-F5C0B1B832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3" name="グループ化 72">
            <a:extLst>
              <a:ext uri="{FF2B5EF4-FFF2-40B4-BE49-F238E27FC236}">
                <a16:creationId xmlns:a16="http://schemas.microsoft.com/office/drawing/2014/main" id="{20B3B1D5-2FCF-BCE5-2F6F-92C44C747E3E}"/>
              </a:ext>
            </a:extLst>
          </p:cNvPr>
          <p:cNvGrpSpPr/>
          <p:nvPr/>
        </p:nvGrpSpPr>
        <p:grpSpPr>
          <a:xfrm>
            <a:off x="1101566" y="3403769"/>
            <a:ext cx="730509" cy="730509"/>
            <a:chOff x="3503712" y="3429000"/>
            <a:chExt cx="936104" cy="936104"/>
          </a:xfrm>
        </p:grpSpPr>
        <p:sp>
          <p:nvSpPr>
            <p:cNvPr id="74" name="正方形/長方形 73">
              <a:extLst>
                <a:ext uri="{FF2B5EF4-FFF2-40B4-BE49-F238E27FC236}">
                  <a16:creationId xmlns:a16="http://schemas.microsoft.com/office/drawing/2014/main" id="{2FB5C5DB-9BE5-F3A3-4487-604F78DBFBFF}"/>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5" name="図 74">
              <a:extLst>
                <a:ext uri="{FF2B5EF4-FFF2-40B4-BE49-F238E27FC236}">
                  <a16:creationId xmlns:a16="http://schemas.microsoft.com/office/drawing/2014/main" id="{0DEA84A5-2E5E-3E90-FBEB-0D1DC810D0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6" name="グループ化 75">
            <a:extLst>
              <a:ext uri="{FF2B5EF4-FFF2-40B4-BE49-F238E27FC236}">
                <a16:creationId xmlns:a16="http://schemas.microsoft.com/office/drawing/2014/main" id="{BCE9BB16-58F8-77BA-4CA6-A8A64FC9ED67}"/>
              </a:ext>
            </a:extLst>
          </p:cNvPr>
          <p:cNvGrpSpPr/>
          <p:nvPr/>
        </p:nvGrpSpPr>
        <p:grpSpPr>
          <a:xfrm>
            <a:off x="3073457" y="3642660"/>
            <a:ext cx="730509" cy="730509"/>
            <a:chOff x="3503712" y="3429000"/>
            <a:chExt cx="936104" cy="936104"/>
          </a:xfrm>
        </p:grpSpPr>
        <p:sp>
          <p:nvSpPr>
            <p:cNvPr id="77" name="正方形/長方形 76">
              <a:extLst>
                <a:ext uri="{FF2B5EF4-FFF2-40B4-BE49-F238E27FC236}">
                  <a16:creationId xmlns:a16="http://schemas.microsoft.com/office/drawing/2014/main" id="{8963EE09-7C44-225D-70EF-564FD82243C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8" name="図 77">
              <a:extLst>
                <a:ext uri="{FF2B5EF4-FFF2-40B4-BE49-F238E27FC236}">
                  <a16:creationId xmlns:a16="http://schemas.microsoft.com/office/drawing/2014/main" id="{93DC8650-9241-F661-162E-3FF8D33C789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9" name="グループ化 78">
            <a:extLst>
              <a:ext uri="{FF2B5EF4-FFF2-40B4-BE49-F238E27FC236}">
                <a16:creationId xmlns:a16="http://schemas.microsoft.com/office/drawing/2014/main" id="{250229CF-1C9A-07C9-C14E-ED34E5D530A3}"/>
              </a:ext>
            </a:extLst>
          </p:cNvPr>
          <p:cNvGrpSpPr/>
          <p:nvPr/>
        </p:nvGrpSpPr>
        <p:grpSpPr>
          <a:xfrm>
            <a:off x="2911714" y="3551704"/>
            <a:ext cx="730509" cy="730509"/>
            <a:chOff x="3503712" y="3429000"/>
            <a:chExt cx="936104" cy="936104"/>
          </a:xfrm>
        </p:grpSpPr>
        <p:sp>
          <p:nvSpPr>
            <p:cNvPr id="80" name="正方形/長方形 79">
              <a:extLst>
                <a:ext uri="{FF2B5EF4-FFF2-40B4-BE49-F238E27FC236}">
                  <a16:creationId xmlns:a16="http://schemas.microsoft.com/office/drawing/2014/main" id="{9F138A41-094F-13F3-B41C-2160F6F03FC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1" name="図 80">
              <a:extLst>
                <a:ext uri="{FF2B5EF4-FFF2-40B4-BE49-F238E27FC236}">
                  <a16:creationId xmlns:a16="http://schemas.microsoft.com/office/drawing/2014/main" id="{8521FAE8-543E-7A5D-0AA5-F7B7F58700C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2" name="グループ化 81">
            <a:extLst>
              <a:ext uri="{FF2B5EF4-FFF2-40B4-BE49-F238E27FC236}">
                <a16:creationId xmlns:a16="http://schemas.microsoft.com/office/drawing/2014/main" id="{7BAE078B-DE6B-DF8D-A0A3-8B593F7608EF}"/>
              </a:ext>
            </a:extLst>
          </p:cNvPr>
          <p:cNvGrpSpPr/>
          <p:nvPr/>
        </p:nvGrpSpPr>
        <p:grpSpPr>
          <a:xfrm>
            <a:off x="2749970" y="3460749"/>
            <a:ext cx="730509" cy="730509"/>
            <a:chOff x="3503712" y="3429000"/>
            <a:chExt cx="936104" cy="936104"/>
          </a:xfrm>
        </p:grpSpPr>
        <p:sp>
          <p:nvSpPr>
            <p:cNvPr id="83" name="正方形/長方形 82">
              <a:extLst>
                <a:ext uri="{FF2B5EF4-FFF2-40B4-BE49-F238E27FC236}">
                  <a16:creationId xmlns:a16="http://schemas.microsoft.com/office/drawing/2014/main" id="{F2114F41-C17E-D227-8B75-FBF98E6B433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4" name="図 83">
              <a:extLst>
                <a:ext uri="{FF2B5EF4-FFF2-40B4-BE49-F238E27FC236}">
                  <a16:creationId xmlns:a16="http://schemas.microsoft.com/office/drawing/2014/main" id="{A4A5556C-2697-6A58-38E2-4A4E5403967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5" name="グループ化 84">
            <a:extLst>
              <a:ext uri="{FF2B5EF4-FFF2-40B4-BE49-F238E27FC236}">
                <a16:creationId xmlns:a16="http://schemas.microsoft.com/office/drawing/2014/main" id="{EFF408AD-ED66-3057-E55B-86504FB9DE91}"/>
              </a:ext>
            </a:extLst>
          </p:cNvPr>
          <p:cNvGrpSpPr/>
          <p:nvPr/>
        </p:nvGrpSpPr>
        <p:grpSpPr>
          <a:xfrm>
            <a:off x="2588226" y="3369794"/>
            <a:ext cx="730509" cy="730509"/>
            <a:chOff x="3503712" y="3429000"/>
            <a:chExt cx="936104" cy="936104"/>
          </a:xfrm>
        </p:grpSpPr>
        <p:sp>
          <p:nvSpPr>
            <p:cNvPr id="86" name="正方形/長方形 85">
              <a:extLst>
                <a:ext uri="{FF2B5EF4-FFF2-40B4-BE49-F238E27FC236}">
                  <a16:creationId xmlns:a16="http://schemas.microsoft.com/office/drawing/2014/main" id="{39046A1F-7F61-F5F7-7EE5-F2F2F979B853}"/>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7" name="図 86">
              <a:extLst>
                <a:ext uri="{FF2B5EF4-FFF2-40B4-BE49-F238E27FC236}">
                  <a16:creationId xmlns:a16="http://schemas.microsoft.com/office/drawing/2014/main" id="{39D48075-A7C2-F468-3D23-FF408D32EE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88" name="テキスト ボックス 87">
            <a:extLst>
              <a:ext uri="{FF2B5EF4-FFF2-40B4-BE49-F238E27FC236}">
                <a16:creationId xmlns:a16="http://schemas.microsoft.com/office/drawing/2014/main" id="{C0D59CA0-7061-5D62-C404-21AE39F522BF}"/>
              </a:ext>
            </a:extLst>
          </p:cNvPr>
          <p:cNvSpPr txBox="1"/>
          <p:nvPr/>
        </p:nvSpPr>
        <p:spPr bwMode="auto">
          <a:xfrm>
            <a:off x="750411" y="2321364"/>
            <a:ext cx="328363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多くの </a:t>
            </a:r>
            <a:r>
              <a:rPr lang="en-US" altLang="ja-JP" kern="0">
                <a:latin typeface="BIZ UDPゴシック" panose="020B0400000000000000" pitchFamily="50" charset="-128"/>
                <a:ea typeface="BIZ UDPゴシック" panose="020B0400000000000000" pitchFamily="50" charset="-128"/>
              </a:rPr>
              <a:t>pptx </a:t>
            </a:r>
            <a:r>
              <a:rPr lang="ja-JP" altLang="en-US" kern="0">
                <a:latin typeface="BIZ UDPゴシック" panose="020B0400000000000000" pitchFamily="50" charset="-128"/>
                <a:ea typeface="BIZ UDPゴシック" panose="020B0400000000000000" pitchFamily="50" charset="-128"/>
              </a:rPr>
              <a:t>文書部品</a:t>
            </a:r>
            <a:endParaRPr kumimoji="1" lang="en-US" altLang="ja-JP" kern="0">
              <a:latin typeface="BIZ UDPゴシック" panose="020B0400000000000000" pitchFamily="50" charset="-128"/>
              <a:ea typeface="BIZ UDPゴシック" panose="020B0400000000000000" pitchFamily="50" charset="-128"/>
            </a:endParaRPr>
          </a:p>
        </p:txBody>
      </p:sp>
      <p:sp>
        <p:nvSpPr>
          <p:cNvPr id="89" name="四角形: 角を丸くする 88">
            <a:extLst>
              <a:ext uri="{FF2B5EF4-FFF2-40B4-BE49-F238E27FC236}">
                <a16:creationId xmlns:a16="http://schemas.microsoft.com/office/drawing/2014/main" id="{438EA313-2A78-3B49-7BFE-21D258E84417}"/>
              </a:ext>
            </a:extLst>
          </p:cNvPr>
          <p:cNvSpPr/>
          <p:nvPr/>
        </p:nvSpPr>
        <p:spPr bwMode="auto">
          <a:xfrm>
            <a:off x="5147523" y="3351163"/>
            <a:ext cx="1925529" cy="582994"/>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結合・変換</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0" name="正方形/長方形 89">
            <a:extLst>
              <a:ext uri="{FF2B5EF4-FFF2-40B4-BE49-F238E27FC236}">
                <a16:creationId xmlns:a16="http://schemas.microsoft.com/office/drawing/2014/main" id="{329AC397-0A2B-84D4-456D-9ABFA5231507}"/>
              </a:ext>
            </a:extLst>
          </p:cNvPr>
          <p:cNvSpPr/>
          <p:nvPr/>
        </p:nvSpPr>
        <p:spPr bwMode="auto">
          <a:xfrm>
            <a:off x="5147523" y="2405394"/>
            <a:ext cx="1925529" cy="53210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構成指示書</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1" name="テキスト ボックス 90">
            <a:extLst>
              <a:ext uri="{FF2B5EF4-FFF2-40B4-BE49-F238E27FC236}">
                <a16:creationId xmlns:a16="http://schemas.microsoft.com/office/drawing/2014/main" id="{4DC0F981-26FE-EEA1-13BC-2A5FEE372DFF}"/>
              </a:ext>
            </a:extLst>
          </p:cNvPr>
          <p:cNvSpPr txBox="1"/>
          <p:nvPr/>
        </p:nvSpPr>
        <p:spPr bwMode="auto">
          <a:xfrm>
            <a:off x="8551778" y="2237392"/>
            <a:ext cx="246704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多様な文書形式</a:t>
            </a:r>
            <a:endParaRPr kumimoji="1" lang="en-US" altLang="ja-JP" kern="0">
              <a:latin typeface="BIZ UDPゴシック" panose="020B0400000000000000" pitchFamily="50" charset="-128"/>
              <a:ea typeface="BIZ UDPゴシック" panose="020B0400000000000000" pitchFamily="50" charset="-128"/>
            </a:endParaRPr>
          </a:p>
        </p:txBody>
      </p:sp>
      <p:sp>
        <p:nvSpPr>
          <p:cNvPr id="92" name="四角形: 角を丸くする 91">
            <a:extLst>
              <a:ext uri="{FF2B5EF4-FFF2-40B4-BE49-F238E27FC236}">
                <a16:creationId xmlns:a16="http://schemas.microsoft.com/office/drawing/2014/main" id="{15BBA582-C202-A665-A1B9-6F95C478E055}"/>
              </a:ext>
            </a:extLst>
          </p:cNvPr>
          <p:cNvSpPr/>
          <p:nvPr/>
        </p:nvSpPr>
        <p:spPr bwMode="auto">
          <a:xfrm>
            <a:off x="8835875" y="2676772"/>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3" name="四角形: 角を丸くする 92">
            <a:extLst>
              <a:ext uri="{FF2B5EF4-FFF2-40B4-BE49-F238E27FC236}">
                <a16:creationId xmlns:a16="http://schemas.microsoft.com/office/drawing/2014/main" id="{524A113C-3991-6D80-E3C0-464E1A8BBBBA}"/>
              </a:ext>
            </a:extLst>
          </p:cNvPr>
          <p:cNvSpPr/>
          <p:nvPr/>
        </p:nvSpPr>
        <p:spPr bwMode="auto">
          <a:xfrm>
            <a:off x="8835875" y="3180455"/>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4" name="四角形: 角を丸くする 93">
            <a:extLst>
              <a:ext uri="{FF2B5EF4-FFF2-40B4-BE49-F238E27FC236}">
                <a16:creationId xmlns:a16="http://schemas.microsoft.com/office/drawing/2014/main" id="{8E336233-E77B-6A58-52FB-342BA4F7CFC5}"/>
              </a:ext>
            </a:extLst>
          </p:cNvPr>
          <p:cNvSpPr/>
          <p:nvPr/>
        </p:nvSpPr>
        <p:spPr bwMode="auto">
          <a:xfrm>
            <a:off x="8835875" y="3684138"/>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5" name="四角形: 角を丸くする 94">
            <a:extLst>
              <a:ext uri="{FF2B5EF4-FFF2-40B4-BE49-F238E27FC236}">
                <a16:creationId xmlns:a16="http://schemas.microsoft.com/office/drawing/2014/main" id="{3C690EB8-C3E7-D5A3-3DAF-9738CD22BE85}"/>
              </a:ext>
            </a:extLst>
          </p:cNvPr>
          <p:cNvSpPr/>
          <p:nvPr/>
        </p:nvSpPr>
        <p:spPr bwMode="auto">
          <a:xfrm>
            <a:off x="8835875" y="4187821"/>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6" name="左中かっこ 95">
            <a:extLst>
              <a:ext uri="{FF2B5EF4-FFF2-40B4-BE49-F238E27FC236}">
                <a16:creationId xmlns:a16="http://schemas.microsoft.com/office/drawing/2014/main" id="{FF155FE9-71F8-8A0D-BF42-321BEB10F4C4}"/>
              </a:ext>
            </a:extLst>
          </p:cNvPr>
          <p:cNvSpPr/>
          <p:nvPr/>
        </p:nvSpPr>
        <p:spPr bwMode="auto">
          <a:xfrm>
            <a:off x="8112224" y="2685966"/>
            <a:ext cx="486721" cy="1913388"/>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97" name="左中かっこ 96">
            <a:extLst>
              <a:ext uri="{FF2B5EF4-FFF2-40B4-BE49-F238E27FC236}">
                <a16:creationId xmlns:a16="http://schemas.microsoft.com/office/drawing/2014/main" id="{D4E6B443-B517-0131-4EE7-1B39CC6874BC}"/>
              </a:ext>
            </a:extLst>
          </p:cNvPr>
          <p:cNvSpPr/>
          <p:nvPr/>
        </p:nvSpPr>
        <p:spPr bwMode="auto">
          <a:xfrm flipH="1">
            <a:off x="3892026" y="2772938"/>
            <a:ext cx="486721" cy="1739444"/>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99" name="直線矢印コネクタ 98">
            <a:extLst>
              <a:ext uri="{FF2B5EF4-FFF2-40B4-BE49-F238E27FC236}">
                <a16:creationId xmlns:a16="http://schemas.microsoft.com/office/drawing/2014/main" id="{FF0C7496-600E-670A-643A-6D7448B3D84A}"/>
              </a:ext>
            </a:extLst>
          </p:cNvPr>
          <p:cNvCxnSpPr>
            <a:endCxn id="89" idx="1"/>
          </p:cNvCxnSpPr>
          <p:nvPr/>
        </p:nvCxnSpPr>
        <p:spPr bwMode="auto">
          <a:xfrm>
            <a:off x="4250070" y="3642660"/>
            <a:ext cx="8974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0" name="直線矢印コネクタ 99">
            <a:extLst>
              <a:ext uri="{FF2B5EF4-FFF2-40B4-BE49-F238E27FC236}">
                <a16:creationId xmlns:a16="http://schemas.microsoft.com/office/drawing/2014/main" id="{E5B88F4A-D713-1627-FDFA-119BE9379EF4}"/>
              </a:ext>
            </a:extLst>
          </p:cNvPr>
          <p:cNvCxnSpPr>
            <a:cxnSpLocks/>
            <a:stCxn id="89" idx="3"/>
            <a:endCxn id="96" idx="1"/>
          </p:cNvCxnSpPr>
          <p:nvPr/>
        </p:nvCxnSpPr>
        <p:spPr bwMode="auto">
          <a:xfrm>
            <a:off x="7073052" y="3642660"/>
            <a:ext cx="1039172"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3" name="直線矢印コネクタ 102">
            <a:extLst>
              <a:ext uri="{FF2B5EF4-FFF2-40B4-BE49-F238E27FC236}">
                <a16:creationId xmlns:a16="http://schemas.microsoft.com/office/drawing/2014/main" id="{8DFAA764-86AA-E4DC-00DC-9FC1616CDAAD}"/>
              </a:ext>
            </a:extLst>
          </p:cNvPr>
          <p:cNvCxnSpPr>
            <a:cxnSpLocks/>
            <a:stCxn id="90" idx="2"/>
            <a:endCxn id="89" idx="0"/>
          </p:cNvCxnSpPr>
          <p:nvPr/>
        </p:nvCxnSpPr>
        <p:spPr bwMode="auto">
          <a:xfrm>
            <a:off x="6110288" y="2937498"/>
            <a:ext cx="0" cy="413665"/>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107" name="テキスト ボックス 106">
            <a:extLst>
              <a:ext uri="{FF2B5EF4-FFF2-40B4-BE49-F238E27FC236}">
                <a16:creationId xmlns:a16="http://schemas.microsoft.com/office/drawing/2014/main" id="{FD86D99C-BBD4-F288-C62B-EB85EC7B1E17}"/>
              </a:ext>
            </a:extLst>
          </p:cNvPr>
          <p:cNvSpPr txBox="1"/>
          <p:nvPr/>
        </p:nvSpPr>
        <p:spPr bwMode="auto">
          <a:xfrm>
            <a:off x="1243649" y="1677886"/>
            <a:ext cx="98166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en-US" altLang="ja-JP" sz="2400" kern="0">
                <a:latin typeface="BIZ UDPゴシック" panose="020B0400000000000000" pitchFamily="50" charset="-128"/>
                <a:ea typeface="BIZ UDPゴシック" panose="020B0400000000000000" pitchFamily="50" charset="-128"/>
              </a:rPr>
              <a:t>pptx</a:t>
            </a:r>
            <a:r>
              <a:rPr lang="ja-JP" altLang="en-US" sz="2400" kern="0">
                <a:latin typeface="BIZ UDPゴシック" panose="020B0400000000000000" pitchFamily="50" charset="-128"/>
                <a:ea typeface="BIZ UDPゴシック" panose="020B0400000000000000" pitchFamily="50" charset="-128"/>
              </a:rPr>
              <a:t>を文書部品にして、多様な形式の文書を生成するジェネレーター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8" name="テキスト ボックス 107">
            <a:extLst>
              <a:ext uri="{FF2B5EF4-FFF2-40B4-BE49-F238E27FC236}">
                <a16:creationId xmlns:a16="http://schemas.microsoft.com/office/drawing/2014/main" id="{4B16E6D0-3412-D8AE-EDE2-1DFC810FB83F}"/>
              </a:ext>
            </a:extLst>
          </p:cNvPr>
          <p:cNvSpPr txBox="1"/>
          <p:nvPr/>
        </p:nvSpPr>
        <p:spPr bwMode="auto">
          <a:xfrm>
            <a:off x="4944472" y="3931631"/>
            <a:ext cx="2551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600" kern="0">
                <a:latin typeface="BIZ UDPゴシック" panose="020B0400000000000000" pitchFamily="50" charset="-128"/>
                <a:ea typeface="BIZ UDPゴシック" panose="020B0400000000000000" pitchFamily="50" charset="-128"/>
              </a:rPr>
              <a:t>Python, PowerPoint</a:t>
            </a:r>
            <a:endParaRPr kumimoji="1" lang="ja-JP" altLang="en-US" sz="16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8754" y="969071"/>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1018473"/>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26305"/>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4" name="テキスト ボックス 3">
            <a:extLst>
              <a:ext uri="{FF2B5EF4-FFF2-40B4-BE49-F238E27FC236}">
                <a16:creationId xmlns:a16="http://schemas.microsoft.com/office/drawing/2014/main" id="{0B16BCA2-E43E-1748-5BC6-7394AB4EC0D8}"/>
              </a:ext>
            </a:extLst>
          </p:cNvPr>
          <p:cNvSpPr txBox="1"/>
          <p:nvPr/>
        </p:nvSpPr>
        <p:spPr bwMode="auto">
          <a:xfrm>
            <a:off x="1217255" y="5272882"/>
            <a:ext cx="36342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何はともあれ使ってみたいなら　　</a:t>
            </a:r>
          </a:p>
        </p:txBody>
      </p:sp>
      <p:sp>
        <p:nvSpPr>
          <p:cNvPr id="8" name="テキスト ボックス 7">
            <a:extLst>
              <a:ext uri="{FF2B5EF4-FFF2-40B4-BE49-F238E27FC236}">
                <a16:creationId xmlns:a16="http://schemas.microsoft.com/office/drawing/2014/main" id="{EAD62757-9E7D-BA58-0794-9ACAD3FB8B76}"/>
              </a:ext>
            </a:extLst>
          </p:cNvPr>
          <p:cNvSpPr txBox="1"/>
          <p:nvPr/>
        </p:nvSpPr>
        <p:spPr bwMode="auto">
          <a:xfrm>
            <a:off x="6528048" y="5257493"/>
            <a:ext cx="47042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ja-JP" sz="1800" kern="0">
                <a:latin typeface="BIZ UDPゴシック" panose="020B0400000000000000" pitchFamily="50" charset="-128"/>
                <a:ea typeface="BIZ UDPゴシック" panose="020B0400000000000000" pitchFamily="50" charset="-128"/>
              </a:rPr>
              <a:t>5) Requirements &amp; Quick Start</a:t>
            </a:r>
            <a:endParaRPr lang="ja-JP" altLang="en-US" sz="1800"/>
          </a:p>
        </p:txBody>
      </p:sp>
      <p:cxnSp>
        <p:nvCxnSpPr>
          <p:cNvPr id="10" name="直線矢印コネクタ 9">
            <a:extLst>
              <a:ext uri="{FF2B5EF4-FFF2-40B4-BE49-F238E27FC236}">
                <a16:creationId xmlns:a16="http://schemas.microsoft.com/office/drawing/2014/main" id="{849C945A-3A57-1503-15CE-612B5DB6840C}"/>
              </a:ext>
            </a:extLst>
          </p:cNvPr>
          <p:cNvCxnSpPr>
            <a:cxnSpLocks/>
          </p:cNvCxnSpPr>
          <p:nvPr/>
        </p:nvCxnSpPr>
        <p:spPr bwMode="auto">
          <a:xfrm>
            <a:off x="4851472" y="5445224"/>
            <a:ext cx="1528186"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2" name="テキスト ボックス 11">
            <a:extLst>
              <a:ext uri="{FF2B5EF4-FFF2-40B4-BE49-F238E27FC236}">
                <a16:creationId xmlns:a16="http://schemas.microsoft.com/office/drawing/2014/main" id="{5784CF47-FDC7-14ED-D75C-869E96CA9142}"/>
              </a:ext>
            </a:extLst>
          </p:cNvPr>
          <p:cNvSpPr txBox="1"/>
          <p:nvPr/>
        </p:nvSpPr>
        <p:spPr bwMode="auto">
          <a:xfrm>
            <a:off x="1217255" y="5943763"/>
            <a:ext cx="401464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コンセプトからじっくり知りたいなら</a:t>
            </a:r>
          </a:p>
        </p:txBody>
      </p:sp>
      <p:sp>
        <p:nvSpPr>
          <p:cNvPr id="13" name="テキスト ボックス 12">
            <a:extLst>
              <a:ext uri="{FF2B5EF4-FFF2-40B4-BE49-F238E27FC236}">
                <a16:creationId xmlns:a16="http://schemas.microsoft.com/office/drawing/2014/main" id="{9A4AF289-B96D-FB77-26D0-FEE022898B28}"/>
              </a:ext>
            </a:extLst>
          </p:cNvPr>
          <p:cNvSpPr txBox="1"/>
          <p:nvPr/>
        </p:nvSpPr>
        <p:spPr bwMode="auto">
          <a:xfrm>
            <a:off x="6575344" y="5805264"/>
            <a:ext cx="439940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271463" indent="-271463"/>
            <a:r>
              <a:rPr lang="en-US" altLang="ja-JP" sz="1800" kern="0">
                <a:latin typeface="BIZ UDPゴシック" panose="020B0400000000000000" pitchFamily="50" charset="-128"/>
                <a:ea typeface="BIZ UDPゴシック" panose="020B0400000000000000" pitchFamily="50" charset="-128"/>
              </a:rPr>
              <a:t>2) </a:t>
            </a:r>
            <a:r>
              <a:rPr lang="ja-JP" altLang="en-US" sz="1800" kern="0">
                <a:latin typeface="BIZ UDPゴシック" panose="020B0400000000000000" pitchFamily="50" charset="-128"/>
                <a:ea typeface="BIZ UDPゴシック" panose="020B0400000000000000" pitchFamily="50" charset="-128"/>
              </a:rPr>
              <a:t>大きな </a:t>
            </a:r>
            <a:r>
              <a:rPr lang="en-US" altLang="ja-JP" sz="1800" kern="0">
                <a:latin typeface="BIZ UDPゴシック" panose="020B0400000000000000" pitchFamily="50" charset="-128"/>
                <a:ea typeface="BIZ UDPゴシック" panose="020B0400000000000000" pitchFamily="50" charset="-128"/>
              </a:rPr>
              <a:t>PowerPoint</a:t>
            </a:r>
            <a:r>
              <a:rPr lang="ja-JP" altLang="en-US" sz="1800" kern="0">
                <a:latin typeface="BIZ UDPゴシック" panose="020B0400000000000000" pitchFamily="50" charset="-128"/>
                <a:ea typeface="BIZ UDPゴシック" panose="020B0400000000000000" pitchFamily="50" charset="-128"/>
              </a:rPr>
              <a:t>ファイ ルを作る時の悩みとは？</a:t>
            </a:r>
            <a:endParaRPr lang="ja-JP" altLang="en-US" sz="1800"/>
          </a:p>
        </p:txBody>
      </p:sp>
      <p:cxnSp>
        <p:nvCxnSpPr>
          <p:cNvPr id="14" name="直線矢印コネクタ 13">
            <a:extLst>
              <a:ext uri="{FF2B5EF4-FFF2-40B4-BE49-F238E27FC236}">
                <a16:creationId xmlns:a16="http://schemas.microsoft.com/office/drawing/2014/main" id="{20089464-4E74-4516-91F6-CD8D148AFDC3}"/>
              </a:ext>
            </a:extLst>
          </p:cNvPr>
          <p:cNvCxnSpPr>
            <a:cxnSpLocks/>
          </p:cNvCxnSpPr>
          <p:nvPr/>
        </p:nvCxnSpPr>
        <p:spPr bwMode="auto">
          <a:xfrm>
            <a:off x="5639186" y="6128429"/>
            <a:ext cx="74047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4FBFD75A-EA27-5554-74F1-D3315462369E}"/>
              </a:ext>
            </a:extLst>
          </p:cNvPr>
          <p:cNvSpPr txBox="1"/>
          <p:nvPr/>
        </p:nvSpPr>
        <p:spPr bwMode="auto">
          <a:xfrm>
            <a:off x="3034363" y="6585685"/>
            <a:ext cx="18352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200" kern="0">
                <a:latin typeface="BIZ UDPゴシック" panose="020B0400000000000000" pitchFamily="50" charset="-128"/>
                <a:ea typeface="BIZ UDPゴシック" panose="020B0400000000000000" pitchFamily="50" charset="-128"/>
              </a:rPr>
              <a:t>#NONUMBERING</a:t>
            </a:r>
            <a:endParaRPr kumimoji="1" lang="ja-JP" altLang="en-US" sz="1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694291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ja-JP" altLang="en-US" sz="4000"/>
              <a:t>大きな</a:t>
            </a:r>
            <a:r>
              <a:rPr lang="en-US" altLang="ja-JP" sz="4000"/>
              <a:t>PowerPoint</a:t>
            </a:r>
            <a:r>
              <a:rPr lang="ja-JP" altLang="en-US" sz="4000"/>
              <a:t>ファイルを作る時の悩みとは？</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9599531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2.1) どんな人のためのツール？</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4335808" y="1670363"/>
            <a:ext cx="652219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研修用テキストや業務マニュアルなど、</a:t>
            </a:r>
            <a:endParaRPr lang="en-US" altLang="ja-JP" sz="2400" kern="0">
              <a:latin typeface="BIZ UDPゴシック" panose="020B0400000000000000" pitchFamily="50" charset="-128"/>
              <a:ea typeface="BIZ UDPゴシック" panose="020B0400000000000000" pitchFamily="50" charset="-128"/>
            </a:endParaRPr>
          </a:p>
          <a:p>
            <a:r>
              <a:rPr lang="ja-JP" altLang="en-US" sz="2400" kern="0">
                <a:latin typeface="BIZ UDPゴシック" panose="020B0400000000000000" pitchFamily="50" charset="-128"/>
                <a:ea typeface="BIZ UDPゴシック" panose="020B0400000000000000" pitchFamily="50" charset="-128"/>
              </a:rPr>
              <a:t>「仕事を教える、手順を決める」ための資料を </a:t>
            </a:r>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で大量に作る企業</a:t>
            </a:r>
            <a:r>
              <a:rPr kumimoji="1" lang="en-US" altLang="ja-JP" sz="2400" kern="0">
                <a:latin typeface="BIZ UDPゴシック" panose="020B0400000000000000" pitchFamily="50" charset="-128"/>
                <a:ea typeface="BIZ UDPゴシック" panose="020B0400000000000000" pitchFamily="50" charset="-128"/>
              </a:rPr>
              <a:t>/</a:t>
            </a:r>
            <a:r>
              <a:rPr kumimoji="1" lang="ja-JP" altLang="en-US" sz="2400" kern="0">
                <a:latin typeface="BIZ UDPゴシック" panose="020B0400000000000000" pitchFamily="50" charset="-128"/>
                <a:ea typeface="BIZ UDPゴシック" panose="020B0400000000000000" pitchFamily="50" charset="-128"/>
              </a:rPr>
              <a:t>個人</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4FD37B7E-3E43-0EE4-BA9C-AC1B09B3C429}"/>
              </a:ext>
            </a:extLst>
          </p:cNvPr>
          <p:cNvSpPr txBox="1"/>
          <p:nvPr/>
        </p:nvSpPr>
        <p:spPr bwMode="auto">
          <a:xfrm>
            <a:off x="1095320" y="1693861"/>
            <a:ext cx="2984456" cy="1200329"/>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想定ユーザー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978A0BE0-ED0E-EE00-58D7-691137FDC49D}"/>
              </a:ext>
            </a:extLst>
          </p:cNvPr>
          <p:cNvSpPr txBox="1"/>
          <p:nvPr/>
        </p:nvSpPr>
        <p:spPr bwMode="auto">
          <a:xfrm>
            <a:off x="1067336" y="3053938"/>
            <a:ext cx="3012439" cy="3255381"/>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どんな問題を</a:t>
            </a:r>
            <a:endParaRPr lang="en-US" altLang="ja-JP" sz="2400" kern="0">
              <a:latin typeface="BIZ UDPゴシック" panose="020B0400000000000000" pitchFamily="50" charset="-128"/>
              <a:ea typeface="BIZ UDPゴシック" panose="020B0400000000000000" pitchFamily="50" charset="-128"/>
            </a:endParaRPr>
          </a:p>
          <a:p>
            <a:pPr algn="ctr"/>
            <a:r>
              <a:rPr lang="ja-JP" altLang="en-US" sz="2400" kern="0">
                <a:latin typeface="BIZ UDPゴシック" panose="020B0400000000000000" pitchFamily="50" charset="-128"/>
                <a:ea typeface="BIZ UDPゴシック" panose="020B0400000000000000" pitchFamily="50" charset="-128"/>
              </a:rPr>
              <a:t>解決する？</a:t>
            </a:r>
            <a:endParaRPr kumimoji="1" lang="en-US" altLang="ja-JP" sz="24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754" y="950315"/>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999717"/>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07549"/>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6" name="テキスト ボックス 5">
            <a:extLst>
              <a:ext uri="{FF2B5EF4-FFF2-40B4-BE49-F238E27FC236}">
                <a16:creationId xmlns:a16="http://schemas.microsoft.com/office/drawing/2014/main" id="{4CE9C490-8B7C-B293-0C09-73885509D777}"/>
              </a:ext>
            </a:extLst>
          </p:cNvPr>
          <p:cNvSpPr txBox="1"/>
          <p:nvPr/>
        </p:nvSpPr>
        <p:spPr bwMode="auto">
          <a:xfrm>
            <a:off x="4335808" y="3111967"/>
            <a:ext cx="6522198"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spcAft>
                <a:spcPts val="1200"/>
              </a:spcAft>
              <a:buFont typeface="Arial" panose="020B0604020202020204" pitchFamily="34" charset="0"/>
              <a:buChar char="•"/>
            </a:pPr>
            <a:r>
              <a:rPr lang="ja-JP" altLang="en-US" sz="2400" kern="0">
                <a:latin typeface="BIZ UDPゴシック" panose="020B0400000000000000" pitchFamily="50" charset="-128"/>
                <a:ea typeface="BIZ UDPゴシック" panose="020B0400000000000000" pitchFamily="50" charset="-128"/>
              </a:rPr>
              <a:t>Ａ社向け、Ｂ社向け、Ｃ社向け・・・・文書のバリエーションが増えすぎて収拾が付かない！</a:t>
            </a:r>
            <a:endParaRPr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長い</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に章・節番号をつけるのが面倒くさい！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講師用と受講者用の</a:t>
            </a:r>
            <a:r>
              <a:rPr kumimoji="1" lang="en-US" altLang="ja-JP" sz="2400" kern="0">
                <a:latin typeface="BIZ UDPゴシック" panose="020B0400000000000000" pitchFamily="50" charset="-128"/>
                <a:ea typeface="BIZ UDPゴシック" panose="020B0400000000000000" pitchFamily="50" charset="-128"/>
              </a:rPr>
              <a:t>2</a:t>
            </a:r>
            <a:r>
              <a:rPr kumimoji="1" lang="ja-JP" altLang="en-US" sz="2400" kern="0">
                <a:latin typeface="BIZ UDPゴシック" panose="020B0400000000000000" pitchFamily="50" charset="-128"/>
                <a:ea typeface="BIZ UDPゴシック" panose="020B0400000000000000" pitchFamily="50" charset="-128"/>
              </a:rPr>
              <a:t>種類を作らなきゃいけないのが面倒くさい！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印刷すると読みづらくなってしまう！</a:t>
            </a:r>
            <a:endParaRPr kumimoji="1" lang="en-US" altLang="ja-JP" sz="2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948102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3601C1-4EFE-D36E-4A7E-88ABCA2B50D9}"/>
              </a:ext>
            </a:extLst>
          </p:cNvPr>
          <p:cNvSpPr/>
          <p:nvPr/>
        </p:nvSpPr>
        <p:spPr bwMode="auto">
          <a:xfrm>
            <a:off x="767408" y="1124744"/>
            <a:ext cx="10122044"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2.2) 悩み１： ちょっとずつ違うPowerPointのコピーが増殖</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で企業研修用のテキストを作る時によくある悩み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055440"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p>
        </p:txBody>
      </p:sp>
      <p:grpSp>
        <p:nvGrpSpPr>
          <p:cNvPr id="26" name="グループ化 25">
            <a:extLst>
              <a:ext uri="{FF2B5EF4-FFF2-40B4-BE49-F238E27FC236}">
                <a16:creationId xmlns:a16="http://schemas.microsoft.com/office/drawing/2014/main" id="{DEA8CDBB-355A-4570-C728-3C019CD67D34}"/>
              </a:ext>
            </a:extLst>
          </p:cNvPr>
          <p:cNvGrpSpPr/>
          <p:nvPr/>
        </p:nvGrpSpPr>
        <p:grpSpPr>
          <a:xfrm>
            <a:off x="1385266" y="2479955"/>
            <a:ext cx="936104" cy="936104"/>
            <a:chOff x="3503712" y="3429000"/>
            <a:chExt cx="936104" cy="936104"/>
          </a:xfrm>
        </p:grpSpPr>
        <p:sp>
          <p:nvSpPr>
            <p:cNvPr id="15" name="正方形/長方形 14">
              <a:extLst>
                <a:ext uri="{FF2B5EF4-FFF2-40B4-BE49-F238E27FC236}">
                  <a16:creationId xmlns:a16="http://schemas.microsoft.com/office/drawing/2014/main" id="{F1BFEC84-EF24-0EA8-73FD-CAA0536D4B7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1" name="図 10">
              <a:extLst>
                <a:ext uri="{FF2B5EF4-FFF2-40B4-BE49-F238E27FC236}">
                  <a16:creationId xmlns:a16="http://schemas.microsoft.com/office/drawing/2014/main" id="{F9C6AAAD-35B5-CA1B-9510-25B154CC94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2" name="テキスト ボックス 31">
            <a:extLst>
              <a:ext uri="{FF2B5EF4-FFF2-40B4-BE49-F238E27FC236}">
                <a16:creationId xmlns:a16="http://schemas.microsoft.com/office/drawing/2014/main" id="{9C2702E1-69DA-6875-965B-73357A67BE5C}"/>
              </a:ext>
            </a:extLst>
          </p:cNvPr>
          <p:cNvSpPr txBox="1"/>
          <p:nvPr/>
        </p:nvSpPr>
        <p:spPr bwMode="auto">
          <a:xfrm>
            <a:off x="5107393"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p>
        </p:txBody>
      </p:sp>
      <p:grpSp>
        <p:nvGrpSpPr>
          <p:cNvPr id="33" name="グループ化 32">
            <a:extLst>
              <a:ext uri="{FF2B5EF4-FFF2-40B4-BE49-F238E27FC236}">
                <a16:creationId xmlns:a16="http://schemas.microsoft.com/office/drawing/2014/main" id="{816F10D2-9440-B7D4-795E-49BE9D55B3B6}"/>
              </a:ext>
            </a:extLst>
          </p:cNvPr>
          <p:cNvGrpSpPr/>
          <p:nvPr/>
        </p:nvGrpSpPr>
        <p:grpSpPr>
          <a:xfrm>
            <a:off x="5437219" y="2479955"/>
            <a:ext cx="936104" cy="936104"/>
            <a:chOff x="3503712" y="3429000"/>
            <a:chExt cx="936104" cy="936104"/>
          </a:xfrm>
        </p:grpSpPr>
        <p:sp>
          <p:nvSpPr>
            <p:cNvPr id="34" name="正方形/長方形 33">
              <a:extLst>
                <a:ext uri="{FF2B5EF4-FFF2-40B4-BE49-F238E27FC236}">
                  <a16:creationId xmlns:a16="http://schemas.microsoft.com/office/drawing/2014/main" id="{37E3C40A-40CF-A334-0463-4FA57DDE9FE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5" name="図 34">
              <a:extLst>
                <a:ext uri="{FF2B5EF4-FFF2-40B4-BE49-F238E27FC236}">
                  <a16:creationId xmlns:a16="http://schemas.microsoft.com/office/drawing/2014/main" id="{8BCF777F-6EDA-B2FF-3999-44140F5A26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6" name="テキスト ボックス 35">
            <a:extLst>
              <a:ext uri="{FF2B5EF4-FFF2-40B4-BE49-F238E27FC236}">
                <a16:creationId xmlns:a16="http://schemas.microsoft.com/office/drawing/2014/main" id="{C9734052-12D9-683D-8E54-894F09874E7C}"/>
              </a:ext>
            </a:extLst>
          </p:cNvPr>
          <p:cNvSpPr txBox="1"/>
          <p:nvPr/>
        </p:nvSpPr>
        <p:spPr bwMode="auto">
          <a:xfrm>
            <a:off x="9203891"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p>
        </p:txBody>
      </p:sp>
      <p:grpSp>
        <p:nvGrpSpPr>
          <p:cNvPr id="37" name="グループ化 36">
            <a:extLst>
              <a:ext uri="{FF2B5EF4-FFF2-40B4-BE49-F238E27FC236}">
                <a16:creationId xmlns:a16="http://schemas.microsoft.com/office/drawing/2014/main" id="{ADF2AA35-6992-258E-F273-A4424273E182}"/>
              </a:ext>
            </a:extLst>
          </p:cNvPr>
          <p:cNvGrpSpPr/>
          <p:nvPr/>
        </p:nvGrpSpPr>
        <p:grpSpPr>
          <a:xfrm>
            <a:off x="9533717" y="2479955"/>
            <a:ext cx="936104" cy="936104"/>
            <a:chOff x="3503712" y="3429000"/>
            <a:chExt cx="936104" cy="936104"/>
          </a:xfrm>
        </p:grpSpPr>
        <p:sp>
          <p:nvSpPr>
            <p:cNvPr id="38" name="正方形/長方形 37">
              <a:extLst>
                <a:ext uri="{FF2B5EF4-FFF2-40B4-BE49-F238E27FC236}">
                  <a16:creationId xmlns:a16="http://schemas.microsoft.com/office/drawing/2014/main" id="{31F63922-3F3E-7B2F-34A7-083EFDE7E311}"/>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9" name="図 38">
              <a:extLst>
                <a:ext uri="{FF2B5EF4-FFF2-40B4-BE49-F238E27FC236}">
                  <a16:creationId xmlns:a16="http://schemas.microsoft.com/office/drawing/2014/main" id="{B8B4056F-A1B1-9ED7-54BF-2A1E41CED5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1" name="直線矢印コネクタ 40">
            <a:extLst>
              <a:ext uri="{FF2B5EF4-FFF2-40B4-BE49-F238E27FC236}">
                <a16:creationId xmlns:a16="http://schemas.microsoft.com/office/drawing/2014/main" id="{735C203F-32D5-24ED-2A36-DA790F13BC10}"/>
              </a:ext>
            </a:extLst>
          </p:cNvPr>
          <p:cNvCxnSpPr>
            <a:cxnSpLocks/>
          </p:cNvCxnSpPr>
          <p:nvPr/>
        </p:nvCxnSpPr>
        <p:spPr bwMode="auto">
          <a:xfrm>
            <a:off x="2651195"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2" name="テキスト ボックス 41">
            <a:extLst>
              <a:ext uri="{FF2B5EF4-FFF2-40B4-BE49-F238E27FC236}">
                <a16:creationId xmlns:a16="http://schemas.microsoft.com/office/drawing/2014/main" id="{350E3D7F-296F-5367-30BD-08809089A337}"/>
              </a:ext>
            </a:extLst>
          </p:cNvPr>
          <p:cNvSpPr txBox="1"/>
          <p:nvPr/>
        </p:nvSpPr>
        <p:spPr bwMode="auto">
          <a:xfrm>
            <a:off x="3155569"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cxnSp>
        <p:nvCxnSpPr>
          <p:cNvPr id="44" name="直線矢印コネクタ 43">
            <a:extLst>
              <a:ext uri="{FF2B5EF4-FFF2-40B4-BE49-F238E27FC236}">
                <a16:creationId xmlns:a16="http://schemas.microsoft.com/office/drawing/2014/main" id="{ADF254D0-46C2-6AA1-4704-C1E21AB35EAF}"/>
              </a:ext>
            </a:extLst>
          </p:cNvPr>
          <p:cNvCxnSpPr>
            <a:cxnSpLocks/>
          </p:cNvCxnSpPr>
          <p:nvPr/>
        </p:nvCxnSpPr>
        <p:spPr bwMode="auto">
          <a:xfrm>
            <a:off x="6703148"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207522"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sp>
        <p:nvSpPr>
          <p:cNvPr id="46" name="テキスト ボックス 45">
            <a:extLst>
              <a:ext uri="{FF2B5EF4-FFF2-40B4-BE49-F238E27FC236}">
                <a16:creationId xmlns:a16="http://schemas.microsoft.com/office/drawing/2014/main" id="{4F2732AD-83B2-A3F8-92A8-33576BE21741}"/>
              </a:ext>
            </a:extLst>
          </p:cNvPr>
          <p:cNvSpPr txBox="1"/>
          <p:nvPr/>
        </p:nvSpPr>
        <p:spPr bwMode="auto">
          <a:xfrm>
            <a:off x="1703512" y="3930745"/>
            <a:ext cx="9185940" cy="18605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nSpc>
                <a:spcPct val="150000"/>
              </a:lnSpc>
              <a:buFont typeface="Arial" panose="020B0604020202020204" pitchFamily="34" charset="0"/>
              <a:buChar char="•"/>
            </a:pPr>
            <a:r>
              <a:rPr lang="ja-JP" altLang="en-US" kern="0">
                <a:latin typeface="BIZ UDPゴシック" panose="020B0400000000000000" pitchFamily="50" charset="-128"/>
                <a:ea typeface="BIZ UDPゴシック" panose="020B0400000000000000" pitchFamily="50" charset="-128"/>
              </a:rPr>
              <a:t>「コピーしてちょっと修正」 を繰り返す</a:t>
            </a: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ちょっとずつ違うバージョンが無数に増える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どれを</a:t>
            </a:r>
            <a:r>
              <a:rPr kumimoji="1" lang="ja-JP" altLang="en-US" kern="0">
                <a:solidFill>
                  <a:srgbClr val="FF0000"/>
                </a:solidFill>
                <a:latin typeface="BIZ UDPゴシック" panose="020B0400000000000000" pitchFamily="50" charset="-128"/>
                <a:ea typeface="BIZ UDPゴシック" panose="020B0400000000000000" pitchFamily="50" charset="-128"/>
              </a:rPr>
              <a:t>マスター原本</a:t>
            </a:r>
            <a:r>
              <a:rPr kumimoji="1" lang="ja-JP" altLang="en-US" kern="0">
                <a:latin typeface="BIZ UDPゴシック" panose="020B0400000000000000" pitchFamily="50" charset="-128"/>
                <a:ea typeface="BIZ UDPゴシック" panose="020B0400000000000000" pitchFamily="50" charset="-128"/>
              </a:rPr>
              <a:t>にしたら良いのか分からなくなる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内容の更新が必要なときに</a:t>
            </a:r>
            <a:r>
              <a:rPr kumimoji="1" lang="ja-JP" altLang="en-US" kern="0">
                <a:solidFill>
                  <a:srgbClr val="FF0000"/>
                </a:solidFill>
                <a:latin typeface="BIZ UDPゴシック" panose="020B0400000000000000" pitchFamily="50" charset="-128"/>
                <a:ea typeface="BIZ UDPゴシック" panose="020B0400000000000000" pitchFamily="50" charset="-128"/>
              </a:rPr>
              <a:t>すべてを修正するのが面倒</a:t>
            </a:r>
            <a:endParaRPr kumimoji="1" lang="en-US" altLang="ja-JP"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084909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FF1820B-D575-AB84-7096-F9D00E1EBDA1}"/>
              </a:ext>
            </a:extLst>
          </p:cNvPr>
          <p:cNvSpPr/>
          <p:nvPr/>
        </p:nvSpPr>
        <p:spPr bwMode="auto">
          <a:xfrm>
            <a:off x="767408" y="1124744"/>
            <a:ext cx="10441160"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2.3) 悩み２： 章・節番号をつけるのが面倒くさい</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研修用テキストはページ数が多いので章・節番号をつけたくなる。</a:t>
            </a:r>
            <a:endParaRPr kumimoji="1" lang="en-US" altLang="ja-JP" sz="2400" kern="0">
              <a:latin typeface="BIZ UDPゴシック" panose="020B0400000000000000" pitchFamily="50" charset="-128"/>
              <a:ea typeface="BIZ UDPゴシック" panose="020B0400000000000000" pitchFamily="50" charset="-128"/>
            </a:endParaRPr>
          </a:p>
          <a:p>
            <a:pPr algn="l"/>
            <a:r>
              <a:rPr kumimoji="1" lang="ja-JP" altLang="en-US" sz="2400" kern="0">
                <a:latin typeface="BIZ UDPゴシック" panose="020B0400000000000000" pitchFamily="50" charset="-128"/>
                <a:ea typeface="BIZ UDPゴシック" panose="020B0400000000000000" pitchFamily="50" charset="-128"/>
              </a:rPr>
              <a:t>しかし自動付番機能がないので手作業でやらなければならない。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655416" y="2816785"/>
            <a:ext cx="2672234" cy="203132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章 ・・・・・</a:t>
            </a:r>
            <a:endParaRPr kumimoji="1"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p:txBody>
      </p:sp>
      <p:sp>
        <p:nvSpPr>
          <p:cNvPr id="47" name="正方形/長方形 46">
            <a:extLst>
              <a:ext uri="{FF2B5EF4-FFF2-40B4-BE49-F238E27FC236}">
                <a16:creationId xmlns:a16="http://schemas.microsoft.com/office/drawing/2014/main" id="{A73B2376-19E8-FC8F-7252-F0A8E934ED8D}"/>
              </a:ext>
            </a:extLst>
          </p:cNvPr>
          <p:cNvSpPr/>
          <p:nvPr/>
        </p:nvSpPr>
        <p:spPr bwMode="auto">
          <a:xfrm>
            <a:off x="2251452" y="3649974"/>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8" name="正方形/長方形 47">
            <a:extLst>
              <a:ext uri="{FF2B5EF4-FFF2-40B4-BE49-F238E27FC236}">
                <a16:creationId xmlns:a16="http://schemas.microsoft.com/office/drawing/2014/main" id="{E4A18546-8D3F-2C89-5B9D-D02DA5F70E3A}"/>
              </a:ext>
            </a:extLst>
          </p:cNvPr>
          <p:cNvSpPr/>
          <p:nvPr/>
        </p:nvSpPr>
        <p:spPr bwMode="auto">
          <a:xfrm>
            <a:off x="2190250" y="358104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9" name="正方形/長方形 48">
            <a:extLst>
              <a:ext uri="{FF2B5EF4-FFF2-40B4-BE49-F238E27FC236}">
                <a16:creationId xmlns:a16="http://schemas.microsoft.com/office/drawing/2014/main" id="{E2A0C2B5-9B3B-2024-A020-9A746105FA09}"/>
              </a:ext>
            </a:extLst>
          </p:cNvPr>
          <p:cNvSpPr/>
          <p:nvPr/>
        </p:nvSpPr>
        <p:spPr bwMode="auto">
          <a:xfrm>
            <a:off x="2129046" y="3512109"/>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0" name="正方形/長方形 49">
            <a:extLst>
              <a:ext uri="{FF2B5EF4-FFF2-40B4-BE49-F238E27FC236}">
                <a16:creationId xmlns:a16="http://schemas.microsoft.com/office/drawing/2014/main" id="{DF941AB9-050E-C43F-9A02-C67B278EB9A6}"/>
              </a:ext>
            </a:extLst>
          </p:cNvPr>
          <p:cNvSpPr/>
          <p:nvPr/>
        </p:nvSpPr>
        <p:spPr bwMode="auto">
          <a:xfrm>
            <a:off x="2067842" y="3443177"/>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1" name="正方形/長方形 50">
            <a:extLst>
              <a:ext uri="{FF2B5EF4-FFF2-40B4-BE49-F238E27FC236}">
                <a16:creationId xmlns:a16="http://schemas.microsoft.com/office/drawing/2014/main" id="{4C7AB1AC-DFD5-E6AC-D845-987C5231DE03}"/>
              </a:ext>
            </a:extLst>
          </p:cNvPr>
          <p:cNvSpPr/>
          <p:nvPr/>
        </p:nvSpPr>
        <p:spPr bwMode="auto">
          <a:xfrm>
            <a:off x="2006638" y="3374245"/>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2" name="正方形/長方形 51">
            <a:extLst>
              <a:ext uri="{FF2B5EF4-FFF2-40B4-BE49-F238E27FC236}">
                <a16:creationId xmlns:a16="http://schemas.microsoft.com/office/drawing/2014/main" id="{BFD7D91B-EA6F-98CD-937F-34402509830F}"/>
              </a:ext>
            </a:extLst>
          </p:cNvPr>
          <p:cNvSpPr/>
          <p:nvPr/>
        </p:nvSpPr>
        <p:spPr bwMode="auto">
          <a:xfrm>
            <a:off x="1945434" y="3305313"/>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3" name="正方形/長方形 52">
            <a:extLst>
              <a:ext uri="{FF2B5EF4-FFF2-40B4-BE49-F238E27FC236}">
                <a16:creationId xmlns:a16="http://schemas.microsoft.com/office/drawing/2014/main" id="{339DE2FD-2A88-AC64-3703-4634BC9A4A29}"/>
              </a:ext>
            </a:extLst>
          </p:cNvPr>
          <p:cNvSpPr/>
          <p:nvPr/>
        </p:nvSpPr>
        <p:spPr bwMode="auto">
          <a:xfrm>
            <a:off x="1884230" y="323638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4" name="図 53">
            <a:extLst>
              <a:ext uri="{FF2B5EF4-FFF2-40B4-BE49-F238E27FC236}">
                <a16:creationId xmlns:a16="http://schemas.microsoft.com/office/drawing/2014/main" id="{9D2EE2A0-F58F-B56F-0BDD-66FB9078245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65602" y="3454097"/>
            <a:ext cx="571699" cy="547977"/>
          </a:xfrm>
          <a:prstGeom prst="rect">
            <a:avLst/>
          </a:prstGeom>
        </p:spPr>
      </p:pic>
      <p:sp>
        <p:nvSpPr>
          <p:cNvPr id="55" name="テキスト ボックス 54">
            <a:extLst>
              <a:ext uri="{FF2B5EF4-FFF2-40B4-BE49-F238E27FC236}">
                <a16:creationId xmlns:a16="http://schemas.microsoft.com/office/drawing/2014/main" id="{67B52A22-B6DC-D533-BB9C-F65C2D695BFD}"/>
              </a:ext>
            </a:extLst>
          </p:cNvPr>
          <p:cNvSpPr txBox="1"/>
          <p:nvPr/>
        </p:nvSpPr>
        <p:spPr bwMode="auto">
          <a:xfrm>
            <a:off x="1307085" y="2764808"/>
            <a:ext cx="255049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大きな </a:t>
            </a:r>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ファイル</a:t>
            </a:r>
          </a:p>
        </p:txBody>
      </p:sp>
      <p:cxnSp>
        <p:nvCxnSpPr>
          <p:cNvPr id="57" name="直線矢印コネクタ 56">
            <a:extLst>
              <a:ext uri="{FF2B5EF4-FFF2-40B4-BE49-F238E27FC236}">
                <a16:creationId xmlns:a16="http://schemas.microsoft.com/office/drawing/2014/main" id="{C54D028C-9A6E-8D77-079A-DF486B841B0E}"/>
              </a:ext>
            </a:extLst>
          </p:cNvPr>
          <p:cNvCxnSpPr>
            <a:cxnSpLocks/>
          </p:cNvCxnSpPr>
          <p:nvPr/>
        </p:nvCxnSpPr>
        <p:spPr bwMode="auto">
          <a:xfrm>
            <a:off x="3335405" y="3901380"/>
            <a:ext cx="388843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8" name="テキスト ボックス 57">
            <a:extLst>
              <a:ext uri="{FF2B5EF4-FFF2-40B4-BE49-F238E27FC236}">
                <a16:creationId xmlns:a16="http://schemas.microsoft.com/office/drawing/2014/main" id="{38161F5C-1662-B3FB-2B29-3C417AB637B3}"/>
              </a:ext>
            </a:extLst>
          </p:cNvPr>
          <p:cNvSpPr txBox="1"/>
          <p:nvPr/>
        </p:nvSpPr>
        <p:spPr bwMode="auto">
          <a:xfrm>
            <a:off x="3692206" y="3292556"/>
            <a:ext cx="3408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こんなナンバリングをしたい</a:t>
            </a:r>
          </a:p>
        </p:txBody>
      </p:sp>
      <p:sp>
        <p:nvSpPr>
          <p:cNvPr id="60" name="テキスト ボックス 59">
            <a:extLst>
              <a:ext uri="{FF2B5EF4-FFF2-40B4-BE49-F238E27FC236}">
                <a16:creationId xmlns:a16="http://schemas.microsoft.com/office/drawing/2014/main" id="{255CF21E-F34D-2855-9B9A-C9BABF118E7C}"/>
              </a:ext>
            </a:extLst>
          </p:cNvPr>
          <p:cNvSpPr txBox="1"/>
          <p:nvPr/>
        </p:nvSpPr>
        <p:spPr bwMode="auto">
          <a:xfrm>
            <a:off x="7392144" y="5013176"/>
            <a:ext cx="396044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Ｗｏｒｄなら簡単にできるのに、</a:t>
            </a:r>
            <a:endParaRPr kumimoji="1" lang="en-US" altLang="ja-JP" sz="1800" kern="0">
              <a:latin typeface="BIZ UDPゴシック" panose="020B0400000000000000" pitchFamily="50" charset="-128"/>
              <a:ea typeface="BIZ UDPゴシック" panose="020B0400000000000000" pitchFamily="50" charset="-128"/>
            </a:endParaRPr>
          </a:p>
          <a:p>
            <a:pPr algn="l"/>
            <a:r>
              <a:rPr lang="en-US" altLang="ja-JP" sz="1800" kern="0">
                <a:latin typeface="BIZ UDPゴシック" panose="020B0400000000000000" pitchFamily="50" charset="-128"/>
                <a:ea typeface="BIZ UDPゴシック" panose="020B0400000000000000" pitchFamily="50" charset="-128"/>
              </a:rPr>
              <a:t>PowerPoint </a:t>
            </a:r>
            <a:r>
              <a:rPr lang="ja-JP" altLang="en-US" sz="1800" kern="0">
                <a:latin typeface="BIZ UDPゴシック" panose="020B0400000000000000" pitchFamily="50" charset="-128"/>
                <a:ea typeface="BIZ UDPゴシック" panose="020B0400000000000000" pitchFamily="50" charset="-128"/>
              </a:rPr>
              <a:t>にはその機能がない</a:t>
            </a:r>
            <a:endParaRPr kumimoji="1" lang="ja-JP" altLang="en-US" sz="18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165921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4363A519-4846-A46A-55C2-3F881FF7C9B3}"/>
              </a:ext>
            </a:extLst>
          </p:cNvPr>
          <p:cNvSpPr/>
          <p:nvPr/>
        </p:nvSpPr>
        <p:spPr bwMode="auto">
          <a:xfrm>
            <a:off x="898656" y="1124744"/>
            <a:ext cx="10525935"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2.4) なんとかこの悩みを解決できないか？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つまり悩みは大まかにこの二つ</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1" name="テキスト ボックス 60">
            <a:extLst>
              <a:ext uri="{FF2B5EF4-FFF2-40B4-BE49-F238E27FC236}">
                <a16:creationId xmlns:a16="http://schemas.microsoft.com/office/drawing/2014/main" id="{7A5E077F-0C16-18B5-B6B2-049A18CFCFED}"/>
              </a:ext>
            </a:extLst>
          </p:cNvPr>
          <p:cNvSpPr txBox="1"/>
          <p:nvPr/>
        </p:nvSpPr>
        <p:spPr bwMode="auto">
          <a:xfrm>
            <a:off x="1244610" y="2206220"/>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悩み１：　コピー増殖問題</a:t>
            </a:r>
          </a:p>
        </p:txBody>
      </p:sp>
      <p:sp>
        <p:nvSpPr>
          <p:cNvPr id="62" name="テキスト ボックス 61">
            <a:extLst>
              <a:ext uri="{FF2B5EF4-FFF2-40B4-BE49-F238E27FC236}">
                <a16:creationId xmlns:a16="http://schemas.microsoft.com/office/drawing/2014/main" id="{DDE890EB-4571-2A30-8D4E-B66861819361}"/>
              </a:ext>
            </a:extLst>
          </p:cNvPr>
          <p:cNvSpPr txBox="1"/>
          <p:nvPr/>
        </p:nvSpPr>
        <p:spPr bwMode="auto">
          <a:xfrm>
            <a:off x="1244610" y="2901631"/>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悩み２：　章節番号問題</a:t>
            </a:r>
          </a:p>
        </p:txBody>
      </p:sp>
      <p:sp>
        <p:nvSpPr>
          <p:cNvPr id="66" name="二等辺三角形 65">
            <a:extLst>
              <a:ext uri="{FF2B5EF4-FFF2-40B4-BE49-F238E27FC236}">
                <a16:creationId xmlns:a16="http://schemas.microsoft.com/office/drawing/2014/main" id="{39790FE5-F4D9-C042-4749-E6EAFE690CAA}"/>
              </a:ext>
            </a:extLst>
          </p:cNvPr>
          <p:cNvSpPr/>
          <p:nvPr/>
        </p:nvSpPr>
        <p:spPr bwMode="auto">
          <a:xfrm rot="6096295">
            <a:off x="4529819" y="3980400"/>
            <a:ext cx="264728" cy="746367"/>
          </a:xfrm>
          <a:prstGeom prst="triangle">
            <a:avLst>
              <a:gd name="adj" fmla="val 100000"/>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lang="ja-JP" altLang="en-US" sz="1600" dirty="0">
              <a:latin typeface="BIZ UDPゴシック" panose="020B0400000000000000" pitchFamily="50" charset="-128"/>
              <a:ea typeface="BIZ UDPゴシック" panose="020B0400000000000000" pitchFamily="50" charset="-128"/>
            </a:endParaRPr>
          </a:p>
        </p:txBody>
      </p:sp>
      <p:sp>
        <p:nvSpPr>
          <p:cNvPr id="67" name="四角形: 角を丸くする 66">
            <a:extLst>
              <a:ext uri="{FF2B5EF4-FFF2-40B4-BE49-F238E27FC236}">
                <a16:creationId xmlns:a16="http://schemas.microsoft.com/office/drawing/2014/main" id="{E80A46C1-788A-3E17-0ABB-DEBF088E6039}"/>
              </a:ext>
            </a:extLst>
          </p:cNvPr>
          <p:cNvSpPr/>
          <p:nvPr/>
        </p:nvSpPr>
        <p:spPr bwMode="auto">
          <a:xfrm>
            <a:off x="1423815" y="3967560"/>
            <a:ext cx="2920005" cy="817870"/>
          </a:xfrm>
          <a:prstGeom prst="roundRect">
            <a:avLst>
              <a:gd name="adj" fmla="val 26232"/>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kumimoji="1" lang="ja-JP" altLang="en-US" sz="1200" dirty="0">
              <a:latin typeface="BIZ UDPゴシック" panose="020B0400000000000000" pitchFamily="50" charset="-128"/>
              <a:ea typeface="BIZ UDPゴシック" panose="020B0400000000000000" pitchFamily="50" charset="-128"/>
            </a:endParaRPr>
          </a:p>
        </p:txBody>
      </p:sp>
      <p:sp>
        <p:nvSpPr>
          <p:cNvPr id="68" name="テキスト ボックス 67">
            <a:extLst>
              <a:ext uri="{FF2B5EF4-FFF2-40B4-BE49-F238E27FC236}">
                <a16:creationId xmlns:a16="http://schemas.microsoft.com/office/drawing/2014/main" id="{5B3D577D-9AD5-8921-33EC-108F8AE64228}"/>
              </a:ext>
            </a:extLst>
          </p:cNvPr>
          <p:cNvSpPr txBox="1"/>
          <p:nvPr/>
        </p:nvSpPr>
        <p:spPr bwMode="auto">
          <a:xfrm>
            <a:off x="1516078" y="3998244"/>
            <a:ext cx="288009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これを解決するために</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作りました！</a:t>
            </a:r>
            <a:endParaRPr kumimoji="1" lang="ja-JP" altLang="en-US" kern="0" dirty="0">
              <a:latin typeface="BIZ UDPゴシック" panose="020B0400000000000000" pitchFamily="50" charset="-128"/>
              <a:ea typeface="BIZ UDPゴシック" panose="020B0400000000000000" pitchFamily="50" charset="-128"/>
            </a:endParaRPr>
          </a:p>
        </p:txBody>
      </p:sp>
      <p:sp>
        <p:nvSpPr>
          <p:cNvPr id="69" name="テキスト ボックス 68">
            <a:extLst>
              <a:ext uri="{FF2B5EF4-FFF2-40B4-BE49-F238E27FC236}">
                <a16:creationId xmlns:a16="http://schemas.microsoft.com/office/drawing/2014/main" id="{A7E3871E-9EAB-7440-EC41-6681159E8106}"/>
              </a:ext>
            </a:extLst>
          </p:cNvPr>
          <p:cNvSpPr txBox="1"/>
          <p:nvPr/>
        </p:nvSpPr>
        <p:spPr bwMode="auto">
          <a:xfrm>
            <a:off x="6426293" y="4052751"/>
            <a:ext cx="479213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部品マージツール</a:t>
            </a:r>
          </a:p>
        </p:txBody>
      </p:sp>
      <p:pic>
        <p:nvPicPr>
          <p:cNvPr id="71" name="図 70">
            <a:extLst>
              <a:ext uri="{FF2B5EF4-FFF2-40B4-BE49-F238E27FC236}">
                <a16:creationId xmlns:a16="http://schemas.microsoft.com/office/drawing/2014/main" id="{070E56B7-2AC2-B4AF-FF1D-7484B1206376}"/>
              </a:ext>
            </a:extLst>
          </p:cNvPr>
          <p:cNvPicPr>
            <a:picLocks noChangeAspect="1"/>
          </p:cNvPicPr>
          <p:nvPr/>
        </p:nvPicPr>
        <p:blipFill>
          <a:blip r:embed="rId3" cstate="print">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4309358" y="4049697"/>
            <a:ext cx="1911012" cy="1911012"/>
          </a:xfrm>
          <a:prstGeom prst="rect">
            <a:avLst/>
          </a:prstGeom>
        </p:spPr>
      </p:pic>
      <p:pic>
        <p:nvPicPr>
          <p:cNvPr id="74" name="図 73">
            <a:extLst>
              <a:ext uri="{FF2B5EF4-FFF2-40B4-BE49-F238E27FC236}">
                <a16:creationId xmlns:a16="http://schemas.microsoft.com/office/drawing/2014/main" id="{3F82866E-EF45-D603-0A09-DAA6A56C41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0370" y="4645466"/>
            <a:ext cx="4996380" cy="1027901"/>
          </a:xfrm>
          <a:prstGeom prst="rect">
            <a:avLst/>
          </a:prstGeom>
        </p:spPr>
      </p:pic>
    </p:spTree>
    <p:extLst>
      <p:ext uri="{BB962C8B-B14F-4D97-AF65-F5344CB8AC3E}">
        <p14:creationId xmlns:p14="http://schemas.microsoft.com/office/powerpoint/2010/main" val="401662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par>
                                <p:cTn id="8" presetID="1" presetClass="entr" presetSubtype="0" fill="hold" grpId="0" nodeType="withEffect">
                                  <p:stCondLst>
                                    <p:cond delay="0"/>
                                  </p:stCondLst>
                                  <p:childTnLst>
                                    <p:set>
                                      <p:cBhvr>
                                        <p:cTn id="9" dur="1" fill="hold">
                                          <p:stCondLst>
                                            <p:cond delay="0"/>
                                          </p:stCondLst>
                                        </p:cTn>
                                        <p:tgtEl>
                                          <p:spTgt spid="6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6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66" grpId="0" animBg="1"/>
      <p:bldP spid="67" grpId="0" animBg="1"/>
      <p:bldP spid="6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ja-JP" altLang="en-US" sz="4000"/>
              <a:t>問題構造の整理と解決策</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501725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559039-C5CB-5CDC-E242-86F2425DC80D}"/>
              </a:ext>
            </a:extLst>
          </p:cNvPr>
          <p:cNvSpPr/>
          <p:nvPr/>
        </p:nvSpPr>
        <p:spPr bwMode="auto">
          <a:xfrm>
            <a:off x="767408" y="1124744"/>
            <a:ext cx="9289032"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3.1) まずは問題の構造を整理すると・・・</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大きな</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も実際は小さな部品の集合体</a:t>
            </a:r>
          </a:p>
        </p:txBody>
      </p:sp>
      <p:sp>
        <p:nvSpPr>
          <p:cNvPr id="8" name="正方形/長方形 7">
            <a:extLst>
              <a:ext uri="{FF2B5EF4-FFF2-40B4-BE49-F238E27FC236}">
                <a16:creationId xmlns:a16="http://schemas.microsoft.com/office/drawing/2014/main" id="{9559A3E1-87A8-F96E-0159-96C0D9FC7719}"/>
              </a:ext>
            </a:extLst>
          </p:cNvPr>
          <p:cNvSpPr/>
          <p:nvPr/>
        </p:nvSpPr>
        <p:spPr bwMode="auto">
          <a:xfrm>
            <a:off x="1154675"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5AB062B0-46B4-FCBB-36F9-3C9F845EE581}"/>
              </a:ext>
            </a:extLst>
          </p:cNvPr>
          <p:cNvSpPr/>
          <p:nvPr/>
        </p:nvSpPr>
        <p:spPr bwMode="auto">
          <a:xfrm>
            <a:off x="3512213"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47366BF3-B927-3C16-A121-A47CCB8E2F8E}"/>
              </a:ext>
            </a:extLst>
          </p:cNvPr>
          <p:cNvSpPr/>
          <p:nvPr/>
        </p:nvSpPr>
        <p:spPr bwMode="auto">
          <a:xfrm>
            <a:off x="5879976"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154675"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endParaRPr kumimoji="1" lang="en-US" altLang="ja-JP" kern="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EB72E80E-A0CC-F847-536A-EA47F42C4E48}"/>
              </a:ext>
            </a:extLst>
          </p:cNvPr>
          <p:cNvSpPr txBox="1"/>
          <p:nvPr/>
        </p:nvSpPr>
        <p:spPr bwMode="auto">
          <a:xfrm>
            <a:off x="3512213"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4" name="テキスト ボックス 13">
            <a:extLst>
              <a:ext uri="{FF2B5EF4-FFF2-40B4-BE49-F238E27FC236}">
                <a16:creationId xmlns:a16="http://schemas.microsoft.com/office/drawing/2014/main" id="{EC4F2AB7-E906-0251-919B-D53C48823ADB}"/>
              </a:ext>
            </a:extLst>
          </p:cNvPr>
          <p:cNvSpPr txBox="1"/>
          <p:nvPr/>
        </p:nvSpPr>
        <p:spPr bwMode="auto">
          <a:xfrm>
            <a:off x="5879976"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287655"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AA83E1CB-04AF-F3AF-2169-B8AAD3B2D295}"/>
              </a:ext>
            </a:extLst>
          </p:cNvPr>
          <p:cNvSpPr/>
          <p:nvPr/>
        </p:nvSpPr>
        <p:spPr bwMode="auto">
          <a:xfrm>
            <a:off x="3655221"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655221"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8DD23D76-F0AB-8E06-A9AB-C1666979CDE1}"/>
              </a:ext>
            </a:extLst>
          </p:cNvPr>
          <p:cNvSpPr/>
          <p:nvPr/>
        </p:nvSpPr>
        <p:spPr bwMode="auto">
          <a:xfrm>
            <a:off x="6012955"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2876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AA881836-C44D-DF9B-A6F2-85FD511906EA}"/>
              </a:ext>
            </a:extLst>
          </p:cNvPr>
          <p:cNvSpPr/>
          <p:nvPr/>
        </p:nvSpPr>
        <p:spPr bwMode="auto">
          <a:xfrm>
            <a:off x="3655221"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2ACCC61F-208D-56E3-F22E-178EF5556A8C}"/>
              </a:ext>
            </a:extLst>
          </p:cNvPr>
          <p:cNvSpPr/>
          <p:nvPr/>
        </p:nvSpPr>
        <p:spPr bwMode="auto">
          <a:xfrm>
            <a:off x="60129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287655" y="5334265"/>
            <a:ext cx="1329796" cy="49295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F42F48BF-EA3D-1F3C-A845-1C5D86ACFAF4}"/>
              </a:ext>
            </a:extLst>
          </p:cNvPr>
          <p:cNvSpPr/>
          <p:nvPr/>
        </p:nvSpPr>
        <p:spPr bwMode="auto">
          <a:xfrm>
            <a:off x="3655221" y="5334265"/>
            <a:ext cx="1329796" cy="492951"/>
          </a:xfrm>
          <a:prstGeom prst="rect">
            <a:avLst/>
          </a:prstGeom>
          <a:solidFill>
            <a:schemeClr val="tx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6012955" y="5334265"/>
            <a:ext cx="1329796" cy="49295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CA2E9035-0400-4398-C3FB-16E01295C7FF}"/>
              </a:ext>
            </a:extLst>
          </p:cNvPr>
          <p:cNvSpPr txBox="1"/>
          <p:nvPr/>
        </p:nvSpPr>
        <p:spPr bwMode="auto">
          <a:xfrm>
            <a:off x="8081755" y="31264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３社共通</a:t>
            </a:r>
          </a:p>
        </p:txBody>
      </p:sp>
      <p:sp>
        <p:nvSpPr>
          <p:cNvPr id="28" name="テキスト ボックス 27">
            <a:extLst>
              <a:ext uri="{FF2B5EF4-FFF2-40B4-BE49-F238E27FC236}">
                <a16:creationId xmlns:a16="http://schemas.microsoft.com/office/drawing/2014/main" id="{781173B7-A0C8-323F-4D97-F08043EDD41A}"/>
              </a:ext>
            </a:extLst>
          </p:cNvPr>
          <p:cNvSpPr txBox="1"/>
          <p:nvPr/>
        </p:nvSpPr>
        <p:spPr bwMode="auto">
          <a:xfrm>
            <a:off x="8081755" y="3833593"/>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29" name="テキスト ボックス 28">
            <a:extLst>
              <a:ext uri="{FF2B5EF4-FFF2-40B4-BE49-F238E27FC236}">
                <a16:creationId xmlns:a16="http://schemas.microsoft.com/office/drawing/2014/main" id="{B2B1D752-25C5-4405-2B72-7DEAD42D667A}"/>
              </a:ext>
            </a:extLst>
          </p:cNvPr>
          <p:cNvSpPr txBox="1"/>
          <p:nvPr/>
        </p:nvSpPr>
        <p:spPr bwMode="auto">
          <a:xfrm>
            <a:off x="8081755" y="4623810"/>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30" name="テキスト ボックス 29">
            <a:extLst>
              <a:ext uri="{FF2B5EF4-FFF2-40B4-BE49-F238E27FC236}">
                <a16:creationId xmlns:a16="http://schemas.microsoft.com/office/drawing/2014/main" id="{79903DB0-50A0-2DA1-3A11-ADF407EE65D6}"/>
              </a:ext>
            </a:extLst>
          </p:cNvPr>
          <p:cNvSpPr txBox="1"/>
          <p:nvPr/>
        </p:nvSpPr>
        <p:spPr bwMode="auto">
          <a:xfrm>
            <a:off x="8081755" y="53806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各社専用</a:t>
            </a:r>
          </a:p>
        </p:txBody>
      </p:sp>
      <p:cxnSp>
        <p:nvCxnSpPr>
          <p:cNvPr id="33" name="直線矢印コネクタ 32">
            <a:extLst>
              <a:ext uri="{FF2B5EF4-FFF2-40B4-BE49-F238E27FC236}">
                <a16:creationId xmlns:a16="http://schemas.microsoft.com/office/drawing/2014/main" id="{5568D6E5-2E37-AF88-BBBC-992AF62F1050}"/>
              </a:ext>
            </a:extLst>
          </p:cNvPr>
          <p:cNvCxnSpPr/>
          <p:nvPr/>
        </p:nvCxnSpPr>
        <p:spPr bwMode="auto">
          <a:xfrm flipH="1">
            <a:off x="7865731" y="335699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4" name="直線矢印コネクタ 33">
            <a:extLst>
              <a:ext uri="{FF2B5EF4-FFF2-40B4-BE49-F238E27FC236}">
                <a16:creationId xmlns:a16="http://schemas.microsoft.com/office/drawing/2014/main" id="{5476950D-93E8-61CF-BF8E-30B1A65813FA}"/>
              </a:ext>
            </a:extLst>
          </p:cNvPr>
          <p:cNvCxnSpPr/>
          <p:nvPr/>
        </p:nvCxnSpPr>
        <p:spPr bwMode="auto">
          <a:xfrm flipH="1">
            <a:off x="7865731" y="407707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5" name="直線矢印コネクタ 34">
            <a:extLst>
              <a:ext uri="{FF2B5EF4-FFF2-40B4-BE49-F238E27FC236}">
                <a16:creationId xmlns:a16="http://schemas.microsoft.com/office/drawing/2014/main" id="{8A83D686-203E-96CB-5720-97A3562EEB13}"/>
              </a:ext>
            </a:extLst>
          </p:cNvPr>
          <p:cNvCxnSpPr/>
          <p:nvPr/>
        </p:nvCxnSpPr>
        <p:spPr bwMode="auto">
          <a:xfrm flipH="1">
            <a:off x="7865731" y="486916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F8379F68-6E8A-1491-36BA-554E7CDFB5E5}"/>
              </a:ext>
            </a:extLst>
          </p:cNvPr>
          <p:cNvCxnSpPr/>
          <p:nvPr/>
        </p:nvCxnSpPr>
        <p:spPr bwMode="auto">
          <a:xfrm flipH="1">
            <a:off x="7865731" y="558924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spTree>
    <p:extLst>
      <p:ext uri="{BB962C8B-B14F-4D97-AF65-F5344CB8AC3E}">
        <p14:creationId xmlns:p14="http://schemas.microsoft.com/office/powerpoint/2010/main" val="29005614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0" name="exportrange">
            <a:extLst>
              <a:ext uri="{FF2B5EF4-FFF2-40B4-BE49-F238E27FC236}">
                <a16:creationId xmlns:a16="http://schemas.microsoft.com/office/drawing/2014/main" id="{3CCB5A9E-7873-E67D-6354-CE1EE8E271CA}"/>
              </a:ext>
            </a:extLst>
          </p:cNvPr>
          <p:cNvSpPr/>
          <p:nvPr/>
        </p:nvSpPr>
        <p:spPr bwMode="auto">
          <a:xfrm>
            <a:off x="767408" y="1060833"/>
            <a:ext cx="10507674" cy="546451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3.2) 部品を組み合わせて完成版を構成する仕組みを作る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9" name="グループ化 8">
            <a:extLst>
              <a:ext uri="{FF2B5EF4-FFF2-40B4-BE49-F238E27FC236}">
                <a16:creationId xmlns:a16="http://schemas.microsoft.com/office/drawing/2014/main" id="{74A93DEB-A83F-19EB-654B-43CC9B41AA88}"/>
              </a:ext>
            </a:extLst>
          </p:cNvPr>
          <p:cNvGrpSpPr/>
          <p:nvPr/>
        </p:nvGrpSpPr>
        <p:grpSpPr>
          <a:xfrm>
            <a:off x="1498523" y="3058449"/>
            <a:ext cx="1595755" cy="2450827"/>
            <a:chOff x="1498523" y="3058449"/>
            <a:chExt cx="1595755" cy="2756048"/>
          </a:xfrm>
        </p:grpSpPr>
        <p:sp>
          <p:nvSpPr>
            <p:cNvPr id="42" name="正方形/長方形 41">
              <a:extLst>
                <a:ext uri="{FF2B5EF4-FFF2-40B4-BE49-F238E27FC236}">
                  <a16:creationId xmlns:a16="http://schemas.microsoft.com/office/drawing/2014/main" id="{EA429F61-C407-CDE7-8053-C253DF01AB6D}"/>
                </a:ext>
              </a:extLst>
            </p:cNvPr>
            <p:cNvSpPr/>
            <p:nvPr/>
          </p:nvSpPr>
          <p:spPr bwMode="auto">
            <a:xfrm>
              <a:off x="1498523" y="305844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631504" y="3651968"/>
              <a:ext cx="1329796" cy="491824"/>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1631503" y="4263510"/>
              <a:ext cx="1329796" cy="491824"/>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631504" y="318143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631504" y="487505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1635654" y="532110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sp>
        <p:nvSpPr>
          <p:cNvPr id="4" name="正方形/長方形 3">
            <a:extLst>
              <a:ext uri="{FF2B5EF4-FFF2-40B4-BE49-F238E27FC236}">
                <a16:creationId xmlns:a16="http://schemas.microsoft.com/office/drawing/2014/main" id="{2C4888BB-B62B-EF45-4AE1-132112A9B4CA}"/>
              </a:ext>
            </a:extLst>
          </p:cNvPr>
          <p:cNvSpPr/>
          <p:nvPr/>
        </p:nvSpPr>
        <p:spPr bwMode="auto">
          <a:xfrm>
            <a:off x="4555667" y="2869498"/>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Ａ社向け構成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FB9E7DE1-6C6D-D2DE-6A03-D5233744CA21}"/>
              </a:ext>
            </a:extLst>
          </p:cNvPr>
          <p:cNvSpPr/>
          <p:nvPr/>
        </p:nvSpPr>
        <p:spPr bwMode="auto">
          <a:xfrm>
            <a:off x="4555667" y="3920657"/>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Ｂ社向け構成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5793CC7D-D304-21FE-5672-9D9F2C88A28C}"/>
              </a:ext>
            </a:extLst>
          </p:cNvPr>
          <p:cNvSpPr/>
          <p:nvPr/>
        </p:nvSpPr>
        <p:spPr bwMode="auto">
          <a:xfrm>
            <a:off x="4555667" y="4913873"/>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Ｃ社向け構成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nvGrpSpPr>
          <p:cNvPr id="11" name="グループ化 10">
            <a:extLst>
              <a:ext uri="{FF2B5EF4-FFF2-40B4-BE49-F238E27FC236}">
                <a16:creationId xmlns:a16="http://schemas.microsoft.com/office/drawing/2014/main" id="{CC6F7636-2E68-1650-49B6-071DFC74DC7C}"/>
              </a:ext>
            </a:extLst>
          </p:cNvPr>
          <p:cNvGrpSpPr/>
          <p:nvPr/>
        </p:nvGrpSpPr>
        <p:grpSpPr>
          <a:xfrm>
            <a:off x="8462523" y="2825529"/>
            <a:ext cx="639372" cy="639372"/>
            <a:chOff x="3503712" y="3429000"/>
            <a:chExt cx="936104" cy="936104"/>
          </a:xfrm>
        </p:grpSpPr>
        <p:sp>
          <p:nvSpPr>
            <p:cNvPr id="15" name="正方形/長方形 14">
              <a:extLst>
                <a:ext uri="{FF2B5EF4-FFF2-40B4-BE49-F238E27FC236}">
                  <a16:creationId xmlns:a16="http://schemas.microsoft.com/office/drawing/2014/main" id="{77A9C718-37F2-48E3-48ED-E73E7B94EF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6" name="図 25">
              <a:extLst>
                <a:ext uri="{FF2B5EF4-FFF2-40B4-BE49-F238E27FC236}">
                  <a16:creationId xmlns:a16="http://schemas.microsoft.com/office/drawing/2014/main" id="{A2A0A557-02B6-2D38-56B4-21B2FC2A9C9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1" name="グループ化 30">
            <a:extLst>
              <a:ext uri="{FF2B5EF4-FFF2-40B4-BE49-F238E27FC236}">
                <a16:creationId xmlns:a16="http://schemas.microsoft.com/office/drawing/2014/main" id="{DDCC4BEC-AC9E-EA38-DB72-5C2352DB9300}"/>
              </a:ext>
            </a:extLst>
          </p:cNvPr>
          <p:cNvGrpSpPr/>
          <p:nvPr/>
        </p:nvGrpSpPr>
        <p:grpSpPr>
          <a:xfrm>
            <a:off x="8462523" y="3876688"/>
            <a:ext cx="639372" cy="639372"/>
            <a:chOff x="3503712" y="3429000"/>
            <a:chExt cx="936104" cy="936104"/>
          </a:xfrm>
        </p:grpSpPr>
        <p:sp>
          <p:nvSpPr>
            <p:cNvPr id="32" name="正方形/長方形 31">
              <a:extLst>
                <a:ext uri="{FF2B5EF4-FFF2-40B4-BE49-F238E27FC236}">
                  <a16:creationId xmlns:a16="http://schemas.microsoft.com/office/drawing/2014/main" id="{96F8D83B-77A1-8DC1-B46A-E3A6EDDA66E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7" name="図 36">
              <a:extLst>
                <a:ext uri="{FF2B5EF4-FFF2-40B4-BE49-F238E27FC236}">
                  <a16:creationId xmlns:a16="http://schemas.microsoft.com/office/drawing/2014/main" id="{B79FDF42-3592-05C0-CA28-D809C8F5FBB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8" name="グループ化 37">
            <a:extLst>
              <a:ext uri="{FF2B5EF4-FFF2-40B4-BE49-F238E27FC236}">
                <a16:creationId xmlns:a16="http://schemas.microsoft.com/office/drawing/2014/main" id="{F38B3DF5-9C4F-5F76-171E-584E82F8D34B}"/>
              </a:ext>
            </a:extLst>
          </p:cNvPr>
          <p:cNvGrpSpPr/>
          <p:nvPr/>
        </p:nvGrpSpPr>
        <p:grpSpPr>
          <a:xfrm>
            <a:off x="8462523" y="4869904"/>
            <a:ext cx="639372" cy="639372"/>
            <a:chOff x="3503712" y="3429000"/>
            <a:chExt cx="936104" cy="936104"/>
          </a:xfrm>
        </p:grpSpPr>
        <p:sp>
          <p:nvSpPr>
            <p:cNvPr id="39" name="正方形/長方形 38">
              <a:extLst>
                <a:ext uri="{FF2B5EF4-FFF2-40B4-BE49-F238E27FC236}">
                  <a16:creationId xmlns:a16="http://schemas.microsoft.com/office/drawing/2014/main" id="{F78B70D7-F24A-C0F8-4F2C-129A876FE58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41374998-C031-824B-A7A5-66D3163CE34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4" name="直線矢印コネクタ 43">
            <a:extLst>
              <a:ext uri="{FF2B5EF4-FFF2-40B4-BE49-F238E27FC236}">
                <a16:creationId xmlns:a16="http://schemas.microsoft.com/office/drawing/2014/main" id="{85F7FCE7-2796-E34F-A961-6FDEED087D6D}"/>
              </a:ext>
            </a:extLst>
          </p:cNvPr>
          <p:cNvCxnSpPr>
            <a:endCxn id="4" idx="1"/>
          </p:cNvCxnSpPr>
          <p:nvPr/>
        </p:nvCxnSpPr>
        <p:spPr bwMode="auto">
          <a:xfrm flipV="1">
            <a:off x="3094278" y="3145216"/>
            <a:ext cx="1461389" cy="777329"/>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5" name="直線矢印コネクタ 44">
            <a:extLst>
              <a:ext uri="{FF2B5EF4-FFF2-40B4-BE49-F238E27FC236}">
                <a16:creationId xmlns:a16="http://schemas.microsoft.com/office/drawing/2014/main" id="{6C6F9090-5DC0-9A07-1750-22650D820377}"/>
              </a:ext>
            </a:extLst>
          </p:cNvPr>
          <p:cNvCxnSpPr>
            <a:cxnSpLocks/>
            <a:endCxn id="5" idx="1"/>
          </p:cNvCxnSpPr>
          <p:nvPr/>
        </p:nvCxnSpPr>
        <p:spPr bwMode="auto">
          <a:xfrm flipV="1">
            <a:off x="3094278" y="4196375"/>
            <a:ext cx="1461389" cy="2547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70853D89-B5D7-F979-D433-AF19207871C2}"/>
              </a:ext>
            </a:extLst>
          </p:cNvPr>
          <p:cNvCxnSpPr>
            <a:cxnSpLocks/>
            <a:endCxn id="6" idx="1"/>
          </p:cNvCxnSpPr>
          <p:nvPr/>
        </p:nvCxnSpPr>
        <p:spPr bwMode="auto">
          <a:xfrm>
            <a:off x="3102581" y="4462773"/>
            <a:ext cx="1453086" cy="726818"/>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2" name="直線矢印コネクタ 51">
            <a:extLst>
              <a:ext uri="{FF2B5EF4-FFF2-40B4-BE49-F238E27FC236}">
                <a16:creationId xmlns:a16="http://schemas.microsoft.com/office/drawing/2014/main" id="{2A99007D-900E-1010-CE3F-E02DDB9E7EF6}"/>
              </a:ext>
            </a:extLst>
          </p:cNvPr>
          <p:cNvCxnSpPr>
            <a:cxnSpLocks/>
            <a:stCxn id="4" idx="3"/>
            <a:endCxn id="15" idx="1"/>
          </p:cNvCxnSpPr>
          <p:nvPr/>
        </p:nvCxnSpPr>
        <p:spPr bwMode="auto">
          <a:xfrm flipV="1">
            <a:off x="6427875" y="3145215"/>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5" name="直線矢印コネクタ 54">
            <a:extLst>
              <a:ext uri="{FF2B5EF4-FFF2-40B4-BE49-F238E27FC236}">
                <a16:creationId xmlns:a16="http://schemas.microsoft.com/office/drawing/2014/main" id="{44D2952D-05D1-576D-8792-D4B4972FE101}"/>
              </a:ext>
            </a:extLst>
          </p:cNvPr>
          <p:cNvCxnSpPr>
            <a:cxnSpLocks/>
            <a:stCxn id="5" idx="3"/>
            <a:endCxn id="32" idx="1"/>
          </p:cNvCxnSpPr>
          <p:nvPr/>
        </p:nvCxnSpPr>
        <p:spPr bwMode="auto">
          <a:xfrm flipV="1">
            <a:off x="6427875" y="4196374"/>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8" name="直線矢印コネクタ 57">
            <a:extLst>
              <a:ext uri="{FF2B5EF4-FFF2-40B4-BE49-F238E27FC236}">
                <a16:creationId xmlns:a16="http://schemas.microsoft.com/office/drawing/2014/main" id="{36CF1339-93FC-E770-3815-288B4FC8A994}"/>
              </a:ext>
            </a:extLst>
          </p:cNvPr>
          <p:cNvCxnSpPr>
            <a:cxnSpLocks/>
            <a:stCxn id="6" idx="3"/>
            <a:endCxn id="39" idx="1"/>
          </p:cNvCxnSpPr>
          <p:nvPr/>
        </p:nvCxnSpPr>
        <p:spPr bwMode="auto">
          <a:xfrm flipV="1">
            <a:off x="6427875" y="5189590"/>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3" name="テキスト ボックス 62">
            <a:extLst>
              <a:ext uri="{FF2B5EF4-FFF2-40B4-BE49-F238E27FC236}">
                <a16:creationId xmlns:a16="http://schemas.microsoft.com/office/drawing/2014/main" id="{279F1780-6812-585A-F4D4-6BAD2694A19F}"/>
              </a:ext>
            </a:extLst>
          </p:cNvPr>
          <p:cNvSpPr txBox="1"/>
          <p:nvPr/>
        </p:nvSpPr>
        <p:spPr bwMode="auto">
          <a:xfrm>
            <a:off x="9316369" y="2824137"/>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Ａ社向け</a:t>
            </a:r>
            <a:r>
              <a:rPr kumimoji="1" lang="en-US" altLang="ja-JP" sz="1800" kern="0">
                <a:latin typeface="BIZ UDPゴシック" panose="020B0400000000000000" pitchFamily="50" charset="-128"/>
                <a:ea typeface="BIZ UDPゴシック" panose="020B0400000000000000" pitchFamily="50" charset="-128"/>
              </a:rPr>
              <a:t>pptx</a:t>
            </a:r>
          </a:p>
          <a:p>
            <a:pPr algn="l"/>
            <a:r>
              <a:rPr kumimoji="1" lang="ja-JP" altLang="en-US" sz="1800" kern="0">
                <a:latin typeface="BIZ UDPゴシック" panose="020B0400000000000000" pitchFamily="50" charset="-128"/>
                <a:ea typeface="BIZ UDPゴシック" panose="020B0400000000000000" pitchFamily="50" charset="-128"/>
              </a:rPr>
              <a:t>完成版</a:t>
            </a:r>
          </a:p>
        </p:txBody>
      </p:sp>
      <p:sp>
        <p:nvSpPr>
          <p:cNvPr id="64" name="テキスト ボックス 63">
            <a:extLst>
              <a:ext uri="{FF2B5EF4-FFF2-40B4-BE49-F238E27FC236}">
                <a16:creationId xmlns:a16="http://schemas.microsoft.com/office/drawing/2014/main" id="{D4CA9888-4F6E-67EA-2B2F-2B3A7C748A9B}"/>
              </a:ext>
            </a:extLst>
          </p:cNvPr>
          <p:cNvSpPr txBox="1"/>
          <p:nvPr/>
        </p:nvSpPr>
        <p:spPr bwMode="auto">
          <a:xfrm>
            <a:off x="9316369" y="3876784"/>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Ｂ社向け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5" name="テキスト ボックス 64">
            <a:extLst>
              <a:ext uri="{FF2B5EF4-FFF2-40B4-BE49-F238E27FC236}">
                <a16:creationId xmlns:a16="http://schemas.microsoft.com/office/drawing/2014/main" id="{8CA67E14-1704-EAC7-8A84-689A3C21028D}"/>
              </a:ext>
            </a:extLst>
          </p:cNvPr>
          <p:cNvSpPr txBox="1"/>
          <p:nvPr/>
        </p:nvSpPr>
        <p:spPr bwMode="auto">
          <a:xfrm>
            <a:off x="9316369" y="4863273"/>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Ｃ社向け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6" name="テキスト ボックス 65">
            <a:extLst>
              <a:ext uri="{FF2B5EF4-FFF2-40B4-BE49-F238E27FC236}">
                <a16:creationId xmlns:a16="http://schemas.microsoft.com/office/drawing/2014/main" id="{F565810B-C38A-7C5C-DF4A-3AA5A17ACAD9}"/>
              </a:ext>
            </a:extLst>
          </p:cNvPr>
          <p:cNvSpPr txBox="1"/>
          <p:nvPr/>
        </p:nvSpPr>
        <p:spPr bwMode="auto">
          <a:xfrm>
            <a:off x="6756645" y="2666755"/>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7" name="テキスト ボックス 66">
            <a:extLst>
              <a:ext uri="{FF2B5EF4-FFF2-40B4-BE49-F238E27FC236}">
                <a16:creationId xmlns:a16="http://schemas.microsoft.com/office/drawing/2014/main" id="{7444C727-3B0F-1E73-1876-7055097D5159}"/>
              </a:ext>
            </a:extLst>
          </p:cNvPr>
          <p:cNvSpPr txBox="1"/>
          <p:nvPr/>
        </p:nvSpPr>
        <p:spPr bwMode="auto">
          <a:xfrm>
            <a:off x="6756645" y="3717914"/>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8" name="テキスト ボックス 67">
            <a:extLst>
              <a:ext uri="{FF2B5EF4-FFF2-40B4-BE49-F238E27FC236}">
                <a16:creationId xmlns:a16="http://schemas.microsoft.com/office/drawing/2014/main" id="{AB53A389-031B-EF30-4701-8C4A503B9138}"/>
              </a:ext>
            </a:extLst>
          </p:cNvPr>
          <p:cNvSpPr txBox="1"/>
          <p:nvPr/>
        </p:nvSpPr>
        <p:spPr bwMode="auto">
          <a:xfrm>
            <a:off x="6756645" y="4760776"/>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277930" y="225358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90464"/>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部品を組み合わせて（マージして）自動的に完成版として構成する仕組み</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マスターを更新するだけで各社向け完成版にも反映可能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CCB49AB0-787C-600A-E1C4-ECB720C0AC6E}"/>
              </a:ext>
            </a:extLst>
          </p:cNvPr>
          <p:cNvSpPr txBox="1"/>
          <p:nvPr/>
        </p:nvSpPr>
        <p:spPr bwMode="auto">
          <a:xfrm>
            <a:off x="8272611"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マージ後は編集しない</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（ごく軽微な修正を除く）</a:t>
            </a:r>
          </a:p>
        </p:txBody>
      </p:sp>
      <p:sp>
        <p:nvSpPr>
          <p:cNvPr id="8" name="テキスト ボックス 7">
            <a:extLst>
              <a:ext uri="{FF2B5EF4-FFF2-40B4-BE49-F238E27FC236}">
                <a16:creationId xmlns:a16="http://schemas.microsoft.com/office/drawing/2014/main" id="{08D2D33F-1A53-D3F2-5940-A2A2F0B9A2A7}"/>
              </a:ext>
            </a:extLst>
          </p:cNvPr>
          <p:cNvSpPr txBox="1"/>
          <p:nvPr/>
        </p:nvSpPr>
        <p:spPr bwMode="auto">
          <a:xfrm>
            <a:off x="1143859"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更新は必ず部品マスター</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に対して行う</a:t>
            </a:r>
          </a:p>
        </p:txBody>
      </p:sp>
    </p:spTree>
    <p:extLst>
      <p:ext uri="{BB962C8B-B14F-4D97-AF65-F5344CB8AC3E}">
        <p14:creationId xmlns:p14="http://schemas.microsoft.com/office/powerpoint/2010/main" val="2982959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F5ED6265-0DC8-1365-B618-99538A75315F}"/>
              </a:ext>
            </a:extLst>
          </p:cNvPr>
          <p:cNvSpPr/>
          <p:nvPr/>
        </p:nvSpPr>
        <p:spPr bwMode="auto">
          <a:xfrm>
            <a:off x="770640" y="980728"/>
            <a:ext cx="10581943" cy="511256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6" name="正方形/長方形 75">
            <a:extLst>
              <a:ext uri="{FF2B5EF4-FFF2-40B4-BE49-F238E27FC236}">
                <a16:creationId xmlns:a16="http://schemas.microsoft.com/office/drawing/2014/main" id="{2D280E14-6454-AA36-C781-E5C4266B0123}"/>
              </a:ext>
            </a:extLst>
          </p:cNvPr>
          <p:cNvSpPr/>
          <p:nvPr/>
        </p:nvSpPr>
        <p:spPr bwMode="auto">
          <a:xfrm>
            <a:off x="9142815" y="3976194"/>
            <a:ext cx="1584176" cy="577489"/>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7" name="正方形/長方形 76">
            <a:extLst>
              <a:ext uri="{FF2B5EF4-FFF2-40B4-BE49-F238E27FC236}">
                <a16:creationId xmlns:a16="http://schemas.microsoft.com/office/drawing/2014/main" id="{FEC5FC33-47C1-D396-B788-7A259672076B}"/>
              </a:ext>
            </a:extLst>
          </p:cNvPr>
          <p:cNvSpPr/>
          <p:nvPr/>
        </p:nvSpPr>
        <p:spPr bwMode="auto">
          <a:xfrm>
            <a:off x="9142815" y="5077002"/>
            <a:ext cx="1584176" cy="577489"/>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2955221" y="303255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3.3) 自動マージするときに章・節番号を付与する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3088202" y="3601487"/>
            <a:ext cx="1329796" cy="541006"/>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Ａ項目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Ｂ項目</a:t>
            </a:r>
            <a:endParaRPr lang="en-US" altLang="ja-JP" sz="1600" kern="0">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088201" y="4213029"/>
            <a:ext cx="1329796" cy="541006"/>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Ｃ項目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Ｄ項目</a:t>
            </a:r>
            <a:endParaRPr kumimoji="1" lang="ja-JP" altLang="en-US" sz="16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3088202" y="315554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3088202" y="484916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3092352" y="529521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5013239" y="3504771"/>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使用する部品の指定</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章・節番号の指示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550976" y="4742159"/>
            <a:ext cx="436477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2734628" y="222769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自動マージプログラムで章・節番号を付与する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たとえば部品単位で「章」を構成できる</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5" name="テキスト ボックス 74">
            <a:extLst>
              <a:ext uri="{FF2B5EF4-FFF2-40B4-BE49-F238E27FC236}">
                <a16:creationId xmlns:a16="http://schemas.microsoft.com/office/drawing/2014/main" id="{F97902AE-363F-F7C6-E1CA-A24891DCE02A}"/>
              </a:ext>
            </a:extLst>
          </p:cNvPr>
          <p:cNvSpPr txBox="1"/>
          <p:nvPr/>
        </p:nvSpPr>
        <p:spPr bwMode="auto">
          <a:xfrm>
            <a:off x="8915755" y="3645024"/>
            <a:ext cx="2210176" cy="212595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noAutofit/>
          </a:bodyPr>
          <a:lstStyle/>
          <a:p>
            <a:r>
              <a:rPr lang="en-US" altLang="ja-JP" sz="1800" kern="0">
                <a:latin typeface="BIZ UDPゴシック" panose="020B0400000000000000" pitchFamily="50" charset="-128"/>
                <a:ea typeface="BIZ UDPゴシック" panose="020B0400000000000000" pitchFamily="50" charset="-128"/>
              </a:rPr>
              <a:t>1</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Ａ項目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Ｂ項目</a:t>
            </a:r>
            <a:endParaRPr lang="en-US" altLang="ja-JP" sz="1800" kern="0">
              <a:latin typeface="BIZ UDPゴシック" panose="020B0400000000000000" pitchFamily="50" charset="-128"/>
              <a:ea typeface="BIZ UDPゴシック" panose="020B0400000000000000" pitchFamily="50" charset="-128"/>
            </a:endParaRPr>
          </a:p>
          <a:p>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Ｃ項目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Ｄ項目</a:t>
            </a:r>
            <a:endParaRPr lang="en-US" altLang="ja-JP" sz="18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8AB0454B-0A80-B152-952A-C086311FA336}"/>
              </a:ext>
            </a:extLst>
          </p:cNvPr>
          <p:cNvSpPr txBox="1"/>
          <p:nvPr/>
        </p:nvSpPr>
        <p:spPr bwMode="auto">
          <a:xfrm>
            <a:off x="1080237" y="3907352"/>
            <a:ext cx="194147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部品側には番号</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付与しない</a:t>
            </a: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734502" y="2547060"/>
            <a:ext cx="257268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マージ時に番号付与するので各社向けの構成違いに対応できる</a:t>
            </a:r>
          </a:p>
        </p:txBody>
      </p:sp>
    </p:spTree>
    <p:extLst>
      <p:ext uri="{BB962C8B-B14F-4D97-AF65-F5344CB8AC3E}">
        <p14:creationId xmlns:p14="http://schemas.microsoft.com/office/powerpoint/2010/main" val="2512769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1061449" y="3163722"/>
            <a:ext cx="2730294"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客層：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a:t>
            </a:r>
          </a:p>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主力商品：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3.4) 補助機能：変数置換</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4373588" y="3035768"/>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TARGET=20</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035478" y="4273156"/>
            <a:ext cx="400473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193447"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部品上で変数</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プレースホルダーを用意</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定型的項目については変数置換可能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465209" y="2078057"/>
            <a:ext cx="257268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プレースホルダーが</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置換される</a:t>
            </a:r>
          </a:p>
        </p:txBody>
      </p:sp>
      <p:sp>
        <p:nvSpPr>
          <p:cNvPr id="8" name="テキスト ボックス 7">
            <a:extLst>
              <a:ext uri="{FF2B5EF4-FFF2-40B4-BE49-F238E27FC236}">
                <a16:creationId xmlns:a16="http://schemas.microsoft.com/office/drawing/2014/main" id="{7548904F-E724-260A-1746-729F976E887D}"/>
              </a:ext>
            </a:extLst>
          </p:cNvPr>
          <p:cNvSpPr txBox="1"/>
          <p:nvPr/>
        </p:nvSpPr>
        <p:spPr bwMode="auto">
          <a:xfrm>
            <a:off x="4583832"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マージ仕様書で変数値を</a:t>
            </a:r>
            <a:endParaRPr lang="en-US" altLang="ja-JP" sz="1800" kern="0">
              <a:latin typeface="BIZ UDPゴシック" panose="020B0400000000000000" pitchFamily="50" charset="-128"/>
              <a:ea typeface="BIZ UDPゴシック" panose="020B0400000000000000" pitchFamily="50" charset="-128"/>
            </a:endParaRPr>
          </a:p>
          <a:p>
            <a:r>
              <a:rPr kumimoji="1" lang="ja-JP" altLang="en-US" sz="1800" kern="0">
                <a:latin typeface="BIZ UDPゴシック" panose="020B0400000000000000" pitchFamily="50" charset="-128"/>
                <a:ea typeface="BIZ UDPゴシック" panose="020B0400000000000000" pitchFamily="50" charset="-128"/>
              </a:rPr>
              <a:t>設定する</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B7E886BB-4628-02F0-47F7-7E15E2B92342}"/>
              </a:ext>
            </a:extLst>
          </p:cNvPr>
          <p:cNvSpPr/>
          <p:nvPr/>
        </p:nvSpPr>
        <p:spPr bwMode="auto">
          <a:xfrm>
            <a:off x="8222524" y="3163722"/>
            <a:ext cx="3058052"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a:latin typeface="BIZ UDPゴシック" panose="020B0400000000000000" pitchFamily="50" charset="-128"/>
                <a:ea typeface="BIZ UDPゴシック" panose="020B0400000000000000" pitchFamily="50" charset="-128"/>
              </a:rPr>
              <a:t>客層： </a:t>
            </a:r>
            <a:r>
              <a:rPr lang="en-US" altLang="ja-JP">
                <a:latin typeface="BIZ UDPゴシック" panose="020B0400000000000000" pitchFamily="50" charset="-128"/>
                <a:ea typeface="BIZ UDPゴシック" panose="020B0400000000000000" pitchFamily="50" charset="-128"/>
              </a:rPr>
              <a:t>20</a:t>
            </a:r>
            <a:r>
              <a:rPr lang="ja-JP" altLang="en-US">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a:latin typeface="BIZ UDPゴシック" panose="020B0400000000000000" pitchFamily="50" charset="-128"/>
                <a:ea typeface="BIZ UDPゴシック" panose="020B0400000000000000" pitchFamily="50" charset="-128"/>
              </a:rPr>
              <a:t>主力商品： 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131278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70F47-554C-E8D4-6AC3-9A7DE16D444F}"/>
            </a:ext>
          </a:extLst>
        </p:cNvPr>
        <p:cNvGrpSpPr/>
        <p:nvPr/>
      </p:nvGrpSpPr>
      <p:grpSpPr>
        <a:xfrm>
          <a:off x="0" y="0"/>
          <a:ext cx="0" cy="0"/>
          <a:chOff x="0" y="0"/>
          <a:chExt cx="0" cy="0"/>
        </a:xfrm>
      </p:grpSpPr>
      <p:sp>
        <p:nvSpPr>
          <p:cNvPr id="26" name="exportrange">
            <a:extLst>
              <a:ext uri="{FF2B5EF4-FFF2-40B4-BE49-F238E27FC236}">
                <a16:creationId xmlns:a16="http://schemas.microsoft.com/office/drawing/2014/main" id="{A1563198-2E56-A7B5-BB89-C984CF7BD233}"/>
              </a:ext>
            </a:extLst>
          </p:cNvPr>
          <p:cNvSpPr/>
          <p:nvPr/>
        </p:nvSpPr>
        <p:spPr bwMode="auto">
          <a:xfrm>
            <a:off x="876508" y="944724"/>
            <a:ext cx="10620091" cy="543660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9F6ADF9B-A7EF-9456-A019-EAE6C3876D83}"/>
              </a:ext>
            </a:extLst>
          </p:cNvPr>
          <p:cNvSpPr>
            <a:spLocks noGrp="1"/>
          </p:cNvSpPr>
          <p:nvPr>
            <p:ph type="title"/>
          </p:nvPr>
        </p:nvSpPr>
        <p:spPr/>
        <p:txBody>
          <a:bodyPr/>
          <a:lstStyle/>
          <a:p>
            <a:r>
              <a:t>3.6) 補助機能： 一時メモ用シェイプの自動削除</a:t>
            </a:r>
          </a:p>
        </p:txBody>
      </p:sp>
      <p:sp>
        <p:nvSpPr>
          <p:cNvPr id="3" name="フッター プレースホルダー 2">
            <a:extLst>
              <a:ext uri="{FF2B5EF4-FFF2-40B4-BE49-F238E27FC236}">
                <a16:creationId xmlns:a16="http://schemas.microsoft.com/office/drawing/2014/main" id="{2F8581E3-69A9-3E77-7105-19073AC88A6B}"/>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16" name="グループ化 15">
            <a:extLst>
              <a:ext uri="{FF2B5EF4-FFF2-40B4-BE49-F238E27FC236}">
                <a16:creationId xmlns:a16="http://schemas.microsoft.com/office/drawing/2014/main" id="{4EEDDBEB-1D1F-5182-C666-EA5FB971F4CD}"/>
              </a:ext>
            </a:extLst>
          </p:cNvPr>
          <p:cNvGrpSpPr/>
          <p:nvPr/>
        </p:nvGrpSpPr>
        <p:grpSpPr>
          <a:xfrm>
            <a:off x="1127448" y="1943485"/>
            <a:ext cx="3024335" cy="1838902"/>
            <a:chOff x="911424" y="3163721"/>
            <a:chExt cx="3456383" cy="2104181"/>
          </a:xfrm>
        </p:grpSpPr>
        <p:sp>
          <p:nvSpPr>
            <p:cNvPr id="6" name="正方形/長方形 5">
              <a:extLst>
                <a:ext uri="{FF2B5EF4-FFF2-40B4-BE49-F238E27FC236}">
                  <a16:creationId xmlns:a16="http://schemas.microsoft.com/office/drawing/2014/main" id="{8F1515A1-7E1E-908D-B2EF-6617DFE87A29}"/>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949D798A-847D-277D-10EA-107B5FBB21D7}"/>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sp>
        <p:nvSpPr>
          <p:cNvPr id="30" name="テキスト ボックス 29">
            <a:extLst>
              <a:ext uri="{FF2B5EF4-FFF2-40B4-BE49-F238E27FC236}">
                <a16:creationId xmlns:a16="http://schemas.microsoft.com/office/drawing/2014/main" id="{2FCC6823-F3D9-5AD4-0230-FCD792AF5AD6}"/>
              </a:ext>
            </a:extLst>
          </p:cNvPr>
          <p:cNvSpPr txBox="1"/>
          <p:nvPr/>
        </p:nvSpPr>
        <p:spPr bwMode="auto">
          <a:xfrm>
            <a:off x="5159145" y="2461347"/>
            <a:ext cx="2326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必ず削除される</a:t>
            </a:r>
          </a:p>
        </p:txBody>
      </p:sp>
      <p:sp>
        <p:nvSpPr>
          <p:cNvPr id="31" name="テキスト ボックス 30">
            <a:extLst>
              <a:ext uri="{FF2B5EF4-FFF2-40B4-BE49-F238E27FC236}">
                <a16:creationId xmlns:a16="http://schemas.microsoft.com/office/drawing/2014/main" id="{91F6070A-662B-E818-9DFE-687C25C9A204}"/>
              </a:ext>
            </a:extLst>
          </p:cNvPr>
          <p:cNvSpPr txBox="1"/>
          <p:nvPr/>
        </p:nvSpPr>
        <p:spPr bwMode="auto">
          <a:xfrm>
            <a:off x="1985261" y="4060083"/>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sp>
        <p:nvSpPr>
          <p:cNvPr id="47" name="テキスト ボックス 46">
            <a:extLst>
              <a:ext uri="{FF2B5EF4-FFF2-40B4-BE49-F238E27FC236}">
                <a16:creationId xmlns:a16="http://schemas.microsoft.com/office/drawing/2014/main" id="{E65F883D-9FEC-6015-A3F6-F69F838C0DFE}"/>
              </a:ext>
            </a:extLst>
          </p:cNvPr>
          <p:cNvSpPr txBox="1"/>
          <p:nvPr/>
        </p:nvSpPr>
        <p:spPr bwMode="auto">
          <a:xfrm>
            <a:off x="3144421" y="4701838"/>
            <a:ext cx="6192688"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テキスト制作中の注意事項を記した付箋紙のような位置づけのシェイプ。本番資料では必ず削除しなければならないものだが、手動削除ではしばしば見落とされる。</a:t>
            </a:r>
            <a:endParaRPr kumimoji="1"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それを確実に削除されるようにするのがこの機能</a:t>
            </a:r>
          </a:p>
        </p:txBody>
      </p:sp>
      <p:pic>
        <p:nvPicPr>
          <p:cNvPr id="4" name="図 3">
            <a:extLst>
              <a:ext uri="{FF2B5EF4-FFF2-40B4-BE49-F238E27FC236}">
                <a16:creationId xmlns:a16="http://schemas.microsoft.com/office/drawing/2014/main" id="{A7483FAE-D793-A0E9-4E38-756CBF6238EC}"/>
              </a:ext>
            </a:extLst>
          </p:cNvPr>
          <p:cNvPicPr>
            <a:picLocks noChangeAspect="1"/>
          </p:cNvPicPr>
          <p:nvPr/>
        </p:nvPicPr>
        <p:blipFill>
          <a:blip r:embed="rId3"/>
          <a:stretch>
            <a:fillRect/>
          </a:stretch>
        </p:blipFill>
        <p:spPr>
          <a:xfrm>
            <a:off x="833982" y="987678"/>
            <a:ext cx="10443353" cy="658425"/>
          </a:xfrm>
          <a:prstGeom prst="rect">
            <a:avLst/>
          </a:prstGeom>
          <a:solidFill>
            <a:schemeClr val="bg1"/>
          </a:solidFill>
        </p:spPr>
      </p:pic>
      <p:grpSp>
        <p:nvGrpSpPr>
          <p:cNvPr id="8" name="グループ化 7">
            <a:extLst>
              <a:ext uri="{FF2B5EF4-FFF2-40B4-BE49-F238E27FC236}">
                <a16:creationId xmlns:a16="http://schemas.microsoft.com/office/drawing/2014/main" id="{A9ACEEB6-8A66-F8FF-5D39-96BBDD178938}"/>
              </a:ext>
            </a:extLst>
          </p:cNvPr>
          <p:cNvGrpSpPr/>
          <p:nvPr/>
        </p:nvGrpSpPr>
        <p:grpSpPr>
          <a:xfrm>
            <a:off x="7947652" y="1943485"/>
            <a:ext cx="3024335" cy="1838902"/>
            <a:chOff x="911424" y="3163721"/>
            <a:chExt cx="3456383" cy="2104181"/>
          </a:xfrm>
        </p:grpSpPr>
        <p:sp>
          <p:nvSpPr>
            <p:cNvPr id="10" name="正方形/長方形 9">
              <a:extLst>
                <a:ext uri="{FF2B5EF4-FFF2-40B4-BE49-F238E27FC236}">
                  <a16:creationId xmlns:a16="http://schemas.microsoft.com/office/drawing/2014/main" id="{7B7B0AD7-B0AD-B571-3A30-3EFC83FB6CE6}"/>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F7BF1EEF-4566-037F-014E-7F84FC62C890}"/>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cxnSp>
        <p:nvCxnSpPr>
          <p:cNvPr id="14" name="直線矢印コネクタ 13">
            <a:extLst>
              <a:ext uri="{FF2B5EF4-FFF2-40B4-BE49-F238E27FC236}">
                <a16:creationId xmlns:a16="http://schemas.microsoft.com/office/drawing/2014/main" id="{5534EA82-D37A-2CAB-C3B3-7CD3986E11FC}"/>
              </a:ext>
            </a:extLst>
          </p:cNvPr>
          <p:cNvCxnSpPr>
            <a:stCxn id="6" idx="3"/>
            <a:endCxn id="10" idx="1"/>
          </p:cNvCxnSpPr>
          <p:nvPr/>
        </p:nvCxnSpPr>
        <p:spPr bwMode="auto">
          <a:xfrm>
            <a:off x="4151783" y="2862936"/>
            <a:ext cx="379586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pic>
        <p:nvPicPr>
          <p:cNvPr id="25" name="図 24">
            <a:extLst>
              <a:ext uri="{FF2B5EF4-FFF2-40B4-BE49-F238E27FC236}">
                <a16:creationId xmlns:a16="http://schemas.microsoft.com/office/drawing/2014/main" id="{211F156F-2C4B-ED7E-FDCC-CBB4EEE5232E}"/>
              </a:ext>
            </a:extLst>
          </p:cNvPr>
          <p:cNvPicPr>
            <a:picLocks noChangeAspect="1"/>
          </p:cNvPicPr>
          <p:nvPr/>
        </p:nvPicPr>
        <p:blipFill>
          <a:blip r:embed="rId4"/>
          <a:stretch>
            <a:fillRect/>
          </a:stretch>
        </p:blipFill>
        <p:spPr>
          <a:xfrm>
            <a:off x="2671283" y="2314172"/>
            <a:ext cx="1457070" cy="597460"/>
          </a:xfrm>
          <a:prstGeom prst="rect">
            <a:avLst/>
          </a:prstGeom>
        </p:spPr>
      </p:pic>
      <p:cxnSp>
        <p:nvCxnSpPr>
          <p:cNvPr id="33" name="直線矢印コネクタ 32">
            <a:extLst>
              <a:ext uri="{FF2B5EF4-FFF2-40B4-BE49-F238E27FC236}">
                <a16:creationId xmlns:a16="http://schemas.microsoft.com/office/drawing/2014/main" id="{875B9659-7A36-2709-C765-999D4B802235}"/>
              </a:ext>
            </a:extLst>
          </p:cNvPr>
          <p:cNvCxnSpPr>
            <a:cxnSpLocks/>
          </p:cNvCxnSpPr>
          <p:nvPr/>
        </p:nvCxnSpPr>
        <p:spPr bwMode="auto">
          <a:xfrm flipV="1">
            <a:off x="2561325" y="2830679"/>
            <a:ext cx="583096" cy="125721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Tree>
    <p:extLst>
      <p:ext uri="{BB962C8B-B14F-4D97-AF65-F5344CB8AC3E}">
        <p14:creationId xmlns:p14="http://schemas.microsoft.com/office/powerpoint/2010/main" val="751721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ja-JP" altLang="en-US" sz="4000"/>
              <a:t>現時点の機能解説は</a:t>
            </a:r>
            <a:r>
              <a:rPr lang="en-US" altLang="ja-JP" sz="4000"/>
              <a:t>PPTX</a:t>
            </a:r>
            <a:r>
              <a:rPr lang="ja-JP" altLang="en-US" sz="4000"/>
              <a:t>生成機能のみ</a:t>
            </a:r>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7560647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exportrange">
            <a:extLst>
              <a:ext uri="{FF2B5EF4-FFF2-40B4-BE49-F238E27FC236}">
                <a16:creationId xmlns:a16="http://schemas.microsoft.com/office/drawing/2014/main" id="{526BEC3E-C976-13BB-1D41-23D6198BB2B3}"/>
              </a:ext>
            </a:extLst>
          </p:cNvPr>
          <p:cNvSpPr/>
          <p:nvPr/>
        </p:nvSpPr>
        <p:spPr bwMode="auto">
          <a:xfrm>
            <a:off x="695400" y="1079545"/>
            <a:ext cx="10441160" cy="559705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8" name="四角形: 角を丸くする 57">
            <a:extLst>
              <a:ext uri="{FF2B5EF4-FFF2-40B4-BE49-F238E27FC236}">
                <a16:creationId xmlns:a16="http://schemas.microsoft.com/office/drawing/2014/main" id="{E7D731E8-E5F4-6A16-D175-64D19AE5BCB9}"/>
              </a:ext>
            </a:extLst>
          </p:cNvPr>
          <p:cNvSpPr/>
          <p:nvPr/>
        </p:nvSpPr>
        <p:spPr bwMode="auto">
          <a:xfrm>
            <a:off x="1055440" y="2747481"/>
            <a:ext cx="9244586" cy="1626050"/>
          </a:xfrm>
          <a:prstGeom prst="roundRect">
            <a:avLst/>
          </a:prstGeom>
          <a:solidFill>
            <a:schemeClr val="bg1"/>
          </a:solidFill>
          <a:ln w="28575" cap="flat" cmpd="sng" algn="ctr">
            <a:solidFill>
              <a:schemeClr val="accent2"/>
            </a:solidFill>
            <a:prstDash val="dash"/>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B63437F-8847-9945-31CF-4F9CA1A2F84B}"/>
              </a:ext>
            </a:extLst>
          </p:cNvPr>
          <p:cNvSpPr>
            <a:spLocks noGrp="1"/>
          </p:cNvSpPr>
          <p:nvPr>
            <p:ph type="title"/>
          </p:nvPr>
        </p:nvSpPr>
        <p:spPr/>
        <p:txBody>
          <a:bodyPr/>
          <a:lstStyle/>
          <a:p>
            <a:r>
              <a:t>4.1) PPTX生成機能と、その他の形式文書生成機能</a:t>
            </a:r>
          </a:p>
        </p:txBody>
      </p:sp>
      <p:sp>
        <p:nvSpPr>
          <p:cNvPr id="3" name="フッター プレースホルダー 2">
            <a:extLst>
              <a:ext uri="{FF2B5EF4-FFF2-40B4-BE49-F238E27FC236}">
                <a16:creationId xmlns:a16="http://schemas.microsoft.com/office/drawing/2014/main" id="{87B4DBC7-DFE5-ED73-9782-505D6EF83FAD}"/>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grpSp>
        <p:nvGrpSpPr>
          <p:cNvPr id="4" name="グループ化 3">
            <a:extLst>
              <a:ext uri="{FF2B5EF4-FFF2-40B4-BE49-F238E27FC236}">
                <a16:creationId xmlns:a16="http://schemas.microsoft.com/office/drawing/2014/main" id="{13792284-F89A-BD2E-0B6A-182527D36FB5}"/>
              </a:ext>
            </a:extLst>
          </p:cNvPr>
          <p:cNvGrpSpPr/>
          <p:nvPr/>
        </p:nvGrpSpPr>
        <p:grpSpPr>
          <a:xfrm>
            <a:off x="2063552" y="3680517"/>
            <a:ext cx="730509" cy="730509"/>
            <a:chOff x="3503712" y="3429000"/>
            <a:chExt cx="936104" cy="936104"/>
          </a:xfrm>
        </p:grpSpPr>
        <p:sp>
          <p:nvSpPr>
            <p:cNvPr id="5" name="正方形/長方形 4">
              <a:extLst>
                <a:ext uri="{FF2B5EF4-FFF2-40B4-BE49-F238E27FC236}">
                  <a16:creationId xmlns:a16="http://schemas.microsoft.com/office/drawing/2014/main" id="{39456386-3AA4-2F2E-C28B-50881632A89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 name="図 5">
              <a:extLst>
                <a:ext uri="{FF2B5EF4-FFF2-40B4-BE49-F238E27FC236}">
                  <a16:creationId xmlns:a16="http://schemas.microsoft.com/office/drawing/2014/main" id="{FDF16080-8411-7B5D-7DE3-127D9CBADE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 name="グループ化 6">
            <a:extLst>
              <a:ext uri="{FF2B5EF4-FFF2-40B4-BE49-F238E27FC236}">
                <a16:creationId xmlns:a16="http://schemas.microsoft.com/office/drawing/2014/main" id="{EEE00742-FFE5-D2BE-6972-5515682F1984}"/>
              </a:ext>
            </a:extLst>
          </p:cNvPr>
          <p:cNvGrpSpPr/>
          <p:nvPr/>
        </p:nvGrpSpPr>
        <p:grpSpPr>
          <a:xfrm>
            <a:off x="1901809" y="3589561"/>
            <a:ext cx="730509" cy="730509"/>
            <a:chOff x="3503712" y="3429000"/>
            <a:chExt cx="936104" cy="936104"/>
          </a:xfrm>
        </p:grpSpPr>
        <p:sp>
          <p:nvSpPr>
            <p:cNvPr id="8" name="正方形/長方形 7">
              <a:extLst>
                <a:ext uri="{FF2B5EF4-FFF2-40B4-BE49-F238E27FC236}">
                  <a16:creationId xmlns:a16="http://schemas.microsoft.com/office/drawing/2014/main" id="{7A5E3CE8-2864-1676-3E38-F1C3C229BD05}"/>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9" name="図 8">
              <a:extLst>
                <a:ext uri="{FF2B5EF4-FFF2-40B4-BE49-F238E27FC236}">
                  <a16:creationId xmlns:a16="http://schemas.microsoft.com/office/drawing/2014/main" id="{BC2D0CCD-49FA-7E5B-4D9A-D7431335CF7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0" name="グループ化 9">
            <a:extLst>
              <a:ext uri="{FF2B5EF4-FFF2-40B4-BE49-F238E27FC236}">
                <a16:creationId xmlns:a16="http://schemas.microsoft.com/office/drawing/2014/main" id="{08150B80-7F70-C770-925C-974110CEF185}"/>
              </a:ext>
            </a:extLst>
          </p:cNvPr>
          <p:cNvGrpSpPr/>
          <p:nvPr/>
        </p:nvGrpSpPr>
        <p:grpSpPr>
          <a:xfrm>
            <a:off x="1740065" y="3498606"/>
            <a:ext cx="730509" cy="730509"/>
            <a:chOff x="3503712" y="3429000"/>
            <a:chExt cx="936104" cy="936104"/>
          </a:xfrm>
        </p:grpSpPr>
        <p:sp>
          <p:nvSpPr>
            <p:cNvPr id="11" name="正方形/長方形 10">
              <a:extLst>
                <a:ext uri="{FF2B5EF4-FFF2-40B4-BE49-F238E27FC236}">
                  <a16:creationId xmlns:a16="http://schemas.microsoft.com/office/drawing/2014/main" id="{EBFF3BE2-271B-F642-5176-65D53D7CFB7E}"/>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BB021D07-AE5B-E1D2-7969-91846A420B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3" name="グループ化 12">
            <a:extLst>
              <a:ext uri="{FF2B5EF4-FFF2-40B4-BE49-F238E27FC236}">
                <a16:creationId xmlns:a16="http://schemas.microsoft.com/office/drawing/2014/main" id="{7C343B21-D43B-AEE2-E7B1-F96FB9501EF0}"/>
              </a:ext>
            </a:extLst>
          </p:cNvPr>
          <p:cNvGrpSpPr/>
          <p:nvPr/>
        </p:nvGrpSpPr>
        <p:grpSpPr>
          <a:xfrm>
            <a:off x="1578321" y="3407651"/>
            <a:ext cx="730509" cy="730509"/>
            <a:chOff x="3503712" y="3429000"/>
            <a:chExt cx="936104" cy="936104"/>
          </a:xfrm>
        </p:grpSpPr>
        <p:sp>
          <p:nvSpPr>
            <p:cNvPr id="14" name="正方形/長方形 13">
              <a:extLst>
                <a:ext uri="{FF2B5EF4-FFF2-40B4-BE49-F238E27FC236}">
                  <a16:creationId xmlns:a16="http://schemas.microsoft.com/office/drawing/2014/main" id="{AC60289F-42BF-49C6-5AA5-C115FF48CBD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5" name="図 14">
              <a:extLst>
                <a:ext uri="{FF2B5EF4-FFF2-40B4-BE49-F238E27FC236}">
                  <a16:creationId xmlns:a16="http://schemas.microsoft.com/office/drawing/2014/main" id="{CB9BA5E2-6F18-26CD-36D6-8A84C4C149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17" name="テキスト ボックス 16">
            <a:extLst>
              <a:ext uri="{FF2B5EF4-FFF2-40B4-BE49-F238E27FC236}">
                <a16:creationId xmlns:a16="http://schemas.microsoft.com/office/drawing/2014/main" id="{35EB2FF5-FC9F-2639-C922-344561EE4B5A}"/>
              </a:ext>
            </a:extLst>
          </p:cNvPr>
          <p:cNvSpPr txBox="1"/>
          <p:nvPr/>
        </p:nvSpPr>
        <p:spPr bwMode="auto">
          <a:xfrm>
            <a:off x="1182793" y="2851020"/>
            <a:ext cx="23209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文書部品マスター</a:t>
            </a:r>
          </a:p>
        </p:txBody>
      </p:sp>
      <p:grpSp>
        <p:nvGrpSpPr>
          <p:cNvPr id="18" name="グループ化 17">
            <a:extLst>
              <a:ext uri="{FF2B5EF4-FFF2-40B4-BE49-F238E27FC236}">
                <a16:creationId xmlns:a16="http://schemas.microsoft.com/office/drawing/2014/main" id="{689560D3-7A8E-E7AB-21D3-4C0103460832}"/>
              </a:ext>
            </a:extLst>
          </p:cNvPr>
          <p:cNvGrpSpPr/>
          <p:nvPr/>
        </p:nvGrpSpPr>
        <p:grpSpPr>
          <a:xfrm>
            <a:off x="8931124" y="3492561"/>
            <a:ext cx="730509" cy="730509"/>
            <a:chOff x="3503712" y="3429000"/>
            <a:chExt cx="936104" cy="936104"/>
          </a:xfrm>
        </p:grpSpPr>
        <p:sp>
          <p:nvSpPr>
            <p:cNvPr id="19" name="正方形/長方形 18">
              <a:extLst>
                <a:ext uri="{FF2B5EF4-FFF2-40B4-BE49-F238E27FC236}">
                  <a16:creationId xmlns:a16="http://schemas.microsoft.com/office/drawing/2014/main" id="{4AD109BC-7151-64C6-EFC9-C9F9C1F9FE5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0" name="図 19">
              <a:extLst>
                <a:ext uri="{FF2B5EF4-FFF2-40B4-BE49-F238E27FC236}">
                  <a16:creationId xmlns:a16="http://schemas.microsoft.com/office/drawing/2014/main" id="{52168FA2-B2E2-B281-8982-523C257A07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21" name="テキスト ボックス 20">
            <a:extLst>
              <a:ext uri="{FF2B5EF4-FFF2-40B4-BE49-F238E27FC236}">
                <a16:creationId xmlns:a16="http://schemas.microsoft.com/office/drawing/2014/main" id="{435ECA10-2D20-8A5C-3DB7-A89424AC1C33}"/>
              </a:ext>
            </a:extLst>
          </p:cNvPr>
          <p:cNvSpPr txBox="1"/>
          <p:nvPr/>
        </p:nvSpPr>
        <p:spPr bwMode="auto">
          <a:xfrm>
            <a:off x="8602363" y="2851020"/>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結合</a:t>
            </a:r>
            <a:r>
              <a:rPr kumimoji="1" lang="en-US" altLang="ja-JP" kern="0">
                <a:latin typeface="BIZ UDPゴシック" panose="020B0400000000000000" pitchFamily="50" charset="-128"/>
                <a:ea typeface="BIZ UDPゴシック" panose="020B0400000000000000" pitchFamily="50" charset="-128"/>
              </a:rPr>
              <a:t>PPTX</a:t>
            </a:r>
            <a:endParaRPr kumimoji="1" lang="ja-JP" altLang="en-US" kern="0">
              <a:latin typeface="BIZ UDPゴシック" panose="020B0400000000000000" pitchFamily="50" charset="-128"/>
              <a:ea typeface="BIZ UDPゴシック" panose="020B0400000000000000" pitchFamily="50" charset="-128"/>
            </a:endParaRPr>
          </a:p>
        </p:txBody>
      </p:sp>
      <p:sp>
        <p:nvSpPr>
          <p:cNvPr id="22" name="四角形: 角を丸くする 21">
            <a:extLst>
              <a:ext uri="{FF2B5EF4-FFF2-40B4-BE49-F238E27FC236}">
                <a16:creationId xmlns:a16="http://schemas.microsoft.com/office/drawing/2014/main" id="{956B80C2-D07D-CD45-FB72-08EE66516550}"/>
              </a:ext>
            </a:extLst>
          </p:cNvPr>
          <p:cNvSpPr/>
          <p:nvPr/>
        </p:nvSpPr>
        <p:spPr bwMode="auto">
          <a:xfrm>
            <a:off x="4035629" y="3533779"/>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2400">
                <a:solidFill>
                  <a:schemeClr val="bg1"/>
                </a:solidFill>
                <a:latin typeface="BIZ UDPゴシック" panose="020B0400000000000000" pitchFamily="50" charset="-128"/>
                <a:ea typeface="BIZ UDPゴシック" panose="020B0400000000000000" pitchFamily="50" charset="-128"/>
              </a:rPr>
              <a:t>PPTX</a:t>
            </a:r>
            <a:r>
              <a:rPr lang="ja-JP" altLang="en-US" sz="2400">
                <a:solidFill>
                  <a:schemeClr val="bg1"/>
                </a:solidFill>
                <a:latin typeface="BIZ UDPゴシック" panose="020B0400000000000000" pitchFamily="50" charset="-128"/>
                <a:ea typeface="BIZ UDPゴシック" panose="020B0400000000000000" pitchFamily="50" charset="-128"/>
              </a:rPr>
              <a:t>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cxnSp>
        <p:nvCxnSpPr>
          <p:cNvPr id="24" name="直線矢印コネクタ 23">
            <a:extLst>
              <a:ext uri="{FF2B5EF4-FFF2-40B4-BE49-F238E27FC236}">
                <a16:creationId xmlns:a16="http://schemas.microsoft.com/office/drawing/2014/main" id="{ED71F25B-CC6D-CA5C-912C-39DA09F67D3D}"/>
              </a:ext>
            </a:extLst>
          </p:cNvPr>
          <p:cNvCxnSpPr>
            <a:cxnSpLocks/>
            <a:stCxn id="11" idx="3"/>
            <a:endCxn id="22" idx="1"/>
          </p:cNvCxnSpPr>
          <p:nvPr/>
        </p:nvCxnSpPr>
        <p:spPr bwMode="auto">
          <a:xfrm flipV="1">
            <a:off x="2470574" y="3857815"/>
            <a:ext cx="1565055" cy="6046"/>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25" name="直線矢印コネクタ 24">
            <a:extLst>
              <a:ext uri="{FF2B5EF4-FFF2-40B4-BE49-F238E27FC236}">
                <a16:creationId xmlns:a16="http://schemas.microsoft.com/office/drawing/2014/main" id="{BB84ED87-C18D-4ABD-6602-C4F9FB159522}"/>
              </a:ext>
            </a:extLst>
          </p:cNvPr>
          <p:cNvCxnSpPr>
            <a:cxnSpLocks/>
            <a:stCxn id="22" idx="3"/>
          </p:cNvCxnSpPr>
          <p:nvPr/>
        </p:nvCxnSpPr>
        <p:spPr bwMode="auto">
          <a:xfrm>
            <a:off x="6649519" y="3857815"/>
            <a:ext cx="18947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28" name="四角形: 角を丸くする 27">
            <a:extLst>
              <a:ext uri="{FF2B5EF4-FFF2-40B4-BE49-F238E27FC236}">
                <a16:creationId xmlns:a16="http://schemas.microsoft.com/office/drawing/2014/main" id="{9FF7AA73-9458-4593-D495-107AB88B269D}"/>
              </a:ext>
            </a:extLst>
          </p:cNvPr>
          <p:cNvSpPr/>
          <p:nvPr/>
        </p:nvSpPr>
        <p:spPr bwMode="auto">
          <a:xfrm>
            <a:off x="4035629" y="5490994"/>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ja-JP" altLang="en-US" sz="2400">
                <a:solidFill>
                  <a:schemeClr val="bg1"/>
                </a:solidFill>
                <a:latin typeface="BIZ UDPゴシック" panose="020B0400000000000000" pitchFamily="50" charset="-128"/>
                <a:ea typeface="BIZ UDPゴシック" panose="020B0400000000000000" pitchFamily="50" charset="-128"/>
              </a:rPr>
              <a:t>他形式生成機能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sp>
        <p:nvSpPr>
          <p:cNvPr id="29" name="四角形: 角を丸くする 28">
            <a:extLst>
              <a:ext uri="{FF2B5EF4-FFF2-40B4-BE49-F238E27FC236}">
                <a16:creationId xmlns:a16="http://schemas.microsoft.com/office/drawing/2014/main" id="{F882EA74-9D68-828E-8D7B-5282D48BAB9C}"/>
              </a:ext>
            </a:extLst>
          </p:cNvPr>
          <p:cNvSpPr/>
          <p:nvPr/>
        </p:nvSpPr>
        <p:spPr bwMode="auto">
          <a:xfrm>
            <a:off x="8386339" y="5198077"/>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0" name="四角形: 角を丸くする 29">
            <a:extLst>
              <a:ext uri="{FF2B5EF4-FFF2-40B4-BE49-F238E27FC236}">
                <a16:creationId xmlns:a16="http://schemas.microsoft.com/office/drawing/2014/main" id="{4E116AEB-3039-235E-1D6B-C313EE2DAD0E}"/>
              </a:ext>
            </a:extLst>
          </p:cNvPr>
          <p:cNvSpPr/>
          <p:nvPr/>
        </p:nvSpPr>
        <p:spPr bwMode="auto">
          <a:xfrm>
            <a:off x="8386339" y="5627886"/>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1" name="四角形: 角を丸くする 30">
            <a:extLst>
              <a:ext uri="{FF2B5EF4-FFF2-40B4-BE49-F238E27FC236}">
                <a16:creationId xmlns:a16="http://schemas.microsoft.com/office/drawing/2014/main" id="{6F07D323-B22D-45C2-4EAC-A844AE95D1BD}"/>
              </a:ext>
            </a:extLst>
          </p:cNvPr>
          <p:cNvSpPr/>
          <p:nvPr/>
        </p:nvSpPr>
        <p:spPr bwMode="auto">
          <a:xfrm>
            <a:off x="8386339" y="6083572"/>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34" name="コネクタ: カギ線 33">
            <a:extLst>
              <a:ext uri="{FF2B5EF4-FFF2-40B4-BE49-F238E27FC236}">
                <a16:creationId xmlns:a16="http://schemas.microsoft.com/office/drawing/2014/main" id="{42A44C88-6CF1-D948-495B-E4049AF23959}"/>
              </a:ext>
            </a:extLst>
          </p:cNvPr>
          <p:cNvCxnSpPr>
            <a:stCxn id="11" idx="2"/>
            <a:endCxn id="28" idx="1"/>
          </p:cNvCxnSpPr>
          <p:nvPr/>
        </p:nvCxnSpPr>
        <p:spPr bwMode="auto">
          <a:xfrm rot="16200000" flipH="1">
            <a:off x="2277517" y="4056917"/>
            <a:ext cx="1585915" cy="1930309"/>
          </a:xfrm>
          <a:prstGeom prst="bentConnector2">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36" name="左中かっこ 35">
            <a:extLst>
              <a:ext uri="{FF2B5EF4-FFF2-40B4-BE49-F238E27FC236}">
                <a16:creationId xmlns:a16="http://schemas.microsoft.com/office/drawing/2014/main" id="{EC168CD6-995A-B592-D36E-3CD173DA7B58}"/>
              </a:ext>
            </a:extLst>
          </p:cNvPr>
          <p:cNvSpPr/>
          <p:nvPr/>
        </p:nvSpPr>
        <p:spPr bwMode="auto">
          <a:xfrm>
            <a:off x="7824192" y="5096252"/>
            <a:ext cx="486721" cy="1437557"/>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37" name="直線矢印コネクタ 36">
            <a:extLst>
              <a:ext uri="{FF2B5EF4-FFF2-40B4-BE49-F238E27FC236}">
                <a16:creationId xmlns:a16="http://schemas.microsoft.com/office/drawing/2014/main" id="{33A16EDF-A832-AD85-32BC-3B5251B36CC5}"/>
              </a:ext>
            </a:extLst>
          </p:cNvPr>
          <p:cNvCxnSpPr>
            <a:cxnSpLocks/>
            <a:stCxn id="28" idx="3"/>
            <a:endCxn id="36" idx="1"/>
          </p:cNvCxnSpPr>
          <p:nvPr/>
        </p:nvCxnSpPr>
        <p:spPr bwMode="auto">
          <a:xfrm>
            <a:off x="6649519" y="5815030"/>
            <a:ext cx="1174673" cy="1"/>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40" name="テキスト ボックス 39">
            <a:extLst>
              <a:ext uri="{FF2B5EF4-FFF2-40B4-BE49-F238E27FC236}">
                <a16:creationId xmlns:a16="http://schemas.microsoft.com/office/drawing/2014/main" id="{01466E25-BA3E-AD66-95FB-48AFB5FA91CE}"/>
              </a:ext>
            </a:extLst>
          </p:cNvPr>
          <p:cNvSpPr txBox="1"/>
          <p:nvPr/>
        </p:nvSpPr>
        <p:spPr bwMode="auto">
          <a:xfrm>
            <a:off x="8602363" y="4766849"/>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他形式文書</a:t>
            </a:r>
          </a:p>
        </p:txBody>
      </p:sp>
      <p:sp>
        <p:nvSpPr>
          <p:cNvPr id="41" name="正方形/長方形 40">
            <a:extLst>
              <a:ext uri="{FF2B5EF4-FFF2-40B4-BE49-F238E27FC236}">
                <a16:creationId xmlns:a16="http://schemas.microsoft.com/office/drawing/2014/main" id="{5699D745-7DBD-817C-7E92-9CA547CC2133}"/>
              </a:ext>
            </a:extLst>
          </p:cNvPr>
          <p:cNvSpPr/>
          <p:nvPr/>
        </p:nvSpPr>
        <p:spPr bwMode="auto">
          <a:xfrm>
            <a:off x="4549965" y="4550005"/>
            <a:ext cx="1585219" cy="64807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3" name="直線矢印コネクタ 42">
            <a:extLst>
              <a:ext uri="{FF2B5EF4-FFF2-40B4-BE49-F238E27FC236}">
                <a16:creationId xmlns:a16="http://schemas.microsoft.com/office/drawing/2014/main" id="{ED8CB43B-DE58-E8FC-A128-94CDC1A6FB6E}"/>
              </a:ext>
            </a:extLst>
          </p:cNvPr>
          <p:cNvCxnSpPr>
            <a:stCxn id="41" idx="0"/>
            <a:endCxn id="22" idx="2"/>
          </p:cNvCxnSpPr>
          <p:nvPr/>
        </p:nvCxnSpPr>
        <p:spPr bwMode="auto">
          <a:xfrm flipH="1" flipV="1">
            <a:off x="5342574" y="4181851"/>
            <a:ext cx="1" cy="368154"/>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4" name="直線矢印コネクタ 43">
            <a:extLst>
              <a:ext uri="{FF2B5EF4-FFF2-40B4-BE49-F238E27FC236}">
                <a16:creationId xmlns:a16="http://schemas.microsoft.com/office/drawing/2014/main" id="{DF64B8BD-8220-712E-AB9E-E0A9A5B9CF9D}"/>
              </a:ext>
            </a:extLst>
          </p:cNvPr>
          <p:cNvCxnSpPr>
            <a:cxnSpLocks/>
            <a:stCxn id="41" idx="2"/>
            <a:endCxn id="28" idx="0"/>
          </p:cNvCxnSpPr>
          <p:nvPr/>
        </p:nvCxnSpPr>
        <p:spPr bwMode="auto">
          <a:xfrm flipH="1">
            <a:off x="5342574" y="5198077"/>
            <a:ext cx="1" cy="292917"/>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5" name="テキスト ボックス 54">
            <a:extLst>
              <a:ext uri="{FF2B5EF4-FFF2-40B4-BE49-F238E27FC236}">
                <a16:creationId xmlns:a16="http://schemas.microsoft.com/office/drawing/2014/main" id="{2462A5B5-752B-7397-B127-D4AC34580765}"/>
              </a:ext>
            </a:extLst>
          </p:cNvPr>
          <p:cNvSpPr txBox="1"/>
          <p:nvPr/>
        </p:nvSpPr>
        <p:spPr bwMode="auto">
          <a:xfrm>
            <a:off x="916918" y="1124744"/>
            <a:ext cx="1036365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共通の構成指示ファイルを元に、結合</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と他形式文書を生成可能</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全形式に対して共通の付番ができる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現時点の機能解説は</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生成機能についてのみ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9" name="テキスト ボックス 58">
            <a:extLst>
              <a:ext uri="{FF2B5EF4-FFF2-40B4-BE49-F238E27FC236}">
                <a16:creationId xmlns:a16="http://schemas.microsoft.com/office/drawing/2014/main" id="{360228E2-A8E7-7B88-BBC2-46AA26852C31}"/>
              </a:ext>
            </a:extLst>
          </p:cNvPr>
          <p:cNvSpPr txBox="1"/>
          <p:nvPr/>
        </p:nvSpPr>
        <p:spPr bwMode="auto">
          <a:xfrm>
            <a:off x="8465420" y="2204864"/>
            <a:ext cx="267798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solidFill>
                  <a:schemeClr val="accent2"/>
                </a:solidFill>
                <a:latin typeface="BIZ UDPゴシック" panose="020B0400000000000000" pitchFamily="50" charset="-128"/>
                <a:ea typeface="BIZ UDPゴシック" panose="020B0400000000000000" pitchFamily="50" charset="-128"/>
              </a:rPr>
              <a:t>現時点の機能解説範囲</a:t>
            </a:r>
          </a:p>
        </p:txBody>
      </p:sp>
      <p:cxnSp>
        <p:nvCxnSpPr>
          <p:cNvPr id="70" name="直線コネクタ 69">
            <a:extLst>
              <a:ext uri="{FF2B5EF4-FFF2-40B4-BE49-F238E27FC236}">
                <a16:creationId xmlns:a16="http://schemas.microsoft.com/office/drawing/2014/main" id="{60F54DDB-DEB9-06FF-82B9-3DE6C844D0A6}"/>
              </a:ext>
            </a:extLst>
          </p:cNvPr>
          <p:cNvCxnSpPr/>
          <p:nvPr/>
        </p:nvCxnSpPr>
        <p:spPr bwMode="auto">
          <a:xfrm flipV="1">
            <a:off x="8544272" y="2564904"/>
            <a:ext cx="144016" cy="182577"/>
          </a:xfrm>
          <a:prstGeom prst="line">
            <a:avLst/>
          </a:prstGeom>
          <a:solidFill>
            <a:srgbClr val="CCFFFF"/>
          </a:solidFill>
          <a:ln w="28575" cap="flat" cmpd="sng" algn="ctr">
            <a:solidFill>
              <a:schemeClr val="accent2"/>
            </a:solidFill>
            <a:prstDash val="solid"/>
            <a:round/>
            <a:headEnd type="none" w="med" len="med"/>
            <a:tailEnd type="none" w="med" len="med"/>
          </a:ln>
          <a:effectLst/>
        </p:spPr>
      </p:cxnSp>
    </p:spTree>
    <p:extLst>
      <p:ext uri="{BB962C8B-B14F-4D97-AF65-F5344CB8AC3E}">
        <p14:creationId xmlns:p14="http://schemas.microsoft.com/office/powerpoint/2010/main" val="32055245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6C6D-EF5A-8A92-ACF6-75AC015514B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85A41A44-DCD2-AC31-7A40-0D24858014E2}"/>
              </a:ext>
            </a:extLst>
          </p:cNvPr>
          <p:cNvSpPr>
            <a:spLocks noGrp="1"/>
          </p:cNvSpPr>
          <p:nvPr>
            <p:ph type="title" idx="4294967295"/>
          </p:nvPr>
        </p:nvSpPr>
        <p:spPr>
          <a:xfrm>
            <a:off x="1415480" y="3068638"/>
            <a:ext cx="9877425" cy="501650"/>
          </a:xfrm>
        </p:spPr>
        <p:txBody>
          <a:bodyPr anchor="ctr"/>
          <a:lstStyle/>
          <a:p>
            <a:pPr algn="ctr"/>
            <a:r>
              <a:rPr lang="en-US" altLang="ja-JP" sz="4000"/>
              <a:t>Requirements &amp; Quick Start</a:t>
            </a:r>
            <a:endParaRPr lang="ja-JP" altLang="en-US" sz="4000"/>
          </a:p>
        </p:txBody>
      </p:sp>
      <p:sp>
        <p:nvSpPr>
          <p:cNvPr id="2" name="テキスト ボックス 1">
            <a:extLst>
              <a:ext uri="{FF2B5EF4-FFF2-40B4-BE49-F238E27FC236}">
                <a16:creationId xmlns:a16="http://schemas.microsoft.com/office/drawing/2014/main" id="{6CDBC7D1-EE6D-792A-27B7-31E5D19CE043}"/>
              </a:ext>
            </a:extLst>
          </p:cNvPr>
          <p:cNvSpPr txBox="1"/>
          <p:nvPr/>
        </p:nvSpPr>
        <p:spPr bwMode="auto">
          <a:xfrm>
            <a:off x="1127448" y="1052736"/>
            <a:ext cx="288032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endParaRPr kumimoji="1" lang="ja-JP" altLang="en-US" sz="3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0679059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529258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t>5.1) システム要件</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487488" y="1523375"/>
            <a:ext cx="56886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Windows10/11</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ＯＳ</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A38B5325-AD49-398E-03AC-7900310CF9E1}"/>
              </a:ext>
            </a:extLst>
          </p:cNvPr>
          <p:cNvSpPr txBox="1"/>
          <p:nvPr/>
        </p:nvSpPr>
        <p:spPr bwMode="auto">
          <a:xfrm>
            <a:off x="916918" y="2186268"/>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Software</a:t>
            </a:r>
          </a:p>
        </p:txBody>
      </p:sp>
      <p:sp>
        <p:nvSpPr>
          <p:cNvPr id="9" name="テキスト ボックス 8">
            <a:extLst>
              <a:ext uri="{FF2B5EF4-FFF2-40B4-BE49-F238E27FC236}">
                <a16:creationId xmlns:a16="http://schemas.microsoft.com/office/drawing/2014/main" id="{B6B096B8-59A5-8B8C-2217-9953CD7A9D15}"/>
              </a:ext>
            </a:extLst>
          </p:cNvPr>
          <p:cNvSpPr txBox="1"/>
          <p:nvPr/>
        </p:nvSpPr>
        <p:spPr bwMode="auto">
          <a:xfrm>
            <a:off x="1487488" y="2696605"/>
            <a:ext cx="568863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Python 3.11 </a:t>
            </a:r>
            <a:r>
              <a:rPr lang="ja-JP" altLang="en-US" sz="1800" kern="0">
                <a:latin typeface="BIZ UDPゴシック" panose="020B0400000000000000" pitchFamily="50" charset="-128"/>
                <a:ea typeface="BIZ UDPゴシック" panose="020B0400000000000000" pitchFamily="50" charset="-128"/>
              </a:rPr>
              <a:t>以上</a:t>
            </a:r>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Microsoft PowerPoint Desktop</a:t>
            </a:r>
            <a:r>
              <a:rPr lang="ja-JP" altLang="en-US" sz="1800" kern="0">
                <a:latin typeface="BIZ UDPゴシック" panose="020B0400000000000000" pitchFamily="50" charset="-128"/>
                <a:ea typeface="BIZ UDPゴシック" panose="020B0400000000000000" pitchFamily="50" charset="-128"/>
              </a:rPr>
              <a:t>版</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 Microsoft 365</a:t>
            </a:r>
          </a:p>
          <a:p>
            <a:r>
              <a:rPr lang="en-US" altLang="ja-JP" sz="1800" kern="0">
                <a:latin typeface="BIZ UDPゴシック" panose="020B0400000000000000" pitchFamily="50" charset="-128"/>
                <a:ea typeface="BIZ UDPゴシック" panose="020B0400000000000000" pitchFamily="50" charset="-128"/>
              </a:rPr>
              <a:t>  - PowerPoint 2021 </a:t>
            </a:r>
            <a:r>
              <a:rPr lang="ja-JP" altLang="en-US" sz="1800" kern="0">
                <a:latin typeface="BIZ UDPゴシック" panose="020B0400000000000000" pitchFamily="50" charset="-128"/>
                <a:ea typeface="BIZ UDPゴシック" panose="020B0400000000000000" pitchFamily="50" charset="-128"/>
              </a:rPr>
              <a:t>など</a:t>
            </a:r>
            <a:endParaRPr lang="en-US" altLang="ja-JP"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6E479B5A-45A2-2446-8033-3C58F89F1544}"/>
              </a:ext>
            </a:extLst>
          </p:cNvPr>
          <p:cNvSpPr txBox="1"/>
          <p:nvPr/>
        </p:nvSpPr>
        <p:spPr bwMode="auto">
          <a:xfrm>
            <a:off x="916918" y="4133984"/>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Ｔｅｓｔ環境</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75AAD353-9C2E-E227-EA11-C1500C09B451}"/>
              </a:ext>
            </a:extLst>
          </p:cNvPr>
          <p:cNvSpPr txBox="1"/>
          <p:nvPr/>
        </p:nvSpPr>
        <p:spPr bwMode="auto">
          <a:xfrm>
            <a:off x="1487488" y="4595649"/>
            <a:ext cx="655272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Windows 11</a:t>
            </a:r>
          </a:p>
          <a:p>
            <a:r>
              <a:rPr lang="en-US" altLang="ja-JP" sz="1800" kern="0">
                <a:latin typeface="BIZ UDPゴシック" panose="020B0400000000000000" pitchFamily="50" charset="-128"/>
                <a:ea typeface="BIZ UDPゴシック" panose="020B0400000000000000" pitchFamily="50" charset="-128"/>
              </a:rPr>
              <a:t>Python 3.11</a:t>
            </a:r>
          </a:p>
          <a:p>
            <a:r>
              <a:rPr lang="en-US" altLang="ja-JP" sz="1800" kern="0">
                <a:latin typeface="BIZ UDPゴシック" panose="020B0400000000000000" pitchFamily="50" charset="-128"/>
                <a:ea typeface="BIZ UDPゴシック" panose="020B0400000000000000" pitchFamily="50" charset="-128"/>
              </a:rPr>
              <a:t>PowerPoint for Microsoft 365</a:t>
            </a:r>
          </a:p>
        </p:txBody>
      </p:sp>
    </p:spTree>
    <p:extLst>
      <p:ext uri="{BB962C8B-B14F-4D97-AF65-F5344CB8AC3E}">
        <p14:creationId xmlns:p14="http://schemas.microsoft.com/office/powerpoint/2010/main" val="3771225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5.2) インストール方法</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5047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kern="0">
                <a:latin typeface="BIZ UDPゴシック" panose="020B0400000000000000" pitchFamily="50" charset="-128"/>
                <a:ea typeface="BIZ UDPゴシック" panose="020B0400000000000000" pitchFamily="50" charset="-128"/>
              </a:rPr>
              <a:t>### 1. Clone repository</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git clone https://github.com/hiro77284/ppt-md-merger.git</a:t>
            </a:r>
          </a:p>
          <a:p>
            <a:r>
              <a:rPr lang="en-US" altLang="ja-JP" sz="1400" kern="0">
                <a:latin typeface="BIZ UDPゴシック" panose="020B0400000000000000" pitchFamily="50" charset="-128"/>
                <a:ea typeface="BIZ UDPゴシック" panose="020B0400000000000000" pitchFamily="50" charset="-128"/>
              </a:rPr>
              <a:t>cd ppt-md-merger</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2. Create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python -m venv .venv</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3. Activate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```(PowerShell)</a:t>
            </a:r>
          </a:p>
          <a:p>
            <a:r>
              <a:rPr lang="en-US" altLang="ja-JP" sz="1400" kern="0">
                <a:latin typeface="BIZ UDPゴシック" panose="020B0400000000000000" pitchFamily="50" charset="-128"/>
                <a:ea typeface="BIZ UDPゴシック" panose="020B0400000000000000" pitchFamily="50" charset="-128"/>
              </a:rPr>
              <a:t>.venv\Scripts\Activate.ps1</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```(Command Prompt)</a:t>
            </a:r>
          </a:p>
          <a:p>
            <a:r>
              <a:rPr lang="en-US" altLang="ja-JP" sz="1400" kern="0">
                <a:latin typeface="BIZ UDPゴシック" panose="020B0400000000000000" pitchFamily="50" charset="-128"/>
                <a:ea typeface="BIZ UDPゴシック" panose="020B0400000000000000" pitchFamily="50" charset="-128"/>
              </a:rPr>
              <a:t>.venv\Scripts\Activate.bat</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4. Install package</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pip install -e .</a:t>
            </a:r>
          </a:p>
          <a:p>
            <a:pPr algn="l"/>
            <a:endParaRPr kumimoji="1" lang="en-US" altLang="ja-JP" sz="1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893084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5.3) Quick Start</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 </a:t>
            </a:r>
            <a:r>
              <a:rPr lang="fr-FR" altLang="ja-JP" sz="1600" kern="0">
                <a:latin typeface="BIZ UDPゴシック" panose="020B0400000000000000" pitchFamily="50" charset="-128"/>
                <a:ea typeface="BIZ UDPゴシック" panose="020B0400000000000000" pitchFamily="50" charset="-128"/>
              </a:rPr>
              <a:t>1. Prepare parts pptx files</a:t>
            </a:r>
            <a:endParaRPr lang="en-US" altLang="ja-JP" sz="1600" kern="0">
              <a:latin typeface="BIZ UDPゴシック" panose="020B0400000000000000" pitchFamily="50" charset="-128"/>
              <a:ea typeface="BIZ UDPゴシック" panose="020B0400000000000000" pitchFamily="50" charset="-128"/>
            </a:endParaRPr>
          </a:p>
          <a:p>
            <a:endParaRPr lang="en-US" altLang="ja-JP" sz="1600" kern="0">
              <a:latin typeface="BIZ UDPゴシック" panose="020B0400000000000000" pitchFamily="50" charset="-128"/>
              <a:ea typeface="BIZ UDPゴシック" panose="020B0400000000000000" pitchFamily="50" charset="-128"/>
            </a:endParaRPr>
          </a:p>
          <a:p>
            <a:r>
              <a:rPr lang="en-US" altLang="ja-JP" sz="1600" kern="0">
                <a:latin typeface="BIZ UDPゴシック" panose="020B0400000000000000" pitchFamily="50" charset="-128"/>
                <a:ea typeface="BIZ UDPゴシック" panose="020B0400000000000000" pitchFamily="50" charset="-128"/>
              </a:rPr>
              <a:t>parts/</a:t>
            </a:r>
          </a:p>
          <a:p>
            <a:r>
              <a:rPr lang="en-US" altLang="ja-JP" sz="1600" kern="0">
                <a:latin typeface="BIZ UDPゴシック" panose="020B0400000000000000" pitchFamily="50" charset="-128"/>
                <a:ea typeface="BIZ UDPゴシック" panose="020B0400000000000000" pitchFamily="50" charset="-128"/>
              </a:rPr>
              <a:t>├── 00_intro.pptx</a:t>
            </a:r>
          </a:p>
          <a:p>
            <a:r>
              <a:rPr lang="en-US" altLang="ja-JP" sz="1600" kern="0">
                <a:latin typeface="BIZ UDPゴシック" panose="020B0400000000000000" pitchFamily="50" charset="-128"/>
                <a:ea typeface="BIZ UDPゴシック" panose="020B0400000000000000" pitchFamily="50" charset="-128"/>
              </a:rPr>
              <a:t>├── 10_basic.pptx</a:t>
            </a:r>
          </a:p>
          <a:p>
            <a:r>
              <a:rPr lang="en-US" altLang="ja-JP" sz="1600" kern="0">
                <a:latin typeface="BIZ UDPゴシック" panose="020B0400000000000000" pitchFamily="50" charset="-128"/>
                <a:ea typeface="BIZ UDPゴシック" panose="020B0400000000000000" pitchFamily="50" charset="-128"/>
              </a:rPr>
              <a:t>└── 20_example.pptx</a:t>
            </a:r>
          </a:p>
          <a:p>
            <a:endParaRPr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317995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5.3.1) 2. Create merge recipe YAML</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3323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2.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Create merge recipe YAML</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PowerPoint</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ファイルを単純結合する結合指示書のサンプル</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 </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merged.pptx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結合後の</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pptx</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ファイルのファイル名</a:t>
            </a:r>
          </a:p>
          <a:p>
            <a:endPar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procedure:</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結合後対象のファイルを列挙する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00_intro.pptx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10_basic.pptx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20_example.pptx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895060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5.3.2) 3. Run merge</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3.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Run merge</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pptmdmerge pptmerge merge_recipe.yaml  [options]</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4" name="テキスト ボックス 3">
            <a:extLst>
              <a:ext uri="{FF2B5EF4-FFF2-40B4-BE49-F238E27FC236}">
                <a16:creationId xmlns:a16="http://schemas.microsoft.com/office/drawing/2014/main" id="{E19C2ACC-A508-C253-BC5C-F671590B32BB}"/>
              </a:ext>
            </a:extLst>
          </p:cNvPr>
          <p:cNvSpPr txBox="1"/>
          <p:nvPr/>
        </p:nvSpPr>
        <p:spPr bwMode="auto">
          <a:xfrm>
            <a:off x="826364" y="2186861"/>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options</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--log-level debug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設定ミス等を検証するために処理内容を確認したい場合、デバッグ表示を有効に</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--force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何度も作り直す場合は出力ファイルを上書きにする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7" name="テキスト ボックス 6">
            <a:extLst>
              <a:ext uri="{FF2B5EF4-FFF2-40B4-BE49-F238E27FC236}">
                <a16:creationId xmlns:a16="http://schemas.microsoft.com/office/drawing/2014/main" id="{EF0DA7DE-286D-2ADC-72E6-69D714F32A62}"/>
              </a:ext>
            </a:extLst>
          </p:cNvPr>
          <p:cNvSpPr txBox="1"/>
          <p:nvPr/>
        </p:nvSpPr>
        <p:spPr bwMode="auto">
          <a:xfrm>
            <a:off x="826364" y="3449307"/>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4.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merged.pptx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2396573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t>5.4) Examples</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Tree>
    <p:extLst>
      <p:ext uri="{BB962C8B-B14F-4D97-AF65-F5344CB8AC3E}">
        <p14:creationId xmlns:p14="http://schemas.microsoft.com/office/powerpoint/2010/main" val="3637293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28533</TotalTime>
  <Words>4704</Words>
  <Application>Microsoft Office PowerPoint</Application>
  <PresentationFormat>ワイド画面</PresentationFormat>
  <Paragraphs>957</Paragraphs>
  <Slides>22</Slides>
  <Notes>22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22</vt:i4>
      </vt:variant>
    </vt:vector>
  </HeadingPairs>
  <TitlesOfParts>
    <vt:vector size="29" baseType="lpstr">
      <vt:lpstr>BIZ UDPゴシック</vt:lpstr>
      <vt:lpstr>FOT-UD丸ゴ_ラージ Pr6 M</vt:lpstr>
      <vt:lpstr>Moralerspace Neon HW</vt:lpstr>
      <vt:lpstr>Arial</vt:lpstr>
      <vt:lpstr>Garamond</vt:lpstr>
      <vt:lpstr>Wingdings</vt:lpstr>
      <vt:lpstr>Edge</vt:lpstr>
      <vt:lpstr>PPT &amp; MD merger とは？</vt:lpstr>
      <vt:lpstr>1.1) PPT \&amp; MD merger とは？</vt:lpstr>
      <vt:lpstr>大きなPowerPointファイルを作る時の悩みとは？</vt:lpstr>
      <vt:lpstr>2.1) どんな人のためのツール？</vt:lpstr>
      <vt:lpstr>2.2) 悩み１： ちょっとずつ違うPowerPointのコピーが増殖</vt:lpstr>
      <vt:lpstr>2.3) 悩み２： 章・節番号をつけるのが面倒くさい</vt:lpstr>
      <vt:lpstr>2.4) なんとかこの悩みを解決できないか？</vt:lpstr>
      <vt:lpstr>問題構造の整理と解決策</vt:lpstr>
      <vt:lpstr>3.1) まずは問題の構造を整理すると・・・</vt:lpstr>
      <vt:lpstr>3.2) 部品を組み合わせて完成版を構成する仕組みを作る</vt:lpstr>
      <vt:lpstr>3.3) 自動マージするときに章・節番号を付与する</vt:lpstr>
      <vt:lpstr>3.4) 補助機能：変数置換</vt:lpstr>
      <vt:lpstr>3.6) 補助機能： 一時メモ用シェイプの自動削除</vt:lpstr>
      <vt:lpstr>現時点の機能解説はPPTX生成機能のみ</vt:lpstr>
      <vt:lpstr>4.1) PPTX生成機能と、その他の形式文書生成機能</vt:lpstr>
      <vt:lpstr>Requirements &amp; Quick Start</vt:lpstr>
      <vt:lpstr>5.1) システム要件</vt:lpstr>
      <vt:lpstr>5.2) インストール方法</vt:lpstr>
      <vt:lpstr>5.3) Quick Start</vt:lpstr>
      <vt:lpstr>5.3.1) 2. Create merge recipe YAML</vt:lpstr>
      <vt:lpstr>5.3.2) 3. Run merge</vt:lpstr>
      <vt:lpstr>5.4) Examples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3677</cp:revision>
  <dcterms:modified xsi:type="dcterms:W3CDTF">2026-06-06T12:39:45Z</dcterms:modified>
</cp:coreProperties>
</file>