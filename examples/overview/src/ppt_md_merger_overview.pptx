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0"/>
  </p:notesMasterIdLst>
  <p:sldIdLst>
    <p:sldId id="1797" r:id="rId2"/>
    <p:sldId id="1795" r:id="rId3"/>
    <p:sldId id="1783" r:id="rId4"/>
    <p:sldId id="1784" r:id="rId5"/>
    <p:sldId id="1782" r:id="rId6"/>
    <p:sldId id="1780" r:id="rId7"/>
    <p:sldId id="1786" r:id="rId8"/>
    <p:sldId id="1787" r:id="rId9"/>
    <p:sldId id="1789" r:id="rId10"/>
    <p:sldId id="1788" r:id="rId11"/>
    <p:sldId id="1794" r:id="rId12"/>
    <p:sldId id="1796" r:id="rId13"/>
    <p:sldId id="1785" r:id="rId14"/>
    <p:sldId id="1791" r:id="rId15"/>
    <p:sldId id="1792" r:id="rId16"/>
    <p:sldId id="1793" r:id="rId17"/>
    <p:sldId id="1798" r:id="rId18"/>
    <p:sldId id="1790" r:id="rId19"/>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FFCCFF"/>
    <a:srgbClr val="CCECFF"/>
    <a:srgbClr val="99FFCC"/>
    <a:srgbClr val="FFFF00"/>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50465" autoAdjust="0"/>
  </p:normalViewPr>
  <p:slideViewPr>
    <p:cSldViewPr>
      <p:cViewPr varScale="1">
        <p:scale>
          <a:sx n="56" d="100"/>
          <a:sy n="56" d="100"/>
        </p:scale>
        <p:origin x="17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1776"/>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lang="en-US"/>
          </a:p>
          <a:p>
            <a:r>
              <a:rPr lang="en-US"/>
              <a:t>PPT &amp; MD merger </a:t>
            </a:r>
            <a:r>
              <a:rPr lang="ja-JP" altLang="en-US"/>
              <a:t>は、「</a:t>
            </a:r>
            <a:r>
              <a:t>pptxファイルを文書部品として扱い、多様な形式の文書を生成できるジェネレーター」 です。　（ツールそのものは Python スクリプトであり、Windows + PowerPoint 環境で</a:t>
            </a:r>
            <a:r>
              <a:rPr lang="ja-JP" altLang="en-US"/>
              <a:t>動作します</a:t>
            </a:r>
            <a:r>
              <a:t>）</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lang="en-US"/>
          </a:p>
          <a:p>
            <a:r>
              <a:rPr lang="ja-JP" altLang="en-US"/>
              <a:t>何はともあれ使ってみたい、という場合は　</a:t>
            </a:r>
            <a:r>
              <a:rPr lang="en-US" altLang="ja-JP"/>
              <a:t>[5</a:t>
            </a:r>
            <a:r>
              <a:rPr lang="en-US" altLang="ja-JP" sz="1200" kern="0">
                <a:latin typeface="BIZ UDPゴシック" panose="020B0400000000000000" pitchFamily="50" charset="-128"/>
                <a:ea typeface="BIZ UDPゴシック" panose="020B0400000000000000" pitchFamily="50" charset="-128"/>
              </a:rPr>
              <a:t>) Requirements &amp; Quick Start</a:t>
            </a:r>
            <a:r>
              <a:rPr lang="en-US" altLang="ja-JP"/>
              <a:t>](#5-requirements--quick-start) </a:t>
            </a:r>
            <a:r>
              <a:rPr lang="ja-JP" altLang="en-US"/>
              <a:t>をご覧ください。システム要件、インストール方法、</a:t>
            </a:r>
            <a:r>
              <a:rPr lang="en-US" altLang="ja-JP"/>
              <a:t>Quick Start </a:t>
            </a:r>
            <a:r>
              <a:rPr lang="ja-JP" altLang="en-US"/>
              <a:t>ガイド、</a:t>
            </a:r>
            <a:r>
              <a:rPr lang="en-US" altLang="ja-JP"/>
              <a:t>11</a:t>
            </a:r>
            <a:r>
              <a:rPr lang="ja-JP" altLang="en-US"/>
              <a:t>種類のサンプルデータの案内があります。</a:t>
            </a:r>
            <a:endParaRPr lang="en-US" altLang="ja-JP"/>
          </a:p>
          <a:p>
            <a:endParaRPr lang="en-US"/>
          </a:p>
          <a:p>
            <a:r>
              <a:rPr lang="ja-JP" altLang="en-US"/>
              <a:t>何やら変わったコンセプトっぽいから、そこからじっくり知りたいという場合はこのまま次の </a:t>
            </a:r>
            <a:r>
              <a:rPr lang="en-US" altLang="ja-JP"/>
              <a:t>[2) </a:t>
            </a:r>
            <a:r>
              <a:rPr lang="ja-JP" altLang="en-US"/>
              <a:t>大きな </a:t>
            </a:r>
            <a:r>
              <a:rPr lang="en-US" altLang="ja-JP"/>
              <a:t>PowerPoint</a:t>
            </a:r>
            <a:r>
              <a:rPr lang="ja-JP" altLang="en-US"/>
              <a:t>ファイ ルを作る時の悩みとは？</a:t>
            </a:r>
            <a:r>
              <a:rPr lang="en-US" altLang="ja-JP"/>
              <a:t>](#2-%E5%A4%A7%E3%81%8D%E3%81%AApowerpoint%E3%83%95%E3%82%A1%E3%82%A4%E3%83%AB%E3%82%92%E4%BD%9C%E3%82%8B%E6%99%82%E3%81%AE%E6%82%A9%E3%81%BF%E3%81%A8%E3%81%AF) </a:t>
            </a:r>
            <a:r>
              <a:rPr lang="ja-JP" altLang="en-US"/>
              <a:t>へ進んでください。</a:t>
            </a:r>
            <a:endParaRPr lang="en-US" altLang="ja-JP"/>
          </a:p>
          <a:p>
            <a:endParaRPr lang="en-US" altLang="ja-JP"/>
          </a:p>
          <a:p>
            <a:r>
              <a:rPr lang="ja-JP" altLang="en-US"/>
              <a:t>何ができるツールなのか詳細に知りたい場合は</a:t>
            </a:r>
            <a:r>
              <a:rPr lang="en-US" altLang="ja-JP"/>
              <a:t>[5.4) Examples](#54-examples)</a:t>
            </a:r>
            <a:r>
              <a:rPr lang="ja-JP" altLang="en-US"/>
              <a:t>から機能別詳細解説に飛べます。</a:t>
            </a:r>
          </a:p>
          <a:p>
            <a:endParaRPr lang="ja-JP" altLang="en-US"/>
          </a:p>
          <a:p>
            <a:r>
              <a:rPr lang="ja-JP" altLang="en-US"/>
              <a:t>ただし、現時点での機能解説は </a:t>
            </a:r>
            <a:r>
              <a:rPr lang="en-US" altLang="ja-JP"/>
              <a:t>PPTX </a:t>
            </a:r>
            <a:r>
              <a:rPr lang="ja-JP" altLang="en-US"/>
              <a:t>をマージ生成する例のみで、</a:t>
            </a:r>
            <a:r>
              <a:rPr lang="en-US" altLang="ja-JP"/>
              <a:t>MD,PDF,HTML </a:t>
            </a:r>
            <a:r>
              <a:rPr lang="ja-JP" altLang="en-US"/>
              <a:t>等の他形式文書を生成する例の解説は作っておりません。機能としては動いていますが設定が複雑なため、ドキュメントを書くのに少し時間がかかる見込みです。（</a:t>
            </a:r>
            <a:r>
              <a:rPr lang="en-US" altLang="ja-JP"/>
              <a:t>[</a:t>
            </a:r>
            <a:r>
              <a:rPr lang="ja-JP" altLang="en-US"/>
              <a:t>仕様書</a:t>
            </a:r>
            <a:r>
              <a:rPr lang="en-US" altLang="ja-JP"/>
              <a:t>](/docs/md_merge_spec.md)</a:t>
            </a:r>
            <a:r>
              <a:rPr lang="ja-JP" altLang="en-US"/>
              <a:t>はありますが、これを読んで使い方が分かるかというと難しいです）</a:t>
            </a:r>
          </a:p>
          <a:p>
            <a:endParaRPr lang="en-US" altLang="ja-JP"/>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4337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このツールは、研修用テキストや業務マニュアルなど、「仕事を教える、手順を決める」ための資料を PowerPoint で大量に作る企業/個人のためのツールです。</a:t>
            </a:r>
          </a:p>
          <a:p>
            <a:endParaRPr lang="en-US"/>
          </a:p>
          <a:p>
            <a:r>
              <a:rPr lang="ja-JP" altLang="en-US"/>
              <a:t>その種のテキストを作る時によくある悩みとはなんでしょう？</a:t>
            </a:r>
            <a:endParaRPr lang="en-US"/>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lang="en-US"/>
          </a:p>
          <a:p>
            <a:r>
              <a:rPr lang="ja-JP" altLang="en-US"/>
              <a:t>たとえば、文書のバリエーションが増えすぎて収集がつかなくなる。　章・節番号をつけるのが面倒くさい。　講師用と受講者用の</a:t>
            </a:r>
            <a:r>
              <a:rPr lang="en-US" altLang="ja-JP"/>
              <a:t>2</a:t>
            </a:r>
            <a:r>
              <a:rPr lang="ja-JP" altLang="en-US"/>
              <a:t>種類を作らなきゃいけないのが面倒くさい！</a:t>
            </a:r>
            <a:endParaRPr lang="en-US" altLang="ja-JP"/>
          </a:p>
          <a:p>
            <a:endParaRPr lang="en-US" altLang="ja-JP"/>
          </a:p>
          <a:p>
            <a:r>
              <a:rPr lang="ja-JP" altLang="en-US"/>
              <a:t>こんな問題を解決するために作ったツールです。</a:t>
            </a:r>
            <a:endParaRPr lang="en-US" altLang="ja-JP"/>
          </a:p>
          <a:p>
            <a:endParaRPr lang="en-US"/>
          </a:p>
          <a:p>
            <a:r>
              <a:rPr lang="ja-JP" altLang="en-US"/>
              <a:t>そのために、</a:t>
            </a:r>
            <a:r>
              <a:t>「pptxファイルを文書部品として扱</a:t>
            </a:r>
            <a:r>
              <a:rPr lang="ja-JP" altLang="en-US"/>
              <a:t>い、必要に応じて結合する」</a:t>
            </a:r>
            <a:r>
              <a:t> というコンセプト</a:t>
            </a:r>
            <a:r>
              <a:rPr lang="ja-JP" altLang="en-US"/>
              <a:t>を採用したものです。まずはその背景から詳しくお話ししましょう</a:t>
            </a:r>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730563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PowerPoint で研修用のテキストを作るときは、こんな悩みがよくあります。（研修用テキストに限りませんが）</a:t>
            </a:r>
          </a:p>
          <a:p>
            <a:endParaRPr/>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endParaRPr/>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結局、コピーが増殖すると、どれをマスター原本にしたら良いのか分かりません。</a:t>
            </a:r>
          </a:p>
          <a:p>
            <a:endParaRPr/>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また別な悩みもあります。研修用テキストはページ数が多いので章・節番号をつけたくなるのですが、PowerPointにはWordのような自動付番機能がないので、手作業でやらなければなりません。</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618073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つまり悩みはおおまかに</a:t>
            </a:r>
          </a:p>
          <a:p>
            <a:endParaRPr/>
          </a:p>
          <a:p>
            <a:r>
              <a:t>1. コピー増殖問題</a:t>
            </a:r>
          </a:p>
          <a:p>
            <a:r>
              <a:t>1. 章節番号問題</a:t>
            </a:r>
          </a:p>
          <a:p>
            <a:endParaRPr/>
          </a:p>
          <a:p>
            <a:r>
              <a:t>の2つです。なんとかこれを解決できないか？　と考えて、</a:t>
            </a:r>
          </a:p>
          <a:p>
            <a:endParaRPr/>
          </a:p>
          <a:p>
            <a:r>
              <a:t>```{=latex}</a:t>
            </a:r>
          </a:p>
          <a:p>
            <a:r>
              <a:t>\begin{center}</a:t>
            </a:r>
          </a:p>
          <a:p>
            <a:r>
              <a:t>```</a:t>
            </a:r>
          </a:p>
          <a:p>
            <a:endParaRPr/>
          </a:p>
          <a:p>
            <a:r>
              <a:rPr lang="en-US"/>
              <a:t>![](figures/&lt;__BASEFILENAME__&gt;_slide&lt;__SLIDENUM__&gt;_fig.png){ width=80% }</a:t>
            </a:r>
          </a:p>
          <a:p>
            <a:endParaRPr/>
          </a:p>
          <a:p>
            <a:r>
              <a:t>```{=latex}</a:t>
            </a:r>
          </a:p>
          <a:p>
            <a:r>
              <a:t>\end{center}</a:t>
            </a:r>
          </a:p>
          <a:p>
            <a:r>
              <a:t>```</a:t>
            </a:r>
          </a:p>
          <a:p>
            <a:endParaRPr/>
          </a:p>
          <a:p>
            <a:r>
              <a:t>PowerPoint 部品マージツール、 PPT &amp; MD merger を作りました！</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a:t>
            </a:r>
            <a:r>
              <a:rPr lang="en-US" altLang="ja-JP"/>
              <a:t>../</a:t>
            </a:r>
            <a:r>
              <a:rPr lang="en-US"/>
              <a:t>extracted/figures/&lt;__BASEFILENAME__&gt;_slide&lt;__SLIDENUM__&gt;_fig.png</a:t>
            </a:r>
          </a:p>
          <a:p>
            <a:endParaRPr/>
          </a:p>
          <a:p>
            <a:r>
              <a:t>===BLOCK===</a:t>
            </a:r>
          </a:p>
          <a:p>
            <a:r>
              <a:t>{{BLOCK:MD:LONG}}</a:t>
            </a:r>
          </a:p>
          <a:p>
            <a:endParaRPr/>
          </a:p>
          <a:p>
            <a:r>
              <a:rPr lang="en-US"/>
              <a:t>export-note: </a:t>
            </a:r>
            <a:r>
              <a:rPr lang="en-US" altLang="ja-JP"/>
              <a:t>../</a:t>
            </a:r>
            <a:r>
              <a:rPr lang="en-US"/>
              <a:t>extracted/&lt;__BASEFILENAME__&gt;_slide&lt;__SLIDENUM__&gt;_md.md</a:t>
            </a:r>
          </a:p>
          <a:p>
            <a:r>
              <a:rPr lang="en-US"/>
              <a:t>{{#id:section:&lt;__BASEFILENAME__&gt;:slide&lt;__SLIDENUM__&gt;}}</a:t>
            </a:r>
          </a:p>
          <a:p>
            <a:r>
              <a:rPr lang="en-US"/>
              <a:t>## &lt;__TITLE__&gt;</a:t>
            </a:r>
          </a:p>
          <a:p>
            <a:endParaRPr/>
          </a:p>
          <a:p>
            <a:r>
              <a:t>いったん、問題の構造を整理しましょう。</a:t>
            </a:r>
          </a:p>
          <a:p>
            <a:endParaRPr/>
          </a:p>
          <a:p>
            <a:r>
              <a:t>大きなPowerPointファイルも実際は小さな部品の集合体です。</a:t>
            </a:r>
          </a:p>
          <a:p>
            <a:endParaRPr/>
          </a:p>
          <a:p>
            <a:r>
              <a:t>```{=latex}</a:t>
            </a:r>
          </a:p>
          <a:p>
            <a:r>
              <a:t>\begin{center}</a:t>
            </a:r>
          </a:p>
          <a:p>
            <a:r>
              <a:t>```</a:t>
            </a:r>
          </a:p>
          <a:p>
            <a:endParaRPr/>
          </a:p>
          <a:p>
            <a:r>
              <a:rPr lang="en-US"/>
              <a:t>![](figures/&lt;__BASEFILENAME__&gt;_slide&lt;__SLIDENUM__&gt;_fig.png){ width=80% }</a:t>
            </a:r>
          </a:p>
          <a:p>
            <a:endParaRPr/>
          </a:p>
          <a:p>
            <a:r>
              <a:t>```{=latex}</a:t>
            </a:r>
          </a:p>
          <a:p>
            <a:r>
              <a:t>\end{center}</a:t>
            </a:r>
          </a:p>
          <a:p>
            <a:r>
              <a:t>```</a:t>
            </a:r>
          </a:p>
          <a:p>
            <a:endParaRPr/>
          </a:p>
          <a:p>
            <a:r>
              <a:t>たとえばＡ社向け、Ｂ、Ｃ社向けと3種類の .pptx があるとして、その中には３社共通の部品もあれば２社共通の部品、各社専用の部品もあります。その組合せが各社違うということです。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873953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そこで、部品の組み合わせを自動的に結合（マージ）して完成版を作れるしくみがあれば良さそうです。</a:t>
            </a:r>
          </a:p>
          <a:p>
            <a:endParaRPr/>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したがって、原則としてマージ後は編集しません。（その場限りで捨てるような語句軽微な修正はしてもかまいませんが）</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2244900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自動マージするときに章/節番号の付与もできます。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部品側には番号を付与せず、マージ時に付番するので各社向けの構成の違いにも対応できます。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6462931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さらに変数置換機能をつけました。 pptx部品上で特殊な書式で変数を書いておくと、その内容をマージ仕様書の設定にしたがって書き換えられます。</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仕向先別のバリエーションをこの方法でも吸収することができます。</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2361984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もう1つ、研修テキストを作る時に嬉しいのがシェイプ／スライドの自動削除機能です。 これは、「同じテキストを研修用/講師用で生成し分ける」 ために使えます。</a:t>
            </a:r>
          </a:p>
          <a:p>
            <a:endParaRPr/>
          </a:p>
          <a:p>
            <a:r>
              <a:t>研修テキストというのは、配付資料にすべての情報を載せないのが普通です。人間は自分で書いた情報の方が記憶に残るので、重要な情報は配付資料に載せず受講者自身の手で書かせることが多いのですが、そのために2種類のpptxを作るとこれは 「コピー増殖問題」 そのものであり、整合性を維持するのが非常に面倒です。</a:t>
            </a:r>
          </a:p>
          <a:p>
            <a:endParaRPr/>
          </a:p>
          <a:p>
            <a:r>
              <a:t>そこで、このシェイプ／スライド自動削除機能です。配付資料には載せたくないシェイプ／スライドに特殊マーカーを記入しておくと、オプションひとつでそれを削除したバージョン、残ったバージョンを自動生成可能で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マスターは1つだけで、生成物が変わるだけですから、コピー増殖問題は起きません。</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42638773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シェイプ/スライド自動削除機能の派生形で、オプションの有無を問わず必ず削除されるシェイプを作る特殊マーカーもあります。</a:t>
            </a:r>
          </a:p>
          <a:p>
            <a:endParaRPr/>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endParaRPr/>
          </a:p>
          <a:p>
            <a:r>
              <a:t>ところが・・・そう、残ってしまうことがあるんですね。</a:t>
            </a:r>
          </a:p>
          <a:p>
            <a:endParaRPr/>
          </a:p>
          <a:p>
            <a:r>
              <a:t>```{=latex}</a:t>
            </a:r>
          </a:p>
          <a:p>
            <a:r>
              <a:t>\begin{center}</a:t>
            </a:r>
          </a:p>
          <a:p>
            <a:r>
              <a:t>```</a:t>
            </a:r>
          </a:p>
          <a:p>
            <a:endParaRPr/>
          </a:p>
          <a:p>
            <a:r>
              <a:rPr lang="en-US"/>
              <a:t>![](figures/&lt;__BASEFILENAME__&gt;_slide&lt;__SLIDENUM__&gt;_fig.png){ width=90% }</a:t>
            </a:r>
          </a:p>
          <a:p>
            <a:endParaRPr/>
          </a:p>
          <a:p>
            <a:r>
              <a:t>```{=latex}</a:t>
            </a:r>
          </a:p>
          <a:p>
            <a:r>
              <a:t>\end{center}</a:t>
            </a:r>
          </a:p>
          <a:p>
            <a:r>
              <a:t>```</a:t>
            </a:r>
          </a:p>
          <a:p>
            <a:endParaRPr/>
          </a:p>
          <a:p>
            <a:r>
              <a:t>そこで、この一時メモ用シェイプの自動削除機能です。これを使えば必ず削除されるので安心です。</a:t>
            </a:r>
            <a:endParaRPr lang="en-US"/>
          </a:p>
          <a:p>
            <a:endParaRPr/>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397096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a:t>
            </a:r>
            <a:r>
              <a:rPr lang="ja-JP" altLang="en-US"/>
              <a:t>（かもしれません・・・・・保証はしない</a:t>
            </a:r>
            <a:r>
              <a:rPr lang="en-US" altLang="ja-JP"/>
              <a:t>(^_^;)</a:t>
            </a:r>
            <a:r>
              <a:rPr lang="ja-JP" altLang="en-US"/>
              <a:t>　まあ、おいおい書きますよ）</a:t>
            </a:r>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p>
          <a:p>
            <a:endParaRPr/>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4208687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PPTX生成機能のみ、とりあえず試してみるための手順を示します。</a:t>
            </a:r>
          </a:p>
          <a:p>
            <a:endParaRPr/>
          </a:p>
          <a:p>
            <a:r>
              <a:t>PPT &amp; MD merger のシステム要件です。</a:t>
            </a:r>
          </a:p>
          <a:p>
            <a:endParaRPr/>
          </a:p>
          <a:p>
            <a:r>
              <a:t>### OS</a:t>
            </a:r>
          </a:p>
          <a:p>
            <a:endParaRPr/>
          </a:p>
          <a:p>
            <a:r>
              <a:t>```</a:t>
            </a:r>
            <a:r>
              <a:rPr lang="en-US"/>
              <a:t>md</a:t>
            </a:r>
            <a:endParaRPr/>
          </a:p>
          <a:p>
            <a:r>
              <a:t>Windows10/11</a:t>
            </a:r>
          </a:p>
          <a:p>
            <a:r>
              <a:t>```</a:t>
            </a:r>
          </a:p>
          <a:p>
            <a:endParaRPr/>
          </a:p>
          <a:p>
            <a:r>
              <a:t>### Software</a:t>
            </a:r>
          </a:p>
          <a:p>
            <a:endParaRPr/>
          </a:p>
          <a:p>
            <a:r>
              <a:t>Python 3.11以上</a:t>
            </a:r>
          </a:p>
          <a:p>
            <a:endParaRPr/>
          </a:p>
          <a:p>
            <a:r>
              <a:t>```</a:t>
            </a:r>
            <a:r>
              <a:rPr lang="en-US"/>
              <a:t>md</a:t>
            </a:r>
            <a:endParaRPr/>
          </a:p>
          <a:p>
            <a:r>
              <a:t>Microsoft PowerPoint Desktop版</a:t>
            </a:r>
          </a:p>
          <a:p>
            <a:r>
              <a:t>  - Microsoft 365</a:t>
            </a:r>
          </a:p>
          <a:p>
            <a:r>
              <a:t>  - PowerPoint 2021 など</a:t>
            </a:r>
          </a:p>
          <a:p>
            <a:r>
              <a:t>```</a:t>
            </a:r>
          </a:p>
          <a:p>
            <a:endParaRPr/>
          </a:p>
          <a:p>
            <a:endParaRPr/>
          </a:p>
          <a:p>
            <a:r>
              <a:t>```</a:t>
            </a:r>
            <a:r>
              <a:rPr lang="en-US"/>
              <a:t>md</a:t>
            </a:r>
            <a:endParaRPr/>
          </a:p>
          <a:p>
            <a:r>
              <a:t>Test環境</a:t>
            </a:r>
          </a:p>
          <a:p>
            <a:r>
              <a:t>  - Windows 11</a:t>
            </a:r>
          </a:p>
          <a:p>
            <a:r>
              <a:t>  - Python 3.14</a:t>
            </a:r>
          </a:p>
          <a:p>
            <a:r>
              <a:t>  - PowerPoint for Microsoft 365</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10579334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Clone repository</a:t>
            </a:r>
          </a:p>
          <a:p>
            <a:endParaRPr/>
          </a:p>
          <a:p>
            <a:r>
              <a:t>```</a:t>
            </a:r>
            <a:r>
              <a:rPr lang="en-US"/>
              <a:t>bash</a:t>
            </a:r>
            <a:endParaRPr/>
          </a:p>
          <a:p>
            <a:r>
              <a:t>git clone https://github.com/USERNAME/ppt-md-merger.git</a:t>
            </a:r>
          </a:p>
          <a:p>
            <a:r>
              <a:t>cd ppt-md-merger</a:t>
            </a:r>
          </a:p>
          <a:p>
            <a:r>
              <a:t>```</a:t>
            </a:r>
          </a:p>
          <a:p>
            <a:endParaRPr/>
          </a:p>
          <a:p>
            <a:r>
              <a:t>### 2. Create virtual environment</a:t>
            </a:r>
          </a:p>
          <a:p>
            <a:endParaRPr/>
          </a:p>
          <a:p>
            <a:r>
              <a:t>python仮想環境の構築</a:t>
            </a:r>
          </a:p>
          <a:p>
            <a:r>
              <a:t>```</a:t>
            </a:r>
            <a:r>
              <a:rPr lang="en-US" altLang="ja-JP"/>
              <a:t>powershell</a:t>
            </a:r>
          </a:p>
          <a:p>
            <a:r>
              <a:t>python -m venv .venv</a:t>
            </a:r>
          </a:p>
          <a:p>
            <a:r>
              <a:t>```</a:t>
            </a:r>
          </a:p>
          <a:p>
            <a:endParaRPr/>
          </a:p>
          <a:p>
            <a:r>
              <a:t>### 3. Activate virtual environment</a:t>
            </a:r>
          </a:p>
          <a:p>
            <a:endParaRPr/>
          </a:p>
          <a:p>
            <a:r>
              <a:t>仮想環境の有効化</a:t>
            </a:r>
          </a:p>
          <a:p>
            <a:endParaRPr/>
          </a:p>
          <a:p>
            <a:r>
              <a:t>```</a:t>
            </a:r>
            <a:r>
              <a:rPr lang="en-US" altLang="ja-JP"/>
              <a:t>powershell</a:t>
            </a:r>
            <a:endParaRPr/>
          </a:p>
          <a:p>
            <a:r>
              <a:t>.venv\Scripts\Activate.ps1</a:t>
            </a:r>
          </a:p>
          <a:p>
            <a:r>
              <a:t>```</a:t>
            </a:r>
          </a:p>
          <a:p>
            <a:endParaRPr/>
          </a:p>
          <a:p>
            <a:r>
              <a:t>仮想環境からの退出</a:t>
            </a:r>
          </a:p>
          <a:p>
            <a:endParaRPr/>
          </a:p>
          <a:p>
            <a:r>
              <a:t>```</a:t>
            </a:r>
            <a:r>
              <a:rPr lang="en-US"/>
              <a:t>powershell</a:t>
            </a:r>
            <a:endParaRPr/>
          </a:p>
          <a:p>
            <a:r>
              <a:t>.venv\Scripts\</a:t>
            </a:r>
            <a:r>
              <a:rPr lang="en-US" altLang="ja-JP"/>
              <a:t>dea</a:t>
            </a:r>
            <a:r>
              <a:t>ctivate.bat</a:t>
            </a:r>
          </a:p>
          <a:p>
            <a:r>
              <a:t>```</a:t>
            </a:r>
          </a:p>
          <a:p>
            <a:endParaRPr/>
          </a:p>
          <a:p>
            <a:r>
              <a:t>### 4. Install package</a:t>
            </a:r>
          </a:p>
          <a:p>
            <a:endParaRPr/>
          </a:p>
          <a:p>
            <a:r>
              <a:t>```</a:t>
            </a:r>
            <a:r>
              <a:rPr lang="en-US"/>
              <a:t>powershell</a:t>
            </a:r>
            <a:endParaRPr/>
          </a:p>
          <a:p>
            <a:r>
              <a:t>pip install -e .</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35339249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4209555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13613327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{{#id:subsection:&lt;__BASEFILENAME__&gt;:slide&lt;__SLIDENUM__&gt;_3}} --&gt;</a:t>
            </a:r>
          </a:p>
          <a:p>
            <a:r>
              <a:t>### 3. Run merge</a:t>
            </a:r>
          </a:p>
          <a:p>
            <a:endParaRPr/>
          </a:p>
          <a:p>
            <a:r>
              <a:t>```</a:t>
            </a:r>
          </a:p>
          <a:p>
            <a:r>
              <a:rPr lang="en-US"/>
              <a:t>ppt</a:t>
            </a:r>
            <a:r>
              <a: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4778907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lang="en-US"/>
          </a:p>
          <a:p>
            <a:r>
              <a:rPr lang="en-US"/>
              <a:t>export-note: ../extracted/&lt;__BASEFILENAME__&gt;_slide&lt;__SLIDENUM__&gt;_md.md</a:t>
            </a:r>
          </a:p>
          <a:p>
            <a:r>
              <a:rPr lang="en-US"/>
              <a:t>{{#id:section:&lt;__BASEFILENAME__&gt;:slide&lt;__SLIDENUM__&gt;}}</a:t>
            </a:r>
          </a:p>
          <a:p>
            <a:r>
              <a:rPr lang="en-US"/>
              <a:t>## &lt;__TITLE__&gt;</a:t>
            </a:r>
          </a:p>
          <a:p>
            <a:endParaRPr lang="en-US"/>
          </a:p>
          <a:p>
            <a:r>
              <a:rPr lang="en-US"/>
              <a:t>### </a:t>
            </a:r>
            <a:r>
              <a:rPr lang="ja-JP" altLang="en-US"/>
              <a:t>単純マージ</a:t>
            </a:r>
            <a:endParaRPr lang="en-US" altLang="ja-JP"/>
          </a:p>
          <a:p>
            <a:endParaRPr/>
          </a:p>
          <a:p>
            <a:r>
              <a:rPr lang="ja-JP" altLang="en-US"/>
              <a:t>２つのファイルを単純に結合するサンプルです。</a:t>
            </a:r>
            <a:endParaRPr lang="en-US"/>
          </a:p>
          <a:p>
            <a:endParaRPr lang="en-US" altLang="ja-JP"/>
          </a:p>
          <a:p>
            <a:r>
              <a:rPr lang="ja-JP" altLang="en-US"/>
              <a:t>サンプルフォルダ：　</a:t>
            </a:r>
            <a:r>
              <a:rPr lang="en-US" altLang="ja-JP"/>
              <a:t>pm1_simple_ppt_merge</a:t>
            </a:r>
          </a:p>
          <a:p>
            <a:endParaRPr lang="en-US"/>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サンプル：単純マージ</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](../../pm1_simple_ppt_merge/build/figures/simple_ppt_merge_guide_keyvisual.png/)</a:t>
            </a:r>
            <a:r>
              <a:rPr lang="en-US" altLang="ja-JP"/>
              <a:t>{ width=60%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](../../pm1_simple_ppt_merge/README.md)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r>
              <a:rPr lang="en-US" altLang="ja-JP"/>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a:p>
          <a:p>
            <a:r>
              <a:rPr lang="en-US" altLang="ja-JP"/>
              <a:t>### </a:t>
            </a:r>
            <a:r>
              <a:rPr lang="ja-JP" altLang="en-US"/>
              <a:t>簡易ナンバリング</a:t>
            </a:r>
            <a:endParaRPr lang="en-US" altLang="ja-JP"/>
          </a:p>
          <a:p>
            <a:endParaRPr lang="ja-JP" altLang="en-US"/>
          </a:p>
          <a:p>
            <a:r>
              <a:rPr lang="en-US" altLang="ja-JP"/>
              <a:t>2</a:t>
            </a:r>
            <a:r>
              <a:rPr lang="ja-JP" altLang="en-US"/>
              <a:t>つの </a:t>
            </a:r>
            <a:r>
              <a:rPr lang="en-US" altLang="ja-JP"/>
              <a:t>pptx </a:t>
            </a:r>
            <a:r>
              <a:rPr lang="ja-JP" altLang="en-US"/>
              <a:t>ファイルを結合してファイル単位で </a:t>
            </a:r>
            <a:r>
              <a:rPr lang="en-US" altLang="ja-JP"/>
              <a:t>chapter </a:t>
            </a:r>
            <a:r>
              <a:rPr lang="ja-JP" altLang="en-US"/>
              <a:t>としてナンバリングする機能のサンプルです。</a:t>
            </a:r>
          </a:p>
          <a:p>
            <a:endParaRPr lang="ja-JP" altLang="en-US"/>
          </a:p>
          <a:p>
            <a:r>
              <a:rPr lang="ja-JP" altLang="en-US"/>
              <a:t>サンプルフォルダ：　</a:t>
            </a:r>
            <a:r>
              <a:rPr lang="en-US" altLang="ja-JP"/>
              <a:t>pm2_simple_numbering</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簡易ナンバリング</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pm2_simple_numbering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simple_numbering_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width=70%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pm2_simple_numbering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endParaRPr>
          </a:p>
          <a:p>
            <a:r>
              <a:rPr lang="en-US" altLang="ja-JP"/>
              <a:t>### </a:t>
            </a:r>
            <a:r>
              <a:rPr kumimoji="1" lang="en-US" altLang="ja-JP"/>
              <a:t>chapter_marker </a:t>
            </a:r>
            <a:r>
              <a:rPr kumimoji="1" lang="ja-JP" altLang="en-US"/>
              <a:t>によるナンバリング</a:t>
            </a:r>
            <a:endParaRPr lang="en-US" altLang="ja-JP"/>
          </a:p>
          <a:p>
            <a:endParaRPr lang="ja-JP" altLang="en-US"/>
          </a:p>
          <a:p>
            <a:r>
              <a:rPr lang="ja-JP" altLang="en-US"/>
              <a:t>スライド上に埋め込んだ特殊文字列 </a:t>
            </a:r>
            <a:r>
              <a:rPr lang="en-US" altLang="ja-JP"/>
              <a:t>#CHAPT#, #SECTION# </a:t>
            </a:r>
            <a:r>
              <a:rPr lang="ja-JP" altLang="en-US"/>
              <a:t>で章・節番号のカウントを行う方法のサンプルです。</a:t>
            </a:r>
          </a:p>
          <a:p>
            <a:endParaRPr lang="ja-JP" altLang="en-US"/>
          </a:p>
          <a:p>
            <a:r>
              <a:rPr lang="ja-JP" altLang="en-US"/>
              <a:t>サンプルフォルダ：　</a:t>
            </a:r>
            <a:r>
              <a:rPr lang="en-US" altLang="ja-JP"/>
              <a:t>pm3_chapter_marker_numbering</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en-US" altLang="ja-JP"/>
              <a:t>chapter_marker </a:t>
            </a:r>
            <a:r>
              <a:rPr kumimoji="1" lang="ja-JP" altLang="en-US"/>
              <a:t>によるナンバリング</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pm3_chapter_marker_numbering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chapter_marker_numbering_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pm3_chapter_marker_numbering</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p>
          <a:p>
            <a:r>
              <a:rPr lang="en-US" altLang="ja-JP"/>
              <a:t>### </a:t>
            </a:r>
            <a:r>
              <a:rPr lang="ja-JP" altLang="en-US"/>
              <a:t>スライド中の変数置換</a:t>
            </a:r>
            <a:endParaRPr lang="en-US" altLang="ja-JP"/>
          </a:p>
          <a:p>
            <a:endParaRPr lang="ja-JP" altLang="en-US"/>
          </a:p>
          <a:p>
            <a:r>
              <a:rPr lang="ja-JP" altLang="en-US"/>
              <a:t>スライド上に差し替え可能なプレースホルダーを用意しておき、設定ファイルの変数でそれを差し替え表示する方法のサンプルです。</a:t>
            </a:r>
          </a:p>
          <a:p>
            <a:endParaRPr lang="ja-JP" altLang="en-US"/>
          </a:p>
          <a:p>
            <a:r>
              <a:rPr lang="ja-JP" altLang="en-US"/>
              <a:t>サンプルフォルダ：　</a:t>
            </a:r>
            <a:r>
              <a:rPr lang="en-US" altLang="ja-JP"/>
              <a:t>pm_variable_replacement</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スライド中の変数置換</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pm4_variable_replacement</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variable_replacement_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pm4_variable_replacement</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Chapter Cover </a:t>
            </a:r>
            <a:r>
              <a:rPr lang="ja-JP" altLang="en-US"/>
              <a:t>挿入運用</a:t>
            </a:r>
            <a:endParaRPr lang="en-US" altLang="ja-JP"/>
          </a:p>
          <a:p>
            <a:endParaRPr lang="ja-JP" altLang="en-US"/>
          </a:p>
          <a:p>
            <a:r>
              <a:rPr lang="ja-JP" altLang="en-US"/>
              <a:t>本題のコンテンツの前に章とびら（</a:t>
            </a:r>
            <a:r>
              <a:rPr lang="en-US" altLang="ja-JP"/>
              <a:t>Chapter Cover</a:t>
            </a:r>
            <a:r>
              <a:rPr lang="ja-JP" altLang="en-US"/>
              <a:t>）を挿入する運用方法です。</a:t>
            </a:r>
            <a:endParaRPr lang="en-US" altLang="ja-JP"/>
          </a:p>
          <a:p>
            <a:endParaRPr lang="ja-JP" altLang="en-US"/>
          </a:p>
          <a:p>
            <a:r>
              <a:rPr lang="ja-JP" altLang="en-US"/>
              <a:t>サンプルフォルダ：　</a:t>
            </a:r>
            <a:r>
              <a:rPr lang="en-US" altLang="ja-JP"/>
              <a:t>pm5_chapter_cover_insertion</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en-US" altLang="ja-JP"/>
              <a:t>Chapter Cover </a:t>
            </a:r>
            <a:r>
              <a:rPr lang="ja-JP" altLang="en-US"/>
              <a:t>挿入運用</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pm5_chapter_cover_insertion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chapter_cover_insertion_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width=80%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pm5_chapter_cover_insertion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stylebase</a:t>
            </a:r>
            <a:r>
              <a:rPr lang="ja-JP" altLang="en-US"/>
              <a:t>を別に指定する機能</a:t>
            </a:r>
            <a:endParaRPr lang="en-US" altLang="ja-JP"/>
          </a:p>
          <a:p>
            <a:endParaRPr lang="ja-JP" altLang="en-US"/>
          </a:p>
          <a:p>
            <a:r>
              <a:rPr lang="en-US" altLang="ja-JP"/>
              <a:t>pptx</a:t>
            </a:r>
            <a:r>
              <a:rPr lang="ja-JP" altLang="en-US"/>
              <a:t>ファイルを結合する際、コンテンツとは別にスタイル情報のみ使用するファイルを別途指定する機能です。</a:t>
            </a:r>
            <a:endParaRPr lang="en-US" altLang="ja-JP"/>
          </a:p>
          <a:p>
            <a:endParaRPr lang="ja-JP" altLang="en-US"/>
          </a:p>
          <a:p>
            <a:r>
              <a:rPr lang="ja-JP" altLang="en-US"/>
              <a:t>サンプルフォルダ：　</a:t>
            </a:r>
            <a:r>
              <a:rPr lang="en-US" altLang="ja-JP"/>
              <a:t>pm6_stylebase</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en-US" altLang="ja-JP"/>
              <a:t>stylebase</a:t>
            </a:r>
            <a:r>
              <a:rPr lang="ja-JP" altLang="en-US"/>
              <a:t>を別に指定する機能</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pm6_stylebase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stylebase_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pm6_stylebase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a:p>
          <a:p>
            <a:r>
              <a:rPr lang="en-US" altLang="ja-JP"/>
              <a:t>### </a:t>
            </a:r>
            <a:r>
              <a:rPr kumimoji="1" lang="ja-JP" altLang="en-US"/>
              <a:t>ファイルの分割挿入機能</a:t>
            </a:r>
            <a:endParaRPr kumimoji="1" lang="en-US" altLang="ja-JP"/>
          </a:p>
          <a:p>
            <a:endParaRPr lang="ja-JP" altLang="en-US"/>
          </a:p>
          <a:p>
            <a:r>
              <a:rPr lang="ja-JP" altLang="en-US"/>
              <a:t>ファイル全体ではなく一部を選択して結合する機能です。</a:t>
            </a:r>
            <a:endParaRPr lang="en-US" altLang="ja-JP"/>
          </a:p>
          <a:p>
            <a:endParaRPr lang="ja-JP" altLang="en-US"/>
          </a:p>
          <a:p>
            <a:r>
              <a:rPr lang="ja-JP" altLang="en-US"/>
              <a:t>サンプルフォルダ：　</a:t>
            </a:r>
            <a:r>
              <a:rPr lang="en-US" altLang="ja-JP"/>
              <a:t>pm7_splitted_insertion</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ja-JP" altLang="en-US"/>
              <a:t>ファイルの分割挿入機能</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pm7_splitted_insertion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splitted_insertion_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width=60%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pm7_splitted_insertion</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指定したシェイプを消去</a:t>
            </a:r>
            <a:endParaRPr lang="en-US" altLang="ja-JP"/>
          </a:p>
          <a:p>
            <a:endParaRPr lang="ja-JP" altLang="en-US"/>
          </a:p>
          <a:p>
            <a:r>
              <a:rPr lang="ja-JP" altLang="en-US"/>
              <a:t>配付資料には載せたくないシェイプを特殊マーカーで自動消去する機能です。</a:t>
            </a:r>
            <a:endParaRPr lang="en-US" altLang="ja-JP"/>
          </a:p>
          <a:p>
            <a:endParaRPr lang="ja-JP" altLang="en-US"/>
          </a:p>
          <a:p>
            <a:r>
              <a:rPr lang="ja-JP" altLang="en-US"/>
              <a:t>サンプルフォルダ：　</a:t>
            </a:r>
            <a:r>
              <a:rPr lang="en-US" altLang="ja-JP"/>
              <a:t>pm8_delete_csp</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指定したシェイプを消去</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pm8_delete_csp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delete_csp_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pm8_delete_csp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指定したスライドを削除</a:t>
            </a:r>
            <a:endParaRPr lang="en-US" altLang="ja-JP"/>
          </a:p>
          <a:p>
            <a:endParaRPr lang="ja-JP" altLang="en-US"/>
          </a:p>
          <a:p>
            <a:r>
              <a:rPr lang="ja-JP" altLang="en-US"/>
              <a:t>配付資料には載せたくないスライドを特殊マーカーで自動削除する機能です。</a:t>
            </a:r>
            <a:endParaRPr lang="en-US" altLang="ja-JP"/>
          </a:p>
          <a:p>
            <a:endParaRPr lang="ja-JP" altLang="en-US"/>
          </a:p>
          <a:p>
            <a:r>
              <a:rPr lang="ja-JP" altLang="en-US"/>
              <a:t>サンプルフォルダ：　</a:t>
            </a:r>
            <a:r>
              <a:rPr lang="en-US" altLang="ja-JP"/>
              <a:t>pm9_delete_csl</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指定したスライドを削除</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pm9_delete_csl</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delete_csl_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pm9_delete_csl</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\par\vspace{5\baselineskip}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lang="ja-JP" altLang="en-US"/>
              <a:t>作業用のメモを書く</a:t>
            </a:r>
            <a:endParaRPr lang="en-US" altLang="ja-JP"/>
          </a:p>
          <a:p>
            <a:endParaRPr lang="ja-JP" altLang="en-US"/>
          </a:p>
          <a:p>
            <a:r>
              <a:rPr lang="ja-JP" altLang="en-US"/>
              <a:t>原稿制作中の一時的メモなど、 「後で見直す部分に貼っておく付箋紙」 のような用途に使う機能です。</a:t>
            </a:r>
          </a:p>
          <a:p>
            <a:endParaRPr lang="ja-JP" altLang="en-US"/>
          </a:p>
          <a:p>
            <a:r>
              <a:rPr lang="ja-JP" altLang="en-US"/>
              <a:t>サンプルフォルダ：　</a:t>
            </a:r>
            <a:r>
              <a:rPr lang="en-US" altLang="ja-JP"/>
              <a:t>pm10_memo_temp</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lang="ja-JP" altLang="en-US"/>
              <a:t>作業用のメモを書く</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pm10_memo_temp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memo_temp_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pm10_memo_temp</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pPr marL="0" marR="0" lvl="0" indent="0" algn="l" defTabSz="914400" rtl="0" eaLnBrk="1" fontAlgn="auto" latinLnBrk="0" hangingPunct="1">
              <a:lnSpc>
                <a:spcPct val="100000"/>
              </a:lnSpc>
              <a:spcBef>
                <a:spcPts val="0"/>
              </a:spcBef>
              <a:spcAft>
                <a:spcPts val="0"/>
              </a:spcAft>
              <a:buClrTx/>
              <a:buSzTx/>
              <a:buFontTx/>
              <a:buNone/>
              <a:tabLst/>
              <a:defRPr/>
            </a:pP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r>
              <a:rPr lang="en-US" altLang="ja-JP"/>
              <a:t>```{=latex}</a:t>
            </a:r>
          </a:p>
          <a:p>
            <a:r>
              <a:rPr lang="en-US" altLang="ja-JP"/>
              <a:t>\vfill</a:t>
            </a:r>
          </a:p>
          <a:p>
            <a:r>
              <a:rPr lang="en-US" altLang="ja-JP"/>
              <a:t>\newpage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a:t>
            </a:r>
          </a:p>
          <a:p>
            <a:endParaRPr lang="en-US" altLang="ja-JP"/>
          </a:p>
          <a:p>
            <a:r>
              <a:rPr lang="en-US" altLang="ja-JP"/>
              <a:t>### </a:t>
            </a:r>
            <a:r>
              <a:rPr kumimoji="1" lang="ja-JP" altLang="en-US" sz="1200" kern="0">
                <a:latin typeface="BIZ UDPゴシック" panose="020B0400000000000000" pitchFamily="50" charset="-128"/>
                <a:ea typeface="BIZ UDPゴシック" panose="020B0400000000000000" pitchFamily="50" charset="-128"/>
              </a:rPr>
              <a:t>特殊定数を置換する</a:t>
            </a:r>
            <a:endParaRPr lang="en-US" altLang="ja-JP"/>
          </a:p>
          <a:p>
            <a:endParaRPr lang="ja-JP" altLang="en-US"/>
          </a:p>
          <a:p>
            <a:r>
              <a:rPr lang="ja-JP" altLang="en-US"/>
              <a:t>ソース</a:t>
            </a:r>
            <a:r>
              <a:rPr lang="en-US" altLang="ja-JP"/>
              <a:t>pptx</a:t>
            </a:r>
            <a:r>
              <a:rPr lang="ja-JP" altLang="en-US"/>
              <a:t>のファイル名やスライド番号、スライドタイトルに置換される特殊定数機能です。</a:t>
            </a:r>
          </a:p>
          <a:p>
            <a:endParaRPr lang="ja-JP" altLang="en-US"/>
          </a:p>
          <a:p>
            <a:r>
              <a:rPr lang="ja-JP" altLang="en-US"/>
              <a:t>サンプルフォルダ：　</a:t>
            </a:r>
            <a:r>
              <a:rPr lang="en-US" altLang="ja-JP"/>
              <a:t>pm11_title_filename</a:t>
            </a:r>
          </a:p>
          <a:p>
            <a:endParaRPr lang="en-US" altLang="ja-JP"/>
          </a:p>
          <a:p>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kumimoji="1" lang="ja-JP" altLang="en-US" sz="1200" b="0" kern="1200">
                <a:solidFill>
                  <a:schemeClr val="tx1"/>
                </a:solidFill>
                <a:effectLst/>
                <a:latin typeface="BIZ UDPゴシック" panose="020B0400000000000000" pitchFamily="50" charset="-128"/>
                <a:ea typeface="BIZ UDPゴシック" panose="020B0400000000000000" pitchFamily="50" charset="-128"/>
                <a:cs typeface="+mn-cs"/>
              </a:rPr>
              <a:t>サンプル：</a:t>
            </a:r>
            <a:r>
              <a:rPr kumimoji="1" lang="ja-JP" altLang="en-US" sz="1200" kern="0">
                <a:latin typeface="BIZ UDPゴシック" panose="020B0400000000000000" pitchFamily="50" charset="-128"/>
                <a:ea typeface="BIZ UDPゴシック" panose="020B0400000000000000" pitchFamily="50" charset="-128"/>
              </a:rPr>
              <a:t>特殊定数を置換する</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pm11_title_filename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/build/figures/</a:t>
            </a:r>
            <a:r>
              <a:rPr lang="en-US" altLang="ja-JP"/>
              <a:t>title_filename_</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guide_keyvisual.png/)</a:t>
            </a:r>
            <a:r>
              <a:rPr lang="en-US" altLang="ja-JP"/>
              <a:t>{ width=90% }</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a:t>
            </a:r>
            <a:r>
              <a:rPr lang="en-US" altLang="ja-JP"/>
              <a:t>pm11_title_filename</a:t>
            </a:r>
            <a: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t>/README.md)</a:t>
            </a:r>
          </a:p>
          <a:p>
            <a:br>
              <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rPr>
            </a:br>
            <a:endParaRPr kumimoji="1" lang="en-US" altLang="ja-JP" sz="1200" b="0" kern="1200">
              <a:solidFill>
                <a:schemeClr val="tx1"/>
              </a:solidFill>
              <a:effectLst/>
              <a:latin typeface="BIZ UDPゴシック" panose="020B0400000000000000" pitchFamily="50" charset="-128"/>
              <a:ea typeface="BIZ UDPゴシック" panose="020B0400000000000000" pitchFamily="50" charset="-128"/>
              <a:cs typeface="+mn-cs"/>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106747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PPT &amp; MD merger </a:t>
            </a:r>
            <a:r>
              <a:rPr lang="ja-JP" altLang="en-US"/>
              <a:t>とは？</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5463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6256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悩み１： ちょっとずつ違う</a:t>
            </a:r>
            <a:r>
              <a:rPr kumimoji="1" lang="en-US" altLang="ja-JP"/>
              <a:t>PowerPoint</a:t>
            </a:r>
            <a:r>
              <a:rPr kumimoji="1" lang="ja-JP" altLang="en-US"/>
              <a: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0891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347063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部品を組み合わせて完成</a:t>
            </a:r>
            <a:r>
              <a:rPr lang="ja-JP" altLang="en-US"/>
              <a:t>版</a:t>
            </a:r>
            <a:r>
              <a:rPr kumimoji="1" lang="ja-JP" altLang="en-US"/>
              <a:t>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351980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自動マージするときに章・節番号を付与する</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2451224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補助機能：変数置換</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99831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980132"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 シェイプ</a:t>
            </a:r>
            <a:r>
              <a:rPr lang="en-US" altLang="ja-JP"/>
              <a:t>/</a:t>
            </a:r>
            <a:r>
              <a:rPr lang="ja-JP" altLang="en-US"/>
              <a:t>スライドの自動削除</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配付資料には載せたくないシェイプ</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スライドに特殊マーカーを記入しておくと、それを削除したバージョンを生成可能</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D0148F1D-F5AB-DEE9-4302-938A2C1E7988}"/>
              </a:ext>
            </a:extLst>
          </p:cNvPr>
          <p:cNvGrpSpPr/>
          <p:nvPr/>
        </p:nvGrpSpPr>
        <p:grpSpPr>
          <a:xfrm>
            <a:off x="1127448" y="2316837"/>
            <a:ext cx="3024335" cy="1838902"/>
            <a:chOff x="911424" y="3163721"/>
            <a:chExt cx="3456383" cy="2104181"/>
          </a:xfrm>
        </p:grpSpPr>
        <p:sp>
          <p:nvSpPr>
            <p:cNvPr id="6" name="正方形/長方形 5">
              <a:extLst>
                <a:ext uri="{FF2B5EF4-FFF2-40B4-BE49-F238E27FC236}">
                  <a16:creationId xmlns:a16="http://schemas.microsoft.com/office/drawing/2014/main" id="{3D37FB5E-F85A-AB1C-6E12-5B74CDC3767B}"/>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60332659-883F-2797-55BE-24AA8B793FD6}"/>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#CSP#</a:t>
              </a:r>
            </a:p>
          </p:txBody>
        </p:sp>
      </p:grpSp>
      <p:grpSp>
        <p:nvGrpSpPr>
          <p:cNvPr id="17" name="グループ化 16">
            <a:extLst>
              <a:ext uri="{FF2B5EF4-FFF2-40B4-BE49-F238E27FC236}">
                <a16:creationId xmlns:a16="http://schemas.microsoft.com/office/drawing/2014/main" id="{5098832E-092A-CA37-055E-D3F3F1BD3C39}"/>
              </a:ext>
            </a:extLst>
          </p:cNvPr>
          <p:cNvGrpSpPr/>
          <p:nvPr/>
        </p:nvGrpSpPr>
        <p:grpSpPr>
          <a:xfrm>
            <a:off x="7896200" y="2316837"/>
            <a:ext cx="3024335" cy="1614478"/>
            <a:chOff x="911424" y="3163721"/>
            <a:chExt cx="3456383" cy="2104181"/>
          </a:xfrm>
        </p:grpSpPr>
        <p:sp>
          <p:nvSpPr>
            <p:cNvPr id="18" name="正方形/長方形 17">
              <a:extLst>
                <a:ext uri="{FF2B5EF4-FFF2-40B4-BE49-F238E27FC236}">
                  <a16:creationId xmlns:a16="http://schemas.microsoft.com/office/drawing/2014/main" id="{D194B48B-B5C2-99D6-CCC8-CBACD5A075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A44891D-957C-C5B4-4949-2C4FD04F0D97}"/>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grpSp>
        <p:nvGrpSpPr>
          <p:cNvPr id="21" name="グループ化 20">
            <a:extLst>
              <a:ext uri="{FF2B5EF4-FFF2-40B4-BE49-F238E27FC236}">
                <a16:creationId xmlns:a16="http://schemas.microsoft.com/office/drawing/2014/main" id="{5A7C8A08-E9B3-AFF2-066E-E1A1D5950124}"/>
              </a:ext>
            </a:extLst>
          </p:cNvPr>
          <p:cNvGrpSpPr/>
          <p:nvPr/>
        </p:nvGrpSpPr>
        <p:grpSpPr>
          <a:xfrm>
            <a:off x="7896200" y="4398754"/>
            <a:ext cx="3024335" cy="1838902"/>
            <a:chOff x="911424" y="3163721"/>
            <a:chExt cx="3456383" cy="2104181"/>
          </a:xfrm>
        </p:grpSpPr>
        <p:sp>
          <p:nvSpPr>
            <p:cNvPr id="22" name="正方形/長方形 21">
              <a:extLst>
                <a:ext uri="{FF2B5EF4-FFF2-40B4-BE49-F238E27FC236}">
                  <a16:creationId xmlns:a16="http://schemas.microsoft.com/office/drawing/2014/main" id="{78D3152C-9ED3-0EED-D3E1-2ADB4485DA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8B98F86-37E3-0725-541B-73767E0549C9}"/>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41AC91CF-8273-81DE-F488-C49C5BDDFB60}"/>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85A7CAD0-5F34-7037-05CD-882D653CC4E5}"/>
              </a:ext>
            </a:extLst>
          </p:cNvPr>
          <p:cNvSpPr txBox="1"/>
          <p:nvPr/>
        </p:nvSpPr>
        <p:spPr bwMode="auto">
          <a:xfrm>
            <a:off x="5103732" y="2444722"/>
            <a:ext cx="232654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オプション</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ひとつで切替</a:t>
            </a:r>
          </a:p>
        </p:txBody>
      </p:sp>
      <p:sp>
        <p:nvSpPr>
          <p:cNvPr id="31" name="テキスト ボックス 30">
            <a:extLst>
              <a:ext uri="{FF2B5EF4-FFF2-40B4-BE49-F238E27FC236}">
                <a16:creationId xmlns:a16="http://schemas.microsoft.com/office/drawing/2014/main" id="{C375593D-D4FB-AD25-1A37-89F2D125A8F4}"/>
              </a:ext>
            </a:extLst>
          </p:cNvPr>
          <p:cNvSpPr txBox="1"/>
          <p:nvPr/>
        </p:nvSpPr>
        <p:spPr bwMode="auto">
          <a:xfrm>
            <a:off x="1415480" y="4433435"/>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34" name="テキスト ボックス 33">
            <a:extLst>
              <a:ext uri="{FF2B5EF4-FFF2-40B4-BE49-F238E27FC236}">
                <a16:creationId xmlns:a16="http://schemas.microsoft.com/office/drawing/2014/main" id="{08C9E7E1-7490-23A6-A847-CC80F2782C54}"/>
              </a:ext>
            </a:extLst>
          </p:cNvPr>
          <p:cNvSpPr txBox="1"/>
          <p:nvPr/>
        </p:nvSpPr>
        <p:spPr bwMode="auto">
          <a:xfrm>
            <a:off x="6947792" y="4012792"/>
            <a:ext cx="50482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削除マーカー無効時はマーカー文字列のみ消去</a:t>
            </a:r>
          </a:p>
        </p:txBody>
      </p:sp>
      <p:sp>
        <p:nvSpPr>
          <p:cNvPr id="37" name="テキスト ボックス 36">
            <a:extLst>
              <a:ext uri="{FF2B5EF4-FFF2-40B4-BE49-F238E27FC236}">
                <a16:creationId xmlns:a16="http://schemas.microsoft.com/office/drawing/2014/main" id="{C82DD223-439B-476F-E6D8-56595A79410D}"/>
              </a:ext>
            </a:extLst>
          </p:cNvPr>
          <p:cNvSpPr txBox="1"/>
          <p:nvPr/>
        </p:nvSpPr>
        <p:spPr bwMode="auto">
          <a:xfrm>
            <a:off x="7320136" y="1930106"/>
            <a:ext cx="44589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削除マーカー有効時はシェイプごと削除</a:t>
            </a:r>
          </a:p>
        </p:txBody>
      </p:sp>
      <p:sp>
        <p:nvSpPr>
          <p:cNvPr id="47" name="テキスト ボックス 46">
            <a:extLst>
              <a:ext uri="{FF2B5EF4-FFF2-40B4-BE49-F238E27FC236}">
                <a16:creationId xmlns:a16="http://schemas.microsoft.com/office/drawing/2014/main" id="{A8F9CEF7-B171-503E-BD9A-3A39B75F262E}"/>
              </a:ext>
            </a:extLst>
          </p:cNvPr>
          <p:cNvSpPr txBox="1"/>
          <p:nvPr/>
        </p:nvSpPr>
        <p:spPr bwMode="auto">
          <a:xfrm>
            <a:off x="1415480" y="5001551"/>
            <a:ext cx="374441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スライド削除マーカー </a:t>
            </a:r>
            <a:r>
              <a:rPr kumimoji="1" lang="en-US" altLang="ja-JP" sz="1800" kern="0">
                <a:latin typeface="BIZ UDPゴシック" panose="020B0400000000000000" pitchFamily="50" charset="-128"/>
                <a:ea typeface="BIZ UDPゴシック" panose="020B0400000000000000" pitchFamily="50" charset="-128"/>
              </a:rPr>
              <a:t>#CSL# </a:t>
            </a:r>
            <a:r>
              <a:rPr kumimoji="1" lang="ja-JP" altLang="en-US" sz="1800" kern="0">
                <a:latin typeface="BIZ UDPゴシック" panose="020B0400000000000000" pitchFamily="50" charset="-128"/>
                <a:ea typeface="BIZ UDPゴシック" panose="020B0400000000000000" pitchFamily="50" charset="-128"/>
              </a:rPr>
              <a:t>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スライドごと削除も可能</a:t>
            </a:r>
          </a:p>
        </p:txBody>
      </p:sp>
      <p:pic>
        <p:nvPicPr>
          <p:cNvPr id="49" name="図 48">
            <a:extLst>
              <a:ext uri="{FF2B5EF4-FFF2-40B4-BE49-F238E27FC236}">
                <a16:creationId xmlns:a16="http://schemas.microsoft.com/office/drawing/2014/main" id="{4FC76246-58FA-0CE9-2B1E-0D782ABB52F9}"/>
              </a:ext>
            </a:extLst>
          </p:cNvPr>
          <p:cNvPicPr>
            <a:picLocks noChangeAspect="1"/>
          </p:cNvPicPr>
          <p:nvPr/>
        </p:nvPicPr>
        <p:blipFill>
          <a:blip r:embed="rId3"/>
          <a:stretch>
            <a:fillRect/>
          </a:stretch>
        </p:blipFill>
        <p:spPr>
          <a:xfrm>
            <a:off x="1262321" y="3293272"/>
            <a:ext cx="2554445" cy="798645"/>
          </a:xfrm>
          <a:prstGeom prst="rect">
            <a:avLst/>
          </a:prstGeom>
        </p:spPr>
      </p:pic>
      <p:cxnSp>
        <p:nvCxnSpPr>
          <p:cNvPr id="33" name="直線矢印コネクタ 32">
            <a:extLst>
              <a:ext uri="{FF2B5EF4-FFF2-40B4-BE49-F238E27FC236}">
                <a16:creationId xmlns:a16="http://schemas.microsoft.com/office/drawing/2014/main" id="{9F308311-4291-459C-0DCA-D8202C3C5497}"/>
              </a:ext>
            </a:extLst>
          </p:cNvPr>
          <p:cNvCxnSpPr>
            <a:cxnSpLocks/>
          </p:cNvCxnSpPr>
          <p:nvPr/>
        </p:nvCxnSpPr>
        <p:spPr bwMode="auto">
          <a:xfrm flipH="1" flipV="1">
            <a:off x="1775520" y="4005064"/>
            <a:ext cx="216024" cy="4561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pic>
        <p:nvPicPr>
          <p:cNvPr id="50" name="図 49">
            <a:extLst>
              <a:ext uri="{FF2B5EF4-FFF2-40B4-BE49-F238E27FC236}">
                <a16:creationId xmlns:a16="http://schemas.microsoft.com/office/drawing/2014/main" id="{8A038CBE-1C1A-5121-12A1-2F9677B8508C}"/>
              </a:ext>
            </a:extLst>
          </p:cNvPr>
          <p:cNvPicPr>
            <a:picLocks noChangeAspect="1"/>
          </p:cNvPicPr>
          <p:nvPr/>
        </p:nvPicPr>
        <p:blipFill>
          <a:blip r:embed="rId4"/>
          <a:stretch>
            <a:fillRect/>
          </a:stretch>
        </p:blipFill>
        <p:spPr>
          <a:xfrm>
            <a:off x="1367104" y="4937036"/>
            <a:ext cx="3792041" cy="768163"/>
          </a:xfrm>
          <a:prstGeom prst="rect">
            <a:avLst/>
          </a:prstGeom>
          <a:solidFill>
            <a:schemeClr val="bg1"/>
          </a:solidFill>
        </p:spPr>
      </p:pic>
      <p:sp>
        <p:nvSpPr>
          <p:cNvPr id="4" name="フリーフォーム: 図形 3">
            <a:extLst>
              <a:ext uri="{FF2B5EF4-FFF2-40B4-BE49-F238E27FC236}">
                <a16:creationId xmlns:a16="http://schemas.microsoft.com/office/drawing/2014/main" id="{EE323931-7382-9ECE-70D9-8FB0721C98BE}"/>
              </a:ext>
            </a:extLst>
          </p:cNvPr>
          <p:cNvSpPr/>
          <p:nvPr/>
        </p:nvSpPr>
        <p:spPr bwMode="auto">
          <a:xfrm>
            <a:off x="4151783" y="3091052"/>
            <a:ext cx="3730576" cy="126709"/>
          </a:xfrm>
          <a:custGeom>
            <a:avLst/>
            <a:gdLst>
              <a:gd name="csX0" fmla="*/ 0 w 3761772"/>
              <a:gd name="csY0" fmla="*/ 162046 h 162046"/>
              <a:gd name="csX1" fmla="*/ 1909823 w 3761772"/>
              <a:gd name="csY1" fmla="*/ 150471 h 162046"/>
              <a:gd name="csX2" fmla="*/ 3761772 w 3761772"/>
              <a:gd name="csY2" fmla="*/ 0 h 162046"/>
            </a:gdLst>
            <a:ahLst/>
            <a:cxnLst>
              <a:cxn ang="0">
                <a:pos x="csX0" y="csY0"/>
              </a:cxn>
              <a:cxn ang="0">
                <a:pos x="csX1" y="csY1"/>
              </a:cxn>
              <a:cxn ang="0">
                <a:pos x="csX2" y="csY2"/>
              </a:cxn>
            </a:cxnLst>
            <a:rect l="l" t="t" r="r" b="b"/>
            <a:pathLst>
              <a:path w="3761772" h="162046">
                <a:moveTo>
                  <a:pt x="0" y="162046"/>
                </a:moveTo>
                <a:lnTo>
                  <a:pt x="1909823" y="150471"/>
                </a:lnTo>
                <a:cubicBezTo>
                  <a:pt x="2536785" y="123463"/>
                  <a:pt x="3149278" y="61731"/>
                  <a:pt x="3761772" y="0"/>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
        <p:nvSpPr>
          <p:cNvPr id="7" name="フリーフォーム: 図形 6">
            <a:extLst>
              <a:ext uri="{FF2B5EF4-FFF2-40B4-BE49-F238E27FC236}">
                <a16:creationId xmlns:a16="http://schemas.microsoft.com/office/drawing/2014/main" id="{64F031D0-D45A-0A4F-DC7D-0D308E0CFE54}"/>
              </a:ext>
            </a:extLst>
          </p:cNvPr>
          <p:cNvSpPr/>
          <p:nvPr/>
        </p:nvSpPr>
        <p:spPr bwMode="auto">
          <a:xfrm>
            <a:off x="4155311" y="3213823"/>
            <a:ext cx="3703899" cy="2064233"/>
          </a:xfrm>
          <a:custGeom>
            <a:avLst/>
            <a:gdLst>
              <a:gd name="csX0" fmla="*/ 0 w 3703899"/>
              <a:gd name="csY0" fmla="*/ 27088 h 2064233"/>
              <a:gd name="csX1" fmla="*/ 949124 w 3703899"/>
              <a:gd name="csY1" fmla="*/ 15514 h 2064233"/>
              <a:gd name="csX2" fmla="*/ 1828800 w 3703899"/>
              <a:gd name="csY2" fmla="*/ 212283 h 2064233"/>
              <a:gd name="csX3" fmla="*/ 2303362 w 3703899"/>
              <a:gd name="csY3" fmla="*/ 895190 h 2064233"/>
              <a:gd name="csX4" fmla="*/ 2685327 w 3703899"/>
              <a:gd name="csY4" fmla="*/ 1798015 h 2064233"/>
              <a:gd name="csX5" fmla="*/ 3703899 w 3703899"/>
              <a:gd name="csY5" fmla="*/ 2064233 h 2064233"/>
            </a:gdLst>
            <a:ahLst/>
            <a:cxnLst>
              <a:cxn ang="0">
                <a:pos x="csX0" y="csY0"/>
              </a:cxn>
              <a:cxn ang="0">
                <a:pos x="csX1" y="csY1"/>
              </a:cxn>
              <a:cxn ang="0">
                <a:pos x="csX2" y="csY2"/>
              </a:cxn>
              <a:cxn ang="0">
                <a:pos x="csX3" y="csY3"/>
              </a:cxn>
              <a:cxn ang="0">
                <a:pos x="csX4" y="csY4"/>
              </a:cxn>
              <a:cxn ang="0">
                <a:pos x="csX5" y="csY5"/>
              </a:cxn>
            </a:cxnLst>
            <a:rect l="l" t="t" r="r" b="b"/>
            <a:pathLst>
              <a:path w="3703899" h="2064233">
                <a:moveTo>
                  <a:pt x="0" y="27088"/>
                </a:moveTo>
                <a:cubicBezTo>
                  <a:pt x="322162" y="5868"/>
                  <a:pt x="644324" y="-15352"/>
                  <a:pt x="949124" y="15514"/>
                </a:cubicBezTo>
                <a:cubicBezTo>
                  <a:pt x="1253924" y="46380"/>
                  <a:pt x="1603094" y="65670"/>
                  <a:pt x="1828800" y="212283"/>
                </a:cubicBezTo>
                <a:cubicBezTo>
                  <a:pt x="2054506" y="358896"/>
                  <a:pt x="2160608" y="630901"/>
                  <a:pt x="2303362" y="895190"/>
                </a:cubicBezTo>
                <a:cubicBezTo>
                  <a:pt x="2446116" y="1159479"/>
                  <a:pt x="2451904" y="1603175"/>
                  <a:pt x="2685327" y="1798015"/>
                </a:cubicBezTo>
                <a:cubicBezTo>
                  <a:pt x="2918750" y="1992856"/>
                  <a:pt x="3311324" y="2028544"/>
                  <a:pt x="3703899" y="2064233"/>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Tree>
    <p:extLst>
      <p:ext uri="{BB962C8B-B14F-4D97-AF65-F5344CB8AC3E}">
        <p14:creationId xmlns:p14="http://schemas.microsoft.com/office/powerpoint/2010/main" val="1495589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rPr lang="ja-JP" altLang="en-US"/>
              <a:t>補助機能： 一時メモ用シェイプの自動削除</a:t>
            </a:r>
            <a:endParaRPr kumimoji="1" lang="ja-JP" altLang="en-US"/>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ECC66B56-87F7-2D03-59F3-8CA9786626F7}"/>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sz="2400" kern="0">
                <a:latin typeface="BIZ UDPゴシック" panose="020B0400000000000000" pitchFamily="50" charset="-128"/>
                <a:ea typeface="BIZ UDPゴシック" panose="020B0400000000000000" pitchFamily="50" charset="-128"/>
              </a:rPr>
              <a:t>#MEMO# </a:t>
            </a:r>
            <a:r>
              <a:rPr kumimoji="1" lang="ja-JP" altLang="en-US" sz="2400" kern="0">
                <a:latin typeface="BIZ UDPゴシック" panose="020B0400000000000000" pitchFamily="50" charset="-128"/>
                <a:ea typeface="BIZ UDPゴシック" panose="020B0400000000000000" pitchFamily="50" charset="-128"/>
              </a:rPr>
              <a:t>という特殊マーカーを記入したシェイプは必ず削除される</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sp>
        <p:nvSpPr>
          <p:cNvPr id="7" name="正方形/長方形 6">
            <a:extLst>
              <a:ext uri="{FF2B5EF4-FFF2-40B4-BE49-F238E27FC236}">
                <a16:creationId xmlns:a16="http://schemas.microsoft.com/office/drawing/2014/main" id="{36AD6416-7494-7525-1F06-F0FA86741BB3}"/>
              </a:ext>
            </a:extLst>
          </p:cNvPr>
          <p:cNvSpPr/>
          <p:nvPr/>
        </p:nvSpPr>
        <p:spPr bwMode="auto">
          <a:xfrm>
            <a:off x="2732180" y="2310708"/>
            <a:ext cx="1347596" cy="52891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最新情報確認！</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algn="ctr" eaLnBrk="1" hangingPunct="1"/>
            <a:r>
              <a:rPr lang="en-US" altLang="ja-JP" sz="1400">
                <a:latin typeface="BIZ UDPゴシック" panose="020B0400000000000000" pitchFamily="50" charset="-128"/>
                <a:ea typeface="BIZ UDPゴシック" panose="020B0400000000000000" pitchFamily="50" charset="-128"/>
              </a:rPr>
              <a:t>#MEMO#</a:t>
            </a:r>
            <a:endParaRPr kumimoji="1" lang="ja-JP" altLang="en-US" sz="1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2470062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rPr lang="en-US" altLang="ja-JP"/>
              <a:t>PPTX</a:t>
            </a:r>
            <a:r>
              <a:rPr lang="ja-JP" altLang="en-US"/>
              <a:t>生成機能と、その他の形式文書生成機能</a:t>
            </a:r>
            <a:endParaRPr kumimoji="1" lang="ja-JP" altLang="en-US"/>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1441320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189626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ja-JP" altLang="en-US"/>
              <a:t>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2311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0952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617824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37555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Examples</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1077623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31619</TotalTime>
  <Words>5233</Words>
  <Application>Microsoft Office PowerPoint</Application>
  <PresentationFormat>ワイド画面</PresentationFormat>
  <Paragraphs>985</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BIZ UDPゴシック</vt:lpstr>
      <vt:lpstr>FOT-UD丸ゴ_ラージ Pr6 M</vt:lpstr>
      <vt:lpstr>Moralerspace Neon HW</vt:lpstr>
      <vt:lpstr>Arial</vt:lpstr>
      <vt:lpstr>Garamond</vt:lpstr>
      <vt:lpstr>Wingdings</vt:lpstr>
      <vt:lpstr>Edge</vt:lpstr>
      <vt:lpstr>PPT &amp; MD merger とは？</vt:lpstr>
      <vt:lpstr>どんな人のためのツール？</vt:lpstr>
      <vt:lpstr>悩み１： ちょっとずつ違うPowerPointのコピーが増殖</vt:lpstr>
      <vt:lpstr>悩み２： 章・節番号をつけるのが面倒くさい</vt:lpstr>
      <vt:lpstr>なんとかこの悩みを解決できないか？</vt:lpstr>
      <vt:lpstr>まずは問題の構造を整理すると・・・</vt:lpstr>
      <vt:lpstr>部品を組み合わせて完成版を構成する仕組みを作る</vt:lpstr>
      <vt:lpstr>自動マージするときに章・節番号を付与する</vt:lpstr>
      <vt:lpstr>補助機能：変数置換</vt:lpstr>
      <vt:lpstr>補助機能： シェイプ/スライドの自動削除</vt:lpstr>
      <vt:lpstr>補助機能： 一時メモ用シェイプの自動削除</vt:lpstr>
      <vt:lpstr>PPTX生成機能と、その他の形式文書生成機能</vt:lpstr>
      <vt:lpstr>システム要件</vt:lpstr>
      <vt:lpstr>インストール方法</vt:lpstr>
      <vt:lpstr>Quick Start</vt:lpstr>
      <vt:lpstr>Quick Start</vt:lpstr>
      <vt:lpstr>Quick Start</vt:lpstr>
      <vt:lpstr>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4236</cp:revision>
  <dcterms:modified xsi:type="dcterms:W3CDTF">2026-06-05T12:32:49Z</dcterms:modified>
</cp:coreProperties>
</file>