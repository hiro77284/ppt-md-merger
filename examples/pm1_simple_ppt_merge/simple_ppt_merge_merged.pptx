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8"/>
  </p:notesMasterIdLst>
  <p:sldIdLst>
    <p:sldId id="1785" r:id="rId2"/>
    <p:sldId id="1783" r:id="rId3"/>
    <p:sldId id="1784" r:id="rId4"/>
    <p:sldId id="1782" r:id="rId5"/>
    <p:sldId id="1789" r:id="rId6"/>
    <p:sldId id="1790" r:id="rId7"/>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FCC"/>
    <a:srgbClr val="FFCCFF"/>
    <a:srgbClr val="CCECFF"/>
    <a:srgbClr val="99FFCC"/>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2500" autoAdjust="0"/>
  </p:normalViewPr>
  <p:slideViewPr>
    <p:cSldViewPr>
      <p:cViewPr varScale="1">
        <p:scale>
          <a:sx n="81" d="100"/>
          <a:sy n="81" d="100"/>
        </p:scale>
        <p:origin x="804"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extracted/figures/simple_ppt_merge_guide_slide1_fig.png</a:t>
            </a:r>
          </a:p>
          <a:p/>
          <a:p>
            <a:r>
              <a:t>===BLOCK===</a:t>
            </a:r>
          </a:p>
          <a:p>
            <a:r>
              <a:t>{{BLOCK:IMAGE}}</a:t>
            </a:r>
          </a:p>
          <a:p/>
          <a:p>
            <a:r>
              <a:t>export-image-mode: slide_with_rectpct</a:t>
            </a:r>
          </a:p>
          <a:p>
            <a:r>
              <a:t>export-image-target: keyvisual</a:t>
            </a:r>
          </a:p>
          <a:p>
            <a:r>
              <a:t>export-image: extracted/figures/simple_ppt_merge_guide_keyvisual.png</a:t>
            </a:r>
          </a:p>
          <a:p/>
          <a:p>
            <a:r>
              <a:t>===BLOCK===</a:t>
            </a:r>
          </a:p>
          <a:p>
            <a:r>
              <a:t>{{BLOCK:MD:LONG}}</a:t>
            </a:r>
          </a:p>
          <a:p/>
          <a:p>
            <a:r>
              <a:t>export-note: extracted/simple_ppt_merge_guide_slide1_md.md</a:t>
            </a:r>
          </a:p>
          <a:p>
            <a:r>
              <a:t>{{#id:section:simple_ppt_merge_guide:slide1}}</a:t>
            </a:r>
          </a:p>
          <a:p>
            <a:r>
              <a:t>## pptmerge　単純マージ</a:t>
            </a:r>
          </a:p>
          <a:p/>
          <a:p>
            <a:r>
              <a:t>単純マージは２つのpptxファイルを単に結合するだけの、最も単純な機能です。</a:t>
            </a:r>
          </a:p>
          <a:p/>
          <a:p>
            <a:r>
              <a:t>結合指示書には関連キーワード欄の命令を使って結合対象ファイルを記載します。これについては後述します。</a:t>
            </a:r>
          </a:p>
          <a:p/>
          <a:p>
            <a:r>
              <a:t>処理のイメージは下記の通りです。</a:t>
            </a:r>
          </a:p>
          <a:p/>
          <a:p>
            <a:r>
              <a:t>```{=latex}</a:t>
            </a:r>
          </a:p>
          <a:p>
            <a:r>
              <a:t>\begin{center}</a:t>
            </a:r>
          </a:p>
          <a:p>
            <a:r>
              <a:t>```</a:t>
            </a:r>
          </a:p>
          <a:p/>
          <a:p>
            <a:r>
              <a:t>![](figures/simple_ppt_merge_guide_slide1_fig.png){ width=95% }</a:t>
            </a:r>
          </a:p>
          <a:p/>
          <a:p>
            <a:r>
              <a:t>![](figures/simple_ppt_merge_guide_keyvisual.png){ width=60% }</a:t>
            </a:r>
          </a:p>
          <a:p/>
          <a:p/>
          <a:p>
            <a:r>
              <a:t>```{=latex}</a:t>
            </a:r>
          </a:p>
          <a:p>
            <a:r>
              <a:t>\end{center}</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5591346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a:t>
            </a:r>
          </a:p>
          <a:p>
            <a:r>
              <a:t>export-image-target: </a:t>
            </a:r>
          </a:p>
          <a:p>
            <a:r>
              <a:t>export-image: </a:t>
            </a:r>
          </a:p>
          <a:p/>
          <a:p>
            <a:r>
              <a:t>===BLOCK===</a:t>
            </a:r>
          </a:p>
          <a:p>
            <a:r>
              <a:t>{{BLOCK:MD:LONG}}</a:t>
            </a:r>
          </a:p>
          <a:p/>
          <a:p>
            <a:r>
              <a:t>export-note: extracted/simple_ppt_merge_guide_slide2_md.md</a:t>
            </a:r>
          </a:p>
          <a:p>
            <a:r>
              <a:t>{{#id:section:simple_ppt_merge_guide:slide2}}</a:t>
            </a:r>
          </a:p>
          <a:p>
            <a:r>
              <a:t>## pm1_simple_ppt_merge 概要</a:t>
            </a:r>
          </a:p>
          <a:p/>
          <a:p>
            <a:r>
              <a:t>simple_ppt_merge_guide.pptx は、２つのpptxファイルを単に結合するだけの単純マージを行うサンプルです。</a:t>
            </a:r>
          </a:p>
          <a:p/>
          <a:p>
            <a:r>
              <a:t>データフォルダ:  PROJECT_ROOT\examples\pm1_simple_ppt_merge</a:t>
            </a:r>
          </a:p>
          <a:p/>
          <a:p>
            <a:r>
              <a:t>### サンプルファイル一覧</a:t>
            </a:r>
          </a:p>
          <a:p/>
          <a:p>
            <a:r>
              <a:t>| 番号 | ファイル名         |          内容                |</a:t>
            </a:r>
          </a:p>
          <a:p>
            <a:r>
              <a:t>| --- | --------------- | ------------------------ |</a:t>
            </a:r>
          </a:p>
          <a:p>
            <a:r>
              <a:t>| 1 | simple_ppt_merge_recipe.yaml | 結合指示書：マージ処理の仕様を示す  |</a:t>
            </a:r>
          </a:p>
          <a:p>
            <a:r>
              <a:t>| 2 | simple_ppt_merge_guide.pptx  |  このサンプルの説明書ソースpptx  |</a:t>
            </a:r>
          </a:p>
          <a:p>
            <a:r>
              <a:t>| 3 | second.pptx                  | 結合元ファイルサンプル（3スライド）   |</a:t>
            </a:r>
          </a:p>
          <a:p>
            <a:r>
              <a:t>| 4 | simple_ppt_merge_merged.pptx       | 2と3の結合結果   |</a:t>
            </a:r>
          </a:p>
          <a:p/>
          <a:p>
            <a:r>
              <a:t>ファイル2 + ファイル3 → ファイル4 という結合処理を行います。</a:t>
            </a:r>
          </a:p>
          <a:p/>
          <a:p>
            <a:r>
              <a:t>### 実行命令</a:t>
            </a:r>
          </a:p>
          <a:p/>
          <a:p>
            <a:r>
              <a:t>ファイル1の結合指示書に結合対象ファイルを記載します（後述します）。</a:t>
            </a:r>
          </a:p>
          <a:p/>
          <a:p>
            <a:r>
              <a:t>以下の命令で実行します。サブコマンド pptmerge の引数に結合指示書を指定します。途中、一時的に PowerPoint が起動します。 --force は既出力ファイルを上書きするオプションです。</a:t>
            </a:r>
          </a:p>
          <a:p/>
          <a:p>
            <a:r>
              <a:t>```bash</a:t>
            </a:r>
          </a:p>
          <a:p>
            <a:r>
              <a:t>pptmdmerge pptmerge PROJECT_ROOT\examples\pm1_simple_ppt_merge_recipe.yaml --force</a:t>
            </a:r>
          </a:p>
          <a:p>
            <a:r>
              <a:t>```</a:t>
            </a:r>
          </a:p>
          <a:p/>
          <a:p>
            <a:r>
              <a:t>結果、ファイル4が生成されれば成功です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10288075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extracted/figures/simple_ppt_merge_guide_slide3_fig.png</a:t>
            </a:r>
          </a:p>
          <a:p/>
          <a:p>
            <a:r>
              <a:t>===BLOCK===</a:t>
            </a:r>
          </a:p>
          <a:p>
            <a:r>
              <a:t>{{BLOCK:MD:LONG}}</a:t>
            </a:r>
          </a:p>
          <a:p/>
          <a:p>
            <a:r>
              <a:t>export-note: extracted/simple_ppt_merge_guide_slide3_md.md</a:t>
            </a:r>
          </a:p>
          <a:p>
            <a:r>
              <a:t>{{#id:section:simple_ppt_merge_guide:slide3}}</a:t>
            </a:r>
          </a:p>
          <a:p>
            <a:r>
              <a:t>## マージ結果</a:t>
            </a:r>
          </a:p>
          <a:p/>
          <a:p>
            <a:r>
              <a:t>実行後は2つのpptxファイルがマージ（結合）されています。</a:t>
            </a:r>
          </a:p>
          <a:p/>
          <a:p>
            <a:r>
              <a:t>結合だけなので、章・節番号はつきません。</a:t>
            </a:r>
          </a:p>
          <a:p/>
          <a:p>
            <a:r>
              <a:t>```{=latex}</a:t>
            </a:r>
          </a:p>
          <a:p>
            <a:r>
              <a:t>\begin{center}</a:t>
            </a:r>
          </a:p>
          <a:p>
            <a:r>
              <a:t>```</a:t>
            </a:r>
          </a:p>
          <a:p/>
          <a:p>
            <a:r>
              <a:t>![](figures/simple_ppt_merge_guide_slide3_fig.png){ width=95% }</a:t>
            </a:r>
          </a:p>
          <a:p/>
          <a:p>
            <a:r>
              <a:t>```{=latex}</a:t>
            </a:r>
          </a:p>
          <a:p>
            <a:r>
              <a:t>\end{center}</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8583697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extracted/figures/simple_ppt_merge_guide_slide4_fig.png</a:t>
            </a:r>
          </a:p>
          <a:p/>
          <a:p>
            <a:r>
              <a:t>===BLOCK===</a:t>
            </a:r>
          </a:p>
          <a:p>
            <a:r>
              <a:t>{{BLOCK:MD:LONG}}</a:t>
            </a:r>
          </a:p>
          <a:p/>
          <a:p>
            <a:r>
              <a:t>export-note: extracted/simple_ppt_merge_guide_slide4_md.md</a:t>
            </a:r>
          </a:p>
          <a:p>
            <a:r>
              <a:t>{{#id:section:simple_ppt_merge_guide:slide4}}</a:t>
            </a:r>
          </a:p>
          <a:p>
            <a:r>
              <a:t>## 結合指示書サンプル</a:t>
            </a:r>
          </a:p>
          <a:p/>
          <a:p>
            <a:r>
              <a:t>結合指示書では、output.pptxfilename: に結合後のpptxファイル名を記載し、</a:t>
            </a:r>
          </a:p>
          <a:p>
            <a:r>
              <a:t>procedureセクションに　operation: insertpptx の配列で結合対象ファイルを記載します。</a:t>
            </a:r>
          </a:p>
          <a:p/>
          <a:p>
            <a:r>
              <a:t>```{=latex}</a:t>
            </a:r>
          </a:p>
          <a:p>
            <a:r>
              <a:t>\begin{center}</a:t>
            </a:r>
          </a:p>
          <a:p>
            <a:r>
              <a:t>```</a:t>
            </a:r>
          </a:p>
          <a:p/>
          <a:p>
            <a:r>
              <a:t>![](figures/simple_ppt_merge_guide_slide4_fig.png){ width=95% }</a:t>
            </a:r>
          </a:p>
          <a:p/>
          <a:p>
            <a:r>
              <a:t>```{=latex}</a:t>
            </a:r>
          </a:p>
          <a:p>
            <a:r>
              <a:t>\end{center}</a:t>
            </a:r>
          </a:p>
          <a:p>
            <a:r>
              <a:t>```</a:t>
            </a:r>
          </a:p>
          <a:p/>
          <a:p>
            <a:r>
              <a:t>PowerPointのデザインスタイル等は最初のファイル first.pptx が基準になるので、残りのファイルのスタイルが違っているとレイアウト崩れ等が起きることがあるのでご注意ください。</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570289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34604482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24771721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12998"/>
            <a:ext cx="9793088" cy="189888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24E9AFA5-944E-E4D6-A8F9-1385640032C2}"/>
              </a:ext>
            </a:extLst>
          </p:cNvPr>
          <p:cNvSpPr/>
          <p:nvPr/>
        </p:nvSpPr>
        <p:spPr bwMode="auto">
          <a:xfrm>
            <a:off x="2783632" y="2904486"/>
            <a:ext cx="6417244"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pptmerge</a:t>
            </a:r>
            <a:r>
              <a:rPr kumimoji="1" lang="ja-JP" altLang="en-US"/>
              <a:t>　単純マージ</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3143672" y="3349930"/>
            <a:ext cx="879356" cy="1211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3262135" y="3465651"/>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3262135" y="4021009"/>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3143672" y="5157625"/>
            <a:ext cx="879357" cy="115770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3262135" y="528480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3262135" y="581892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3020686" y="2972217"/>
            <a:ext cx="11253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3013789" y="4771530"/>
            <a:ext cx="11391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752184" y="3856923"/>
            <a:ext cx="879356" cy="233867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870647" y="3972645"/>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870647" y="4528003"/>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870647" y="506819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870647" y="560231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182849" y="3348986"/>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727848" y="4292064"/>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p:nvPr/>
        </p:nvCxnSpPr>
        <p:spPr bwMode="auto">
          <a:xfrm>
            <a:off x="4341673" y="4771530"/>
            <a:ext cx="2978463"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simple_ppt_merge_recipe.yaml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つの </a:t>
            </a:r>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ファイルを単純に結合する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6A929BD-2F4E-6305-C470-00B247FAA3D6}"/>
              </a:ext>
            </a:extLst>
          </p:cNvPr>
          <p:cNvSpPr txBox="1"/>
          <p:nvPr/>
        </p:nvSpPr>
        <p:spPr bwMode="auto">
          <a:xfrm>
            <a:off x="4727848" y="4896171"/>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単純に結合</a:t>
            </a: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47764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pm1_simple_ppt_merge </a:t>
            </a:r>
            <a:r>
              <a:rPr kumimoji="1" lang="ja-JP" altLang="en-US"/>
              <a:t>概要</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 name="テキスト ボックス 5">
            <a:extLst>
              <a:ext uri="{FF2B5EF4-FFF2-40B4-BE49-F238E27FC236}">
                <a16:creationId xmlns:a16="http://schemas.microsoft.com/office/drawing/2014/main" id="{D8D32C2E-6D64-1915-E77C-583D0ED6D96D}"/>
              </a:ext>
            </a:extLst>
          </p:cNvPr>
          <p:cNvSpPr txBox="1"/>
          <p:nvPr/>
        </p:nvSpPr>
        <p:spPr bwMode="auto">
          <a:xfrm>
            <a:off x="695400" y="4333863"/>
            <a:ext cx="10873208" cy="768268"/>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100" kern="0">
                <a:solidFill>
                  <a:schemeClr val="bg1"/>
                </a:solidFill>
                <a:latin typeface="BIZ UDPゴシック" panose="020B0400000000000000" pitchFamily="50" charset="-128"/>
                <a:ea typeface="BIZ UDPゴシック" panose="020B0400000000000000" pitchFamily="50" charset="-128"/>
              </a:rPr>
              <a:t>cd D:\sandbox\pm1_simple_ppt_merge</a:t>
            </a:r>
          </a:p>
          <a:p>
            <a:endParaRPr lang="en-US" altLang="ja-JP" sz="1100" kern="0">
              <a:solidFill>
                <a:schemeClr val="bg1"/>
              </a:solidFill>
              <a:latin typeface="BIZ UDPゴシック" panose="020B0400000000000000" pitchFamily="50" charset="-128"/>
              <a:ea typeface="BIZ UDPゴシック" panose="020B0400000000000000" pitchFamily="50" charset="-128"/>
            </a:endParaRPr>
          </a:p>
          <a:p>
            <a:r>
              <a:rPr lang="en-US" altLang="ja-JP" sz="1100" kern="0">
                <a:solidFill>
                  <a:schemeClr val="bg1"/>
                </a:solidFill>
                <a:latin typeface="BIZ UDPゴシック" panose="020B0400000000000000" pitchFamily="50" charset="-128"/>
                <a:ea typeface="BIZ UDPゴシック" panose="020B0400000000000000" pitchFamily="50" charset="-128"/>
              </a:rPr>
              <a:t>pptmdmerge pptmerge D:\sandbox\pm1_simple_ppt_merge\simple_ppt_merge_recipe.yaml --force</a:t>
            </a:r>
          </a:p>
          <a:p>
            <a:pPr algn="l"/>
            <a:endParaRPr kumimoji="1" lang="en-US" altLang="ja-JP" sz="1100" kern="0">
              <a:solidFill>
                <a:schemeClr val="bg1"/>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A9F4AE9F-FFDC-8F04-A20C-50B8EC1DC7DB}"/>
              </a:ext>
            </a:extLst>
          </p:cNvPr>
          <p:cNvSpPr txBox="1"/>
          <p:nvPr/>
        </p:nvSpPr>
        <p:spPr bwMode="auto">
          <a:xfrm>
            <a:off x="695400" y="5733206"/>
            <a:ext cx="10873208" cy="307777"/>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050" kern="0">
                <a:solidFill>
                  <a:schemeClr val="bg1"/>
                </a:solidFill>
                <a:latin typeface="BIZ UDPゴシック" panose="020B0400000000000000" pitchFamily="50" charset="-128"/>
                <a:ea typeface="BIZ UDPゴシック" panose="020B0400000000000000" pitchFamily="50" charset="-128"/>
              </a:rPr>
              <a:t>OK: D:\sandbox\pm1_simple_ppt_merge\simple_ppt_merge_recipe.yaml -&gt; D:\sandbox\pm1_simple_ppt_merge\simple_ppt_merged.pptx</a:t>
            </a:r>
            <a:endParaRPr kumimoji="1" lang="en-US" altLang="ja-JP" sz="1050" kern="0">
              <a:solidFill>
                <a:schemeClr val="bg1"/>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94E4A420-1A53-FCDD-AA48-33A8BB6FB5CF}"/>
              </a:ext>
            </a:extLst>
          </p:cNvPr>
          <p:cNvSpPr txBox="1"/>
          <p:nvPr/>
        </p:nvSpPr>
        <p:spPr bwMode="auto">
          <a:xfrm>
            <a:off x="706374" y="3709870"/>
            <a:ext cx="1028617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コマンド実行例　</a:t>
            </a:r>
            <a:r>
              <a:rPr lang="en-US" altLang="ja-JP" sz="1400" kern="0">
                <a:latin typeface="BIZ UDPゴシック" panose="020B0400000000000000" pitchFamily="50" charset="-128"/>
                <a:ea typeface="BIZ UDPゴシック" panose="020B0400000000000000" pitchFamily="50" charset="-128"/>
              </a:rPr>
              <a:t>pptmdmerge </a:t>
            </a:r>
            <a:r>
              <a:rPr lang="ja-JP" altLang="en-US" sz="1400" kern="0">
                <a:latin typeface="BIZ UDPゴシック" panose="020B0400000000000000" pitchFamily="50" charset="-128"/>
                <a:ea typeface="BIZ UDPゴシック" panose="020B0400000000000000" pitchFamily="50" charset="-128"/>
              </a:rPr>
              <a:t>インストール後に実行します。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途中、一時的に</a:t>
            </a:r>
            <a:r>
              <a:rPr kumimoji="1" lang="en-US" altLang="ja-JP" sz="1400" kern="0">
                <a:latin typeface="BIZ UDPゴシック" panose="020B0400000000000000" pitchFamily="50" charset="-128"/>
                <a:ea typeface="BIZ UDPゴシック" panose="020B0400000000000000" pitchFamily="50" charset="-128"/>
              </a:rPr>
              <a:t>PowerPoint</a:t>
            </a:r>
            <a:r>
              <a:rPr kumimoji="1" lang="ja-JP" altLang="en-US" sz="1400" kern="0">
                <a:latin typeface="BIZ UDPゴシック" panose="020B0400000000000000" pitchFamily="50" charset="-128"/>
                <a:ea typeface="BIZ UDPゴシック" panose="020B0400000000000000" pitchFamily="50" charset="-128"/>
              </a:rPr>
              <a:t>が起動します。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0312D6B3-F976-AA35-A48B-FADBC7947107}"/>
              </a:ext>
            </a:extLst>
          </p:cNvPr>
          <p:cNvSpPr txBox="1"/>
          <p:nvPr/>
        </p:nvSpPr>
        <p:spPr bwMode="auto">
          <a:xfrm>
            <a:off x="706374" y="5397393"/>
            <a:ext cx="102861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結果、</a:t>
            </a:r>
            <a:r>
              <a:rPr lang="en-US" altLang="ja-JP" sz="1400" kern="0">
                <a:latin typeface="BIZ UDPゴシック" panose="020B0400000000000000" pitchFamily="50" charset="-128"/>
                <a:ea typeface="BIZ UDPゴシック" panose="020B0400000000000000" pitchFamily="50" charset="-128"/>
              </a:rPr>
              <a:t> sample_ppt_merge_merged.pptx</a:t>
            </a:r>
            <a:r>
              <a:rPr lang="ja-JP" altLang="en-US" sz="1400" kern="0">
                <a:latin typeface="BIZ UDPゴシック" panose="020B0400000000000000" pitchFamily="50" charset="-128"/>
                <a:ea typeface="BIZ UDPゴシック" panose="020B0400000000000000" pitchFamily="50" charset="-128"/>
              </a:rPr>
              <a:t>が生成されれば成功です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25377463-9192-7B3A-463F-A9BAC35351B9}"/>
              </a:ext>
            </a:extLst>
          </p:cNvPr>
          <p:cNvSpPr txBox="1"/>
          <p:nvPr/>
        </p:nvSpPr>
        <p:spPr bwMode="auto">
          <a:xfrm>
            <a:off x="744181" y="133797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E75C53A6-68B8-65C6-8C96-4CCCD3FA1979}"/>
              </a:ext>
            </a:extLst>
          </p:cNvPr>
          <p:cNvSpPr txBox="1"/>
          <p:nvPr/>
        </p:nvSpPr>
        <p:spPr bwMode="auto">
          <a:xfrm>
            <a:off x="2855640" y="1337972"/>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DE179F2-F678-1CCD-00CA-C205AA9B837F}"/>
              </a:ext>
            </a:extLst>
          </p:cNvPr>
          <p:cNvSpPr txBox="1"/>
          <p:nvPr/>
        </p:nvSpPr>
        <p:spPr bwMode="auto">
          <a:xfrm>
            <a:off x="744181" y="1871200"/>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サンプルファイル</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2DA987A4-E128-961B-5A65-D7C5203465A4}"/>
              </a:ext>
            </a:extLst>
          </p:cNvPr>
          <p:cNvSpPr txBox="1"/>
          <p:nvPr/>
        </p:nvSpPr>
        <p:spPr bwMode="auto">
          <a:xfrm>
            <a:off x="923036" y="2439213"/>
            <a:ext cx="7621235"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simple_ppt_merge_merged.pptx</a:t>
            </a:r>
          </a:p>
          <a:p>
            <a:r>
              <a:rPr lang="en-US" altLang="ja-JP" sz="1600" kern="0">
                <a:latin typeface="BIZ UDPゴシック" panose="020B0400000000000000" pitchFamily="50" charset="-128"/>
                <a:ea typeface="BIZ UDPゴシック" panose="020B0400000000000000" pitchFamily="50" charset="-128"/>
              </a:rPr>
              <a:t>simple_ppt_merge_recipe.yaml</a:t>
            </a:r>
          </a:p>
          <a:p>
            <a:r>
              <a:rPr lang="en-US" altLang="ja-JP" sz="1600" kern="0">
                <a:latin typeface="BIZ UDPゴシック" panose="020B0400000000000000" pitchFamily="50" charset="-128"/>
                <a:ea typeface="BIZ UDPゴシック" panose="020B0400000000000000" pitchFamily="50" charset="-128"/>
              </a:rPr>
              <a:t>simple_ppt_merge_guide.pptx</a:t>
            </a:r>
          </a:p>
          <a:p>
            <a:r>
              <a:rPr lang="en-US" altLang="ja-JP" sz="1600" kern="0">
                <a:latin typeface="BIZ UDPゴシック" panose="020B0400000000000000" pitchFamily="50" charset="-128"/>
                <a:ea typeface="BIZ UDPゴシック" panose="020B0400000000000000" pitchFamily="50" charset="-128"/>
              </a:rPr>
              <a:t>second.pptx</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9768F4DF-CE6C-2161-F7F7-72EF375D9286}"/>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565953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6B12189-9977-1CFF-6570-828B843FE7DA}"/>
              </a:ext>
            </a:extLst>
          </p:cNvPr>
          <p:cNvSpPr/>
          <p:nvPr/>
        </p:nvSpPr>
        <p:spPr bwMode="auto">
          <a:xfrm>
            <a:off x="407368" y="1020693"/>
            <a:ext cx="11305256" cy="543264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00D903C-6597-A30F-1593-A5B8D360C3A6}"/>
              </a:ext>
            </a:extLst>
          </p:cNvPr>
          <p:cNvPicPr>
            <a:picLocks noChangeAspect="1"/>
          </p:cNvPicPr>
          <p:nvPr/>
        </p:nvPicPr>
        <p:blipFill>
          <a:blip r:embed="rId3"/>
          <a:stretch>
            <a:fillRect/>
          </a:stretch>
        </p:blipFill>
        <p:spPr>
          <a:xfrm>
            <a:off x="479376" y="1875374"/>
            <a:ext cx="11044826" cy="4505954"/>
          </a:xfrm>
          <a:prstGeom prst="rect">
            <a:avLst/>
          </a:prstGeom>
        </p:spPr>
      </p:pic>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マージ結果</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6B493606-BD95-738A-1691-88B06787E242}"/>
              </a:ext>
            </a:extLst>
          </p:cNvPr>
          <p:cNvSpPr txBox="1"/>
          <p:nvPr/>
        </p:nvSpPr>
        <p:spPr bwMode="auto">
          <a:xfrm>
            <a:off x="695400" y="1067642"/>
            <a:ext cx="872287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実行後は </a:t>
            </a:r>
            <a:r>
              <a:rPr lang="fr-FR" altLang="ja-JP" sz="1400" kern="0">
                <a:latin typeface="BIZ UDPゴシック" panose="020B0400000000000000" pitchFamily="50" charset="-128"/>
                <a:ea typeface="BIZ UDPゴシック" panose="020B0400000000000000" pitchFamily="50" charset="-128"/>
              </a:rPr>
              <a:t>simple_ppt_merge_guide.pptx</a:t>
            </a:r>
            <a:r>
              <a:rPr lang="en-US" altLang="ja-JP" sz="1400" kern="0">
                <a:latin typeface="BIZ UDPゴシック" panose="020B0400000000000000" pitchFamily="50" charset="-128"/>
                <a:ea typeface="BIZ UDPゴシック" panose="020B0400000000000000" pitchFamily="50" charset="-128"/>
              </a:rPr>
              <a:t> </a:t>
            </a:r>
            <a:r>
              <a:rPr lang="ja-JP" altLang="en-US" sz="1400" kern="0">
                <a:latin typeface="BIZ UDPゴシック" panose="020B0400000000000000" pitchFamily="50" charset="-128"/>
                <a:ea typeface="BIZ UDPゴシック" panose="020B0400000000000000" pitchFamily="50" charset="-128"/>
              </a:rPr>
              <a:t>と </a:t>
            </a:r>
            <a:r>
              <a:rPr lang="en-US" altLang="ja-JP" sz="1400" kern="0">
                <a:latin typeface="BIZ UDPゴシック" panose="020B0400000000000000" pitchFamily="50" charset="-128"/>
                <a:ea typeface="BIZ UDPゴシック" panose="020B0400000000000000" pitchFamily="50" charset="-128"/>
              </a:rPr>
              <a:t>second.pptx </a:t>
            </a:r>
            <a:r>
              <a:rPr lang="ja-JP" altLang="en-US" sz="1400" kern="0">
                <a:latin typeface="BIZ UDPゴシック" panose="020B0400000000000000" pitchFamily="50" charset="-128"/>
                <a:ea typeface="BIZ UDPゴシック" panose="020B0400000000000000" pitchFamily="50" charset="-128"/>
              </a:rPr>
              <a:t>がマージ（結合）されています。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95517E5D-A458-9512-3DE6-324C177B2C93}"/>
              </a:ext>
            </a:extLst>
          </p:cNvPr>
          <p:cNvSpPr txBox="1"/>
          <p:nvPr/>
        </p:nvSpPr>
        <p:spPr bwMode="auto">
          <a:xfrm>
            <a:off x="5442974" y="1403597"/>
            <a:ext cx="361031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結合だけなので、章・節番号はつきません。</a:t>
            </a:r>
            <a:endParaRPr kumimoji="1" lang="en-US" altLang="ja-JP" sz="1400" kern="0">
              <a:latin typeface="BIZ UDPゴシック" panose="020B0400000000000000" pitchFamily="50" charset="-128"/>
              <a:ea typeface="BIZ UDPゴシック" panose="020B0400000000000000" pitchFamily="50" charset="-128"/>
            </a:endParaRPr>
          </a:p>
        </p:txBody>
      </p:sp>
      <p:cxnSp>
        <p:nvCxnSpPr>
          <p:cNvPr id="8" name="直線矢印コネクタ 7">
            <a:extLst>
              <a:ext uri="{FF2B5EF4-FFF2-40B4-BE49-F238E27FC236}">
                <a16:creationId xmlns:a16="http://schemas.microsoft.com/office/drawing/2014/main" id="{CDF37907-F0AF-6C8A-D447-0D3FE7E97A0A}"/>
              </a:ext>
            </a:extLst>
          </p:cNvPr>
          <p:cNvCxnSpPr>
            <a:cxnSpLocks/>
          </p:cNvCxnSpPr>
          <p:nvPr/>
        </p:nvCxnSpPr>
        <p:spPr bwMode="auto">
          <a:xfrm flipH="1">
            <a:off x="3429124" y="1340768"/>
            <a:ext cx="284172" cy="66993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9" name="直線矢印コネクタ 8">
            <a:extLst>
              <a:ext uri="{FF2B5EF4-FFF2-40B4-BE49-F238E27FC236}">
                <a16:creationId xmlns:a16="http://schemas.microsoft.com/office/drawing/2014/main" id="{3BCEEFD3-BCA3-483F-450F-C78E4567B3DF}"/>
              </a:ext>
            </a:extLst>
          </p:cNvPr>
          <p:cNvCxnSpPr>
            <a:cxnSpLocks/>
          </p:cNvCxnSpPr>
          <p:nvPr/>
        </p:nvCxnSpPr>
        <p:spPr bwMode="auto">
          <a:xfrm>
            <a:off x="4943872" y="1461267"/>
            <a:ext cx="1944216" cy="297584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0" name="正方形/長方形 9">
            <a:extLst>
              <a:ext uri="{FF2B5EF4-FFF2-40B4-BE49-F238E27FC236}">
                <a16:creationId xmlns:a16="http://schemas.microsoft.com/office/drawing/2014/main" id="{1054A17B-90F7-51B6-CAC8-36001BC7FDF8}"/>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06965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5" name="exportrange">
            <a:extLst>
              <a:ext uri="{FF2B5EF4-FFF2-40B4-BE49-F238E27FC236}">
                <a16:creationId xmlns:a16="http://schemas.microsoft.com/office/drawing/2014/main" id="{590F288A-3BF8-8335-7C30-BD962936A5AD}"/>
              </a:ext>
            </a:extLst>
          </p:cNvPr>
          <p:cNvSpPr/>
          <p:nvPr/>
        </p:nvSpPr>
        <p:spPr bwMode="auto">
          <a:xfrm>
            <a:off x="623392" y="1749813"/>
            <a:ext cx="10643470" cy="491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2738172"/>
            <a:ext cx="10067406"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PowerPoint</a:t>
            </a:r>
            <a:r>
              <a:rPr lang="ja-JP" altLang="en-US" sz="1400"/>
              <a:t>ファイル結合指示サンプル</a:t>
            </a:r>
          </a:p>
          <a:p>
            <a:br>
              <a:rPr lang="ja-JP" altLang="en-US" sz="1400"/>
            </a:br>
            <a:r>
              <a:rPr lang="en-US" altLang="ja-JP" sz="1400"/>
              <a:t># </a:t>
            </a:r>
            <a:r>
              <a:rPr lang="ja-JP" altLang="en-US" sz="1400"/>
              <a:t>概要：単純に２つのファイルをナンバリングもせずに結合する、最もシンプルな例</a:t>
            </a:r>
          </a:p>
          <a:p>
            <a:endParaRPr lang="ja-JP" altLang="en-US" sz="1400"/>
          </a:p>
          <a:p>
            <a:r>
              <a:rPr lang="en-US" altLang="ja-JP" sz="1400"/>
              <a:t># </a:t>
            </a:r>
            <a:r>
              <a:rPr lang="ja-JP" altLang="en-US" sz="1400"/>
              <a:t>出力ファイル名</a:t>
            </a:r>
          </a:p>
          <a:p>
            <a:r>
              <a:rPr lang="en-US" altLang="ja-JP" sz="1400"/>
              <a:t>output: </a:t>
            </a:r>
          </a:p>
          <a:p>
            <a:r>
              <a:rPr lang="en-US" altLang="ja-JP" sz="1400"/>
              <a:t>  pptxfilename: simple_ppt_merge_merged.pptx        # </a:t>
            </a:r>
            <a:r>
              <a:rPr lang="ja-JP" altLang="en-US" sz="1400"/>
              <a:t>結合後の</a:t>
            </a:r>
            <a:r>
              <a:rPr lang="en-US" altLang="ja-JP" sz="1400"/>
              <a:t>pptx</a:t>
            </a:r>
            <a:r>
              <a:rPr lang="ja-JP" altLang="en-US" sz="1400"/>
              <a:t>ファイルのファイル名</a:t>
            </a:r>
          </a:p>
          <a:p>
            <a:endParaRPr lang="ja-JP" altLang="en-US" sz="1400">
              <a:latin typeface="ＭＳ ゴシック" panose="020B0609070205080204" pitchFamily="49" charset="-128"/>
              <a:ea typeface="ＭＳ ゴシック" panose="020B0609070205080204" pitchFamily="49" charset="-128"/>
            </a:endParaRPr>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a:t>
            </a:r>
            <a:r>
              <a:rPr lang="en-US" altLang="ja-JP" sz="1400">
                <a:solidFill>
                  <a:srgbClr val="FF0000"/>
                </a:solidFill>
              </a:rPr>
              <a:t>operation: insertpptx</a:t>
            </a:r>
          </a:p>
          <a:p>
            <a:r>
              <a:rPr lang="en-US" altLang="ja-JP" sz="1400"/>
              <a:t>    pptxfilename: </a:t>
            </a:r>
            <a:r>
              <a:rPr lang="fr-FR" altLang="ja-JP" sz="1400"/>
              <a:t>simple_ppt_merge_guide.pptx</a:t>
            </a:r>
            <a:endParaRPr lang="en-US" altLang="ja-JP" sz="1400"/>
          </a:p>
          <a:p>
            <a:r>
              <a:rPr lang="en-US" altLang="ja-JP" sz="1400"/>
              <a:t>  - operation: insertpptx</a:t>
            </a:r>
          </a:p>
          <a:p>
            <a:r>
              <a:rPr lang="en-US" altLang="ja-JP" sz="1400"/>
              <a:t>    pptxfilename: second.pptx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a:off x="2711624" y="2140417"/>
            <a:ext cx="216024" cy="185985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9" name="テキスト ボックス 8">
            <a:extLst>
              <a:ext uri="{FF2B5EF4-FFF2-40B4-BE49-F238E27FC236}">
                <a16:creationId xmlns:a16="http://schemas.microsoft.com/office/drawing/2014/main" id="{AF73FE0A-5B04-8E20-93FD-9C4B3CF04F1D}"/>
              </a:ext>
            </a:extLst>
          </p:cNvPr>
          <p:cNvSpPr txBox="1"/>
          <p:nvPr/>
        </p:nvSpPr>
        <p:spPr bwMode="auto">
          <a:xfrm>
            <a:off x="1991544" y="1749813"/>
            <a:ext cx="828092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r>
              <a:rPr kumimoji="1" lang="ja-JP" altLang="en-US" sz="1400" kern="0">
                <a:latin typeface="BIZ UDPゴシック" panose="020B0400000000000000" pitchFamily="50" charset="-128"/>
                <a:ea typeface="BIZ UDPゴシック" panose="020B0400000000000000" pitchFamily="50" charset="-128"/>
              </a:rPr>
              <a:t>で生成される </a:t>
            </a:r>
            <a:r>
              <a:rPr kumimoji="1" lang="en-US" altLang="ja-JP" sz="1400" kern="0">
                <a:latin typeface="BIZ UDPゴシック" panose="020B0400000000000000" pitchFamily="50" charset="-128"/>
                <a:ea typeface="BIZ UDPゴシック" panose="020B0400000000000000" pitchFamily="50" charset="-128"/>
              </a:rPr>
              <a:t>.pptx </a:t>
            </a:r>
            <a:r>
              <a:rPr kumimoji="1" lang="ja-JP" altLang="en-US" sz="1400" kern="0">
                <a:latin typeface="BIZ UDPゴシック" panose="020B0400000000000000" pitchFamily="50" charset="-128"/>
                <a:ea typeface="BIZ UDPゴシック" panose="020B0400000000000000" pitchFamily="50" charset="-128"/>
              </a:rPr>
              <a:t>ファイル（最終成果物）の名前を指定する</a:t>
            </a:r>
          </a:p>
        </p:txBody>
      </p:sp>
      <p:cxnSp>
        <p:nvCxnSpPr>
          <p:cNvPr id="11" name="直線矢印コネクタ 10">
            <a:extLst>
              <a:ext uri="{FF2B5EF4-FFF2-40B4-BE49-F238E27FC236}">
                <a16:creationId xmlns:a16="http://schemas.microsoft.com/office/drawing/2014/main" id="{D1C4582E-DE19-33B0-E5CB-C80A73D66AF2}"/>
              </a:ext>
            </a:extLst>
          </p:cNvPr>
          <p:cNvCxnSpPr>
            <a:cxnSpLocks/>
          </p:cNvCxnSpPr>
          <p:nvPr/>
        </p:nvCxnSpPr>
        <p:spPr bwMode="auto">
          <a:xfrm flipH="1">
            <a:off x="3863752" y="2448194"/>
            <a:ext cx="618752" cy="155207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3863752" y="2140417"/>
            <a:ext cx="640871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この名前のファイルができていたら成功</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a:off x="3143672" y="4991539"/>
            <a:ext cx="1485201"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4662697" y="4813558"/>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.pptx</a:t>
            </a:r>
            <a:r>
              <a:rPr kumimoji="1" lang="ja-JP" altLang="en-US" sz="1400" kern="0">
                <a:solidFill>
                  <a:srgbClr val="FF0000"/>
                </a:solidFill>
                <a:latin typeface="BIZ UDPゴシック" panose="020B0400000000000000" pitchFamily="50" charset="-128"/>
                <a:ea typeface="BIZ UDPゴシック" panose="020B0400000000000000" pitchFamily="50" charset="-128"/>
              </a:rPr>
              <a:t>ファイルを結合しろ、という指示</a:t>
            </a:r>
          </a:p>
        </p:txBody>
      </p:sp>
      <p:cxnSp>
        <p:nvCxnSpPr>
          <p:cNvPr id="17" name="直線矢印コネクタ 16">
            <a:extLst>
              <a:ext uri="{FF2B5EF4-FFF2-40B4-BE49-F238E27FC236}">
                <a16:creationId xmlns:a16="http://schemas.microsoft.com/office/drawing/2014/main" id="{56B4FF4E-4B29-F29C-2210-5BA06C747FBF}"/>
              </a:ext>
            </a:extLst>
          </p:cNvPr>
          <p:cNvCxnSpPr>
            <a:cxnSpLocks/>
            <a:stCxn id="18" idx="1"/>
          </p:cNvCxnSpPr>
          <p:nvPr/>
        </p:nvCxnSpPr>
        <p:spPr bwMode="auto">
          <a:xfrm flipH="1" flipV="1">
            <a:off x="5086795" y="5267300"/>
            <a:ext cx="1486705" cy="254213"/>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18" name="テキスト ボックス 17">
            <a:extLst>
              <a:ext uri="{FF2B5EF4-FFF2-40B4-BE49-F238E27FC236}">
                <a16:creationId xmlns:a16="http://schemas.microsoft.com/office/drawing/2014/main" id="{7C9D534F-6CDF-8448-1B5C-32C8013D4AE3}"/>
              </a:ext>
            </a:extLst>
          </p:cNvPr>
          <p:cNvSpPr txBox="1"/>
          <p:nvPr/>
        </p:nvSpPr>
        <p:spPr bwMode="auto">
          <a:xfrm>
            <a:off x="6573500" y="5367624"/>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結合するファイル名</a:t>
            </a:r>
          </a:p>
        </p:txBody>
      </p:sp>
      <p:sp>
        <p:nvSpPr>
          <p:cNvPr id="20" name="テキスト ボックス 19">
            <a:extLst>
              <a:ext uri="{FF2B5EF4-FFF2-40B4-BE49-F238E27FC236}">
                <a16:creationId xmlns:a16="http://schemas.microsoft.com/office/drawing/2014/main" id="{3B76220E-D2ED-927C-6FC4-1E10A57DB5F2}"/>
              </a:ext>
            </a:extLst>
          </p:cNvPr>
          <p:cNvSpPr txBox="1"/>
          <p:nvPr/>
        </p:nvSpPr>
        <p:spPr bwMode="auto">
          <a:xfrm>
            <a:off x="2927648" y="6146140"/>
            <a:ext cx="669674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デザインスタイル等は最初のファイル </a:t>
            </a:r>
            <a:r>
              <a:rPr kumimoji="1" lang="en-US" altLang="ja-JP" sz="1400" kern="0">
                <a:latin typeface="BIZ UDPゴシック" panose="020B0400000000000000" pitchFamily="50" charset="-128"/>
                <a:ea typeface="BIZ UDPゴシック" panose="020B0400000000000000" pitchFamily="50" charset="-128"/>
              </a:rPr>
              <a:t>first.pptx </a:t>
            </a:r>
            <a:r>
              <a:rPr kumimoji="1" lang="ja-JP" altLang="en-US" sz="1400" kern="0">
                <a:latin typeface="BIZ UDPゴシック" panose="020B0400000000000000" pitchFamily="50" charset="-128"/>
                <a:ea typeface="BIZ UDPゴシック" panose="020B0400000000000000" pitchFamily="50" charset="-128"/>
              </a:rPr>
              <a:t>が基準になるので、</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ja-JP" altLang="en-US" sz="1400" kern="0">
                <a:latin typeface="BIZ UDPゴシック" panose="020B0400000000000000" pitchFamily="50" charset="-128"/>
                <a:ea typeface="BIZ UDPゴシック" panose="020B0400000000000000" pitchFamily="50" charset="-128"/>
              </a:rPr>
              <a:t>残りのファイルのスタイルが違っているとレイアウト崩れ等が起きることがある</a:t>
            </a:r>
          </a:p>
        </p:txBody>
      </p:sp>
      <p:cxnSp>
        <p:nvCxnSpPr>
          <p:cNvPr id="21" name="直線矢印コネクタ 20">
            <a:extLst>
              <a:ext uri="{FF2B5EF4-FFF2-40B4-BE49-F238E27FC236}">
                <a16:creationId xmlns:a16="http://schemas.microsoft.com/office/drawing/2014/main" id="{F3330A62-0E5F-C773-3515-1EE364D77B87}"/>
              </a:ext>
            </a:extLst>
          </p:cNvPr>
          <p:cNvCxnSpPr>
            <a:cxnSpLocks/>
          </p:cNvCxnSpPr>
          <p:nvPr/>
        </p:nvCxnSpPr>
        <p:spPr bwMode="auto">
          <a:xfrm flipH="1" flipV="1">
            <a:off x="3010774" y="5737524"/>
            <a:ext cx="288032" cy="4513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1105580"/>
            <a:ext cx="1071547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ファイル名・パス名はこの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を基準とする相対パスが基本ですが、絶対パスでも記入できます。</a:t>
            </a:r>
            <a:endParaRPr kumimoji="1" lang="ja-JP" altLang="en-US" sz="1400" kern="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35523B0C-6D86-2D20-F873-E40EE8C2D892}"/>
              </a:ext>
            </a:extLst>
          </p:cNvPr>
          <p:cNvCxnSpPr>
            <a:cxnSpLocks/>
          </p:cNvCxnSpPr>
          <p:nvPr/>
        </p:nvCxnSpPr>
        <p:spPr bwMode="auto">
          <a:xfrm flipH="1">
            <a:off x="3071664" y="5103536"/>
            <a:ext cx="1557209" cy="307777"/>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AC51575D-7E7E-D2EE-F8BA-062249D1B666}"/>
              </a:ext>
            </a:extLst>
          </p:cNvPr>
          <p:cNvCxnSpPr>
            <a:cxnSpLocks/>
            <a:stCxn id="18" idx="1"/>
          </p:cNvCxnSpPr>
          <p:nvPr/>
        </p:nvCxnSpPr>
        <p:spPr bwMode="auto">
          <a:xfrm flipH="1">
            <a:off x="3503712" y="5521513"/>
            <a:ext cx="3069788" cy="148952"/>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5" name="正方形/長方形 4">
            <a:extLst>
              <a:ext uri="{FF2B5EF4-FFF2-40B4-BE49-F238E27FC236}">
                <a16:creationId xmlns:a16="http://schemas.microsoft.com/office/drawing/2014/main" id="{B23E3694-FF27-B9FC-6099-77DD5997AAEB}"/>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713086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slide1</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1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48413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2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CAA4089-1D1F-8C03-F159-76AA1BB3FD59}"/>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2298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30537</TotalTime>
  <Words>1269</Words>
  <Application>Microsoft Office PowerPoint</Application>
  <PresentationFormat>ワイド画面</PresentationFormat>
  <Paragraphs>228</Paragraphs>
  <Slides>6</Slides>
  <Notes>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vt:i4>
      </vt:variant>
    </vt:vector>
  </HeadingPairs>
  <TitlesOfParts>
    <vt:vector size="13" baseType="lpstr">
      <vt:lpstr>BIZ UDPゴシック</vt:lpstr>
      <vt:lpstr>FOT-UD丸ゴ_ラージ Pr6 M</vt:lpstr>
      <vt:lpstr>ＭＳ ゴシック</vt:lpstr>
      <vt:lpstr>Arial</vt:lpstr>
      <vt:lpstr>Garamond</vt:lpstr>
      <vt:lpstr>Wingdings</vt:lpstr>
      <vt:lpstr>Edge</vt:lpstr>
      <vt:lpstr>pptmerge　単純マージ</vt:lpstr>
      <vt:lpstr>pm1_simple_ppt_merge 概要</vt:lpstr>
      <vt:lpstr>マージ結果</vt:lpstr>
      <vt:lpstr>結合指示書サンプル</vt:lpstr>
      <vt:lpstr>2つめの結合ファイル　slide1</vt:lpstr>
      <vt:lpstr>2つめの結合ファイル　slide2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4109</cp:revision>
  <dcterms:modified xsi:type="dcterms:W3CDTF">2026-06-04T11:13:24Z</dcterms:modified>
</cp:coreProperties>
</file>