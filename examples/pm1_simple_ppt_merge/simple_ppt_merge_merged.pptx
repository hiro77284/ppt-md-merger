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1785" r:id="rId2"/>
    <p:sldId id="1783" r:id="rId3"/>
    <p:sldId id="1784" r:id="rId4"/>
    <p:sldId id="1782" r:id="rId5"/>
    <p:sldId id="1789" r:id="rId6"/>
    <p:sldId id="1790" r:id="rId7"/>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FCC"/>
    <a:srgbClr val="FFCCFF"/>
    <a:srgbClr val="CCECFF"/>
    <a:srgbClr val="99FFCC"/>
    <a:srgbClr val="FF6347"/>
    <a:srgbClr val="FF9933"/>
    <a:srgbClr val="CC66FF"/>
    <a:srgbClr val="E34234"/>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72500" autoAdjust="0"/>
  </p:normalViewPr>
  <p:slideViewPr>
    <p:cSldViewPr>
      <p:cViewPr varScale="1">
        <p:scale>
          <a:sx n="89" d="100"/>
          <a:sy n="89" d="100"/>
        </p:scale>
        <p:origin x="1242" y="6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extracted/figures/simple_ppt_merge_guide_slide1_fig.png</a:t>
            </a:r>
          </a:p>
          <a:p/>
          <a:p>
            <a:r>
              <a:t>===BLOCK===</a:t>
            </a:r>
          </a:p>
          <a:p>
            <a:r>
              <a:t>{{BLOCK:IMAGE}}</a:t>
            </a:r>
          </a:p>
          <a:p/>
          <a:p>
            <a:r>
              <a:t>export-image-mode: slide_with_rectpct</a:t>
            </a:r>
          </a:p>
          <a:p>
            <a:r>
              <a:t>export-image-target: keyvisual</a:t>
            </a:r>
          </a:p>
          <a:p>
            <a:r>
              <a:t>export-image: extracted/figures/simple_ppt_merge_guide_keyvisual.png</a:t>
            </a:r>
          </a:p>
          <a:p/>
          <a:p>
            <a:r>
              <a:t>===BLOCK===</a:t>
            </a:r>
          </a:p>
          <a:p>
            <a:r>
              <a:t>{{BLOCK:MD:LONG}}</a:t>
            </a:r>
          </a:p>
          <a:p/>
          <a:p>
            <a:r>
              <a:t>export-note: extracted/simple_ppt_merge_guide_slide1_md.md</a:t>
            </a:r>
          </a:p>
          <a:p>
            <a:r>
              <a:t>{{#id:section:simple_ppt_merge_guide:slide1}}</a:t>
            </a:r>
          </a:p>
          <a:p>
            <a:r>
              <a:t>## pptmerge　単純マージ</a:t>
            </a:r>
          </a:p>
          <a:p/>
          <a:p>
            <a:r>
              <a:t>単純マージは２つのpptxファイルを単に結合するだけの、最も単純な機能です。</a:t>
            </a:r>
          </a:p>
          <a:p/>
          <a:p>
            <a:r>
              <a:t>結合指示書には関連キーワード欄の命令を使って結合対象ファイルを記載します。これについては後述します。</a:t>
            </a:r>
          </a:p>
          <a:p/>
          <a:p>
            <a:r>
              <a:t>処理のイメージは下記の通りです。</a:t>
            </a:r>
          </a:p>
          <a:p/>
          <a:p>
            <a:r>
              <a:t>```{=latex}</a:t>
            </a:r>
          </a:p>
          <a:p>
            <a:r>
              <a:t>\begin{center}</a:t>
            </a:r>
          </a:p>
          <a:p>
            <a:r>
              <a:t>```</a:t>
            </a:r>
          </a:p>
          <a:p/>
          <a:p>
            <a:r>
              <a:t>![](figures/simple_ppt_merge_guide_slide1_fig.png){ width=95% }</a:t>
            </a:r>
          </a:p>
          <a:p/>
          <a:p>
            <a:r>
              <a:t>![](figures/simple_ppt_merge_guide_keyvisual.png){ width=60% }</a:t>
            </a:r>
          </a:p>
          <a:p/>
          <a:p/>
          <a:p>
            <a:r>
              <a:t>```{=latex}</a:t>
            </a:r>
          </a:p>
          <a:p>
            <a:r>
              <a:t>\end{center}</a:t>
            </a:r>
          </a:p>
          <a:p>
            <a:r>
              <a:t>```</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3576778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a:t>
            </a:r>
          </a:p>
          <a:p>
            <a:r>
              <a:t>export-image-target: </a:t>
            </a:r>
          </a:p>
          <a:p>
            <a:r>
              <a:t>export-image: </a:t>
            </a:r>
          </a:p>
          <a:p/>
          <a:p>
            <a:r>
              <a:t>===BLOCK===</a:t>
            </a:r>
          </a:p>
          <a:p>
            <a:r>
              <a:t>{{BLOCK:MD:LONG}}</a:t>
            </a:r>
          </a:p>
          <a:p/>
          <a:p>
            <a:r>
              <a:t>export-note: extracted/simple_ppt_merge_guide_slide2_md.md</a:t>
            </a:r>
          </a:p>
          <a:p>
            <a:r>
              <a:t>{{#id:section:simple_ppt_merge_guide:slide2}}</a:t>
            </a:r>
          </a:p>
          <a:p>
            <a:r>
              <a:t>## pm1_simple_ppt_merge 概要</a:t>
            </a:r>
          </a:p>
          <a:p/>
          <a:p>
            <a:r>
              <a:t>simple_ppt_merge_guide.pptx は、２つのpptxファイルを単に結合するだけの単純マージを行うサンプルです。</a:t>
            </a:r>
          </a:p>
          <a:p/>
          <a:p>
            <a:r>
              <a:t>データフォルダ:  PROJECT_ROOT\examples\pm1_simple_ppt_merge</a:t>
            </a:r>
          </a:p>
          <a:p/>
          <a:p>
            <a:r>
              <a:t>### サンプルファイル一覧</a:t>
            </a:r>
          </a:p>
          <a:p/>
          <a:p>
            <a:r>
              <a:t>| 番号 | ファイル名         |          内容                |</a:t>
            </a:r>
          </a:p>
          <a:p>
            <a:r>
              <a:t>| --- | --------------- | ------------------------ |</a:t>
            </a:r>
          </a:p>
          <a:p>
            <a:r>
              <a:t>| 1 | simple_ppt_merge_recipe.yaml | 結合指示書：マージ処理の仕様を示す  |</a:t>
            </a:r>
          </a:p>
          <a:p>
            <a:r>
              <a:t>| 2 | simple_ppt_merge_guide.pptx  |  このサンプルの説明書ソースpptx  |</a:t>
            </a:r>
          </a:p>
          <a:p>
            <a:r>
              <a:t>| 3 | second.pptx                  | 結合元ファイルサンプル（3スライド）   |</a:t>
            </a:r>
          </a:p>
          <a:p>
            <a:r>
              <a:t>| 4 | simple_ppt_merge_merged.pptx       | 2と3の結合結果   |</a:t>
            </a:r>
          </a:p>
          <a:p/>
          <a:p>
            <a:r>
              <a:t>ファイル2 + ファイル3 → ファイル4 という結合処理を行います。</a:t>
            </a:r>
          </a:p>
          <a:p/>
          <a:p>
            <a:r>
              <a:t>### 実行命令</a:t>
            </a:r>
          </a:p>
          <a:p/>
          <a:p>
            <a:r>
              <a:t>ファイル1の結合指示書に結合対象ファイルを記載します（後述します）。</a:t>
            </a:r>
          </a:p>
          <a:p/>
          <a:p>
            <a:r>
              <a:t>以下の命令で実行します。サブコマンド pptmerge の引数に結合指示書を指定します。途中、一時的に PowerPoint が起動します。 --force は既出力ファイルを上書きするオプションです。</a:t>
            </a:r>
          </a:p>
          <a:p/>
          <a:p>
            <a:r>
              <a:t>```bash</a:t>
            </a:r>
          </a:p>
          <a:p>
            <a:r>
              <a:t>pptmdmerge pptmerge PROJECT_ROOT\examples\pm1_simple_ppt_merge_recipe.yaml --force</a:t>
            </a:r>
          </a:p>
          <a:p>
            <a:r>
              <a:t>```</a:t>
            </a:r>
          </a:p>
          <a:p/>
          <a:p>
            <a:r>
              <a:t>結果、ファイル4が生成されれば成功です</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2729553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extracted/figures/simple_ppt_merge_guide_slide3_fig.png</a:t>
            </a:r>
          </a:p>
          <a:p/>
          <a:p>
            <a:r>
              <a:t>===BLOCK===</a:t>
            </a:r>
          </a:p>
          <a:p>
            <a:r>
              <a:t>{{BLOCK:MD:LONG}}</a:t>
            </a:r>
          </a:p>
          <a:p/>
          <a:p>
            <a:r>
              <a:t>export-note: extracted/simple_ppt_merge_guide_slide3_md.md</a:t>
            </a:r>
          </a:p>
          <a:p>
            <a:r>
              <a:t>{{#id:section:simple_ppt_merge_guide:slide3}}</a:t>
            </a:r>
          </a:p>
          <a:p>
            <a:r>
              <a:t>## マージ結果</a:t>
            </a:r>
          </a:p>
          <a:p/>
          <a:p>
            <a:r>
              <a:t>実行後は2つのpptxファイルがマージ（結合）されています。</a:t>
            </a:r>
          </a:p>
          <a:p/>
          <a:p>
            <a:r>
              <a:t>結合だけなので、章・節番号はつきません。</a:t>
            </a:r>
          </a:p>
          <a:p/>
          <a:p>
            <a:r>
              <a:t>```{=latex}</a:t>
            </a:r>
          </a:p>
          <a:p>
            <a:r>
              <a:t>\begin{center}</a:t>
            </a:r>
          </a:p>
          <a:p>
            <a:r>
              <a:t>```</a:t>
            </a:r>
          </a:p>
          <a:p/>
          <a:p>
            <a:r>
              <a:t>![](figures/simple_ppt_merge_guide_slide3_fig.png){ width=95% }</a:t>
            </a:r>
          </a:p>
          <a:p/>
          <a:p>
            <a:r>
              <a:t>```{=latex}</a:t>
            </a:r>
          </a:p>
          <a:p>
            <a:r>
              <a:t>\end{center}</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68133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extracted/figures/simple_ppt_merge_guide_slide4_fig.png</a:t>
            </a:r>
          </a:p>
          <a:p/>
          <a:p>
            <a:r>
              <a:t>===BLOCK===</a:t>
            </a:r>
          </a:p>
          <a:p>
            <a:r>
              <a:t>{{BLOCK:MD:LONG}}</a:t>
            </a:r>
          </a:p>
          <a:p/>
          <a:p>
            <a:r>
              <a:t>export-note: extracted/simple_ppt_merge_guide_slide4_md.md</a:t>
            </a:r>
          </a:p>
          <a:p>
            <a:r>
              <a:t>{{#id:section:simple_ppt_merge_guide:slide4}}</a:t>
            </a:r>
          </a:p>
          <a:p>
            <a:r>
              <a:t>## 結合指示書サンプル</a:t>
            </a:r>
          </a:p>
          <a:p/>
          <a:p>
            <a:r>
              <a:t>結合指示書では、output.pptxfilename: に結合後のpptxファイル名を記載し、</a:t>
            </a:r>
          </a:p>
          <a:p>
            <a:r>
              <a:t>procedureセクションに　operation: insertpptx の配列で結合対象ファイルを記載します。</a:t>
            </a:r>
          </a:p>
          <a:p/>
          <a:p>
            <a:r>
              <a:t>```{=latex}</a:t>
            </a:r>
          </a:p>
          <a:p>
            <a:r>
              <a:t>\begin{center}</a:t>
            </a:r>
          </a:p>
          <a:p>
            <a:r>
              <a:t>```</a:t>
            </a:r>
          </a:p>
          <a:p/>
          <a:p>
            <a:r>
              <a:t>![](figures/simple_ppt_merge_guide_slide4_fig.png){ width=95% }</a:t>
            </a:r>
          </a:p>
          <a:p/>
          <a:p>
            <a:r>
              <a:t>```{=latex}</a:t>
            </a:r>
          </a:p>
          <a:p>
            <a:r>
              <a:t>\end{center}</a:t>
            </a:r>
          </a:p>
          <a:p>
            <a:r>
              <a:t>```</a:t>
            </a:r>
          </a:p>
          <a:p/>
          <a:p>
            <a:r>
              <a:t>PowerPointのデザインスタイル等は最初のファイル first.pptx が基準になるので、残りのファイルのスタイルが違っているとレイアウト崩れ等が起きることがあるのでご注意ください。</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2894687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5</a:t>
            </a:fld>
            <a:endParaRPr kumimoji="1" lang="ja-JP" altLang="en-US"/>
          </a:p>
        </p:txBody>
      </p:sp>
    </p:spTree>
    <p:extLst>
      <p:ext uri="{BB962C8B-B14F-4D97-AF65-F5344CB8AC3E}">
        <p14:creationId xmlns:p14="http://schemas.microsoft.com/office/powerpoint/2010/main" val="2159088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6</a:t>
            </a:fld>
            <a:endParaRPr kumimoji="1" lang="ja-JP" altLang="en-US"/>
          </a:p>
        </p:txBody>
      </p:sp>
    </p:spTree>
    <p:extLst>
      <p:ext uri="{BB962C8B-B14F-4D97-AF65-F5344CB8AC3E}">
        <p14:creationId xmlns:p14="http://schemas.microsoft.com/office/powerpoint/2010/main" val="393930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xportrange">
            <a:extLst>
              <a:ext uri="{FF2B5EF4-FFF2-40B4-BE49-F238E27FC236}">
                <a16:creationId xmlns:a16="http://schemas.microsoft.com/office/drawing/2014/main" id="{8438185F-68DD-B20C-4129-86B5B84AE529}"/>
              </a:ext>
            </a:extLst>
          </p:cNvPr>
          <p:cNvSpPr/>
          <p:nvPr/>
        </p:nvSpPr>
        <p:spPr bwMode="auto">
          <a:xfrm>
            <a:off x="623392" y="912998"/>
            <a:ext cx="9793088" cy="1898884"/>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keyvisual">
            <a:extLst>
              <a:ext uri="{FF2B5EF4-FFF2-40B4-BE49-F238E27FC236}">
                <a16:creationId xmlns:a16="http://schemas.microsoft.com/office/drawing/2014/main" id="{24E9AFA5-944E-E4D6-A8F9-1385640032C2}"/>
              </a:ext>
            </a:extLst>
          </p:cNvPr>
          <p:cNvSpPr/>
          <p:nvPr/>
        </p:nvSpPr>
        <p:spPr bwMode="auto">
          <a:xfrm>
            <a:off x="2783632" y="2904486"/>
            <a:ext cx="6417244"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pptmerge</a:t>
            </a:r>
            <a:r>
              <a:rPr kumimoji="1" lang="ja-JP" altLang="en-US"/>
              <a:t>　単純マージ</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4" name="正方形/長方形 3">
            <a:extLst>
              <a:ext uri="{FF2B5EF4-FFF2-40B4-BE49-F238E27FC236}">
                <a16:creationId xmlns:a16="http://schemas.microsoft.com/office/drawing/2014/main" id="{E25E8B59-A9AF-B900-C34B-DAF80BDA8C59}"/>
              </a:ext>
            </a:extLst>
          </p:cNvPr>
          <p:cNvSpPr/>
          <p:nvPr/>
        </p:nvSpPr>
        <p:spPr bwMode="auto">
          <a:xfrm>
            <a:off x="3143672" y="3349930"/>
            <a:ext cx="879356" cy="1211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4AAA7FF8-69F1-5A70-26E2-14AF997617D4}"/>
              </a:ext>
            </a:extLst>
          </p:cNvPr>
          <p:cNvSpPr/>
          <p:nvPr/>
        </p:nvSpPr>
        <p:spPr bwMode="auto">
          <a:xfrm>
            <a:off x="3262135" y="3465651"/>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356F9C48-04EF-2DA2-70BA-D93E08B23E67}"/>
              </a:ext>
            </a:extLst>
          </p:cNvPr>
          <p:cNvSpPr/>
          <p:nvPr/>
        </p:nvSpPr>
        <p:spPr bwMode="auto">
          <a:xfrm>
            <a:off x="3262135" y="4021009"/>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40B30D01-EC9D-0B99-494F-13BAF499FBF3}"/>
              </a:ext>
            </a:extLst>
          </p:cNvPr>
          <p:cNvSpPr/>
          <p:nvPr/>
        </p:nvSpPr>
        <p:spPr bwMode="auto">
          <a:xfrm>
            <a:off x="3143672" y="5157625"/>
            <a:ext cx="879357" cy="115770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D72AA984-6FDE-53E5-1111-CB9D2CEA102D}"/>
              </a:ext>
            </a:extLst>
          </p:cNvPr>
          <p:cNvSpPr/>
          <p:nvPr/>
        </p:nvSpPr>
        <p:spPr bwMode="auto">
          <a:xfrm>
            <a:off x="3262135" y="5284806"/>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F862F9F1-B141-9C48-9446-25852AF136AA}"/>
              </a:ext>
            </a:extLst>
          </p:cNvPr>
          <p:cNvSpPr/>
          <p:nvPr/>
        </p:nvSpPr>
        <p:spPr bwMode="auto">
          <a:xfrm>
            <a:off x="3262135" y="5818926"/>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622D55C-0CBD-0C99-E5D3-D909ADB80C53}"/>
              </a:ext>
            </a:extLst>
          </p:cNvPr>
          <p:cNvSpPr txBox="1"/>
          <p:nvPr/>
        </p:nvSpPr>
        <p:spPr bwMode="auto">
          <a:xfrm>
            <a:off x="3020686" y="2972217"/>
            <a:ext cx="112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45F3E591-71CE-BC67-B88F-1886B9D7DC99}"/>
              </a:ext>
            </a:extLst>
          </p:cNvPr>
          <p:cNvSpPr txBox="1"/>
          <p:nvPr/>
        </p:nvSpPr>
        <p:spPr bwMode="auto">
          <a:xfrm>
            <a:off x="3013789" y="4771530"/>
            <a:ext cx="11391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9F80CE5A-6947-27D7-FD8B-EC11BCAE7C87}"/>
              </a:ext>
            </a:extLst>
          </p:cNvPr>
          <p:cNvSpPr/>
          <p:nvPr/>
        </p:nvSpPr>
        <p:spPr bwMode="auto">
          <a:xfrm>
            <a:off x="7752184" y="3856923"/>
            <a:ext cx="879356" cy="233867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24C5F1CE-C6BA-1557-2365-50004D41DA5B}"/>
              </a:ext>
            </a:extLst>
          </p:cNvPr>
          <p:cNvSpPr/>
          <p:nvPr/>
        </p:nvSpPr>
        <p:spPr bwMode="auto">
          <a:xfrm>
            <a:off x="7870647" y="3972645"/>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0E7AC7F4-3B36-FA83-7EA1-C6593900A275}"/>
              </a:ext>
            </a:extLst>
          </p:cNvPr>
          <p:cNvSpPr/>
          <p:nvPr/>
        </p:nvSpPr>
        <p:spPr bwMode="auto">
          <a:xfrm>
            <a:off x="7870647" y="4528003"/>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AC0CA13A-9208-80F4-1063-1E2DDA63A0F6}"/>
              </a:ext>
            </a:extLst>
          </p:cNvPr>
          <p:cNvSpPr/>
          <p:nvPr/>
        </p:nvSpPr>
        <p:spPr bwMode="auto">
          <a:xfrm>
            <a:off x="7870647" y="5068194"/>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381241AA-267B-0B36-EAAF-F966736AA657}"/>
              </a:ext>
            </a:extLst>
          </p:cNvPr>
          <p:cNvSpPr/>
          <p:nvPr/>
        </p:nvSpPr>
        <p:spPr bwMode="auto">
          <a:xfrm>
            <a:off x="7870647" y="5602314"/>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B168543A-9EB0-5D12-BA3E-6453BE706655}"/>
              </a:ext>
            </a:extLst>
          </p:cNvPr>
          <p:cNvSpPr txBox="1"/>
          <p:nvPr/>
        </p:nvSpPr>
        <p:spPr bwMode="auto">
          <a:xfrm>
            <a:off x="7182849" y="3348986"/>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03C7A03A-D9B4-ED53-7775-F2CE7974A824}"/>
              </a:ext>
            </a:extLst>
          </p:cNvPr>
          <p:cNvSpPr txBox="1"/>
          <p:nvPr/>
        </p:nvSpPr>
        <p:spPr bwMode="auto">
          <a:xfrm>
            <a:off x="4727848" y="4292064"/>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31" name="直線矢印コネクタ 30">
            <a:extLst>
              <a:ext uri="{FF2B5EF4-FFF2-40B4-BE49-F238E27FC236}">
                <a16:creationId xmlns:a16="http://schemas.microsoft.com/office/drawing/2014/main" id="{7EFE225C-76DD-F242-461B-1C1509FCAF8E}"/>
              </a:ext>
            </a:extLst>
          </p:cNvPr>
          <p:cNvCxnSpPr/>
          <p:nvPr/>
        </p:nvCxnSpPr>
        <p:spPr bwMode="auto">
          <a:xfrm>
            <a:off x="4341673" y="4771530"/>
            <a:ext cx="2978463"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simple_ppt_merge_recipe.yaml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2</a:t>
            </a:r>
            <a:r>
              <a:rPr kumimoji="1" lang="ja-JP" altLang="en-US" sz="1600" kern="0">
                <a:latin typeface="BIZ UDPゴシック" panose="020B0400000000000000" pitchFamily="50" charset="-128"/>
                <a:ea typeface="BIZ UDPゴシック" panose="020B0400000000000000" pitchFamily="50" charset="-128"/>
              </a:rPr>
              <a:t>つの </a:t>
            </a:r>
            <a:r>
              <a:rPr kumimoji="1" lang="en-US" altLang="ja-JP" sz="1600" kern="0">
                <a:latin typeface="BIZ UDPゴシック" panose="020B0400000000000000" pitchFamily="50" charset="-128"/>
                <a:ea typeface="BIZ UDPゴシック" panose="020B0400000000000000" pitchFamily="50" charset="-128"/>
              </a:rPr>
              <a:t>.pptx </a:t>
            </a:r>
            <a:r>
              <a:rPr kumimoji="1" lang="ja-JP" altLang="en-US" sz="1600" kern="0">
                <a:latin typeface="BIZ UDPゴシック" panose="020B0400000000000000" pitchFamily="50" charset="-128"/>
                <a:ea typeface="BIZ UDPゴシック" panose="020B0400000000000000" pitchFamily="50" charset="-128"/>
              </a:rPr>
              <a:t>ファイルを単純に結合する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simple_ppt_merge_guide.pptx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"operation: insertpptx"</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86A929BD-2F4E-6305-C470-00B247FAA3D6}"/>
              </a:ext>
            </a:extLst>
          </p:cNvPr>
          <p:cNvSpPr txBox="1"/>
          <p:nvPr/>
        </p:nvSpPr>
        <p:spPr bwMode="auto">
          <a:xfrm>
            <a:off x="4727848" y="4896171"/>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単純に結合</a:t>
            </a: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pm1_simple_ppt_merge</a:t>
            </a:r>
            <a:endParaRPr kumimoji="1" lang="en-US" altLang="ja-JP" sz="16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359853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en-US" altLang="ja-JP"/>
              <a:t>pm1_simple_ppt_merge </a:t>
            </a:r>
            <a:r>
              <a:rPr kumimoji="1" lang="ja-JP" altLang="en-US"/>
              <a:t>概要</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6" name="テキスト ボックス 5">
            <a:extLst>
              <a:ext uri="{FF2B5EF4-FFF2-40B4-BE49-F238E27FC236}">
                <a16:creationId xmlns:a16="http://schemas.microsoft.com/office/drawing/2014/main" id="{D8D32C2E-6D64-1915-E77C-583D0ED6D96D}"/>
              </a:ext>
            </a:extLst>
          </p:cNvPr>
          <p:cNvSpPr txBox="1"/>
          <p:nvPr/>
        </p:nvSpPr>
        <p:spPr bwMode="auto">
          <a:xfrm>
            <a:off x="695400" y="4333863"/>
            <a:ext cx="10873208" cy="768268"/>
          </a:xfrm>
          <a:prstGeom prst="rect">
            <a:avLst/>
          </a:prstGeom>
          <a:solidFill>
            <a:schemeClr val="tx1">
              <a:lumMod val="90000"/>
              <a:lumOff val="10000"/>
            </a:schemeClr>
          </a:solidFill>
          <a:ln>
            <a:noFill/>
          </a:ln>
        </p:spPr>
        <p:txBody>
          <a:bodyPr vert="horz" wrap="square" lIns="91440" tIns="45720" rIns="91440" bIns="45720" numCol="1" rtlCol="0" anchor="t" anchorCtr="0" compatLnSpc="1">
            <a:prstTxWarp prst="textNoShape">
              <a:avLst/>
            </a:prstTxWarp>
            <a:noAutofit/>
          </a:bodyPr>
          <a:lstStyle/>
          <a:p>
            <a:r>
              <a:rPr lang="en-US" altLang="ja-JP" sz="1100" kern="0">
                <a:solidFill>
                  <a:schemeClr val="bg1"/>
                </a:solidFill>
                <a:latin typeface="BIZ UDPゴシック" panose="020B0400000000000000" pitchFamily="50" charset="-128"/>
                <a:ea typeface="BIZ UDPゴシック" panose="020B0400000000000000" pitchFamily="50" charset="-128"/>
              </a:rPr>
              <a:t>cd D:\sandbox\pm1_simple_ppt_merge</a:t>
            </a:r>
          </a:p>
          <a:p>
            <a:endParaRPr lang="en-US" altLang="ja-JP" sz="1100" kern="0">
              <a:solidFill>
                <a:schemeClr val="bg1"/>
              </a:solidFill>
              <a:latin typeface="BIZ UDPゴシック" panose="020B0400000000000000" pitchFamily="50" charset="-128"/>
              <a:ea typeface="BIZ UDPゴシック" panose="020B0400000000000000" pitchFamily="50" charset="-128"/>
            </a:endParaRPr>
          </a:p>
          <a:p>
            <a:r>
              <a:rPr lang="en-US" altLang="ja-JP" sz="1100" kern="0">
                <a:solidFill>
                  <a:schemeClr val="bg1"/>
                </a:solidFill>
                <a:latin typeface="BIZ UDPゴシック" panose="020B0400000000000000" pitchFamily="50" charset="-128"/>
                <a:ea typeface="BIZ UDPゴシック" panose="020B0400000000000000" pitchFamily="50" charset="-128"/>
              </a:rPr>
              <a:t>pptmdmerge pptmerge D:\sandbox\pm1_simple_ppt_merge\simple_ppt_merge_recipe.yaml --force</a:t>
            </a:r>
          </a:p>
          <a:p>
            <a:pPr algn="l"/>
            <a:endParaRPr kumimoji="1" lang="en-US" altLang="ja-JP" sz="1100" kern="0">
              <a:solidFill>
                <a:schemeClr val="bg1"/>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A9F4AE9F-FFDC-8F04-A20C-50B8EC1DC7DB}"/>
              </a:ext>
            </a:extLst>
          </p:cNvPr>
          <p:cNvSpPr txBox="1"/>
          <p:nvPr/>
        </p:nvSpPr>
        <p:spPr bwMode="auto">
          <a:xfrm>
            <a:off x="695400" y="5733206"/>
            <a:ext cx="10873208" cy="307777"/>
          </a:xfrm>
          <a:prstGeom prst="rect">
            <a:avLst/>
          </a:prstGeom>
          <a:solidFill>
            <a:schemeClr val="tx1">
              <a:lumMod val="90000"/>
              <a:lumOff val="10000"/>
            </a:schemeClr>
          </a:solidFill>
          <a:ln>
            <a:noFill/>
          </a:ln>
        </p:spPr>
        <p:txBody>
          <a:bodyPr vert="horz" wrap="square" lIns="91440" tIns="45720" rIns="91440" bIns="45720" numCol="1" rtlCol="0" anchor="t" anchorCtr="0" compatLnSpc="1">
            <a:prstTxWarp prst="textNoShape">
              <a:avLst/>
            </a:prstTxWarp>
            <a:noAutofit/>
          </a:bodyPr>
          <a:lstStyle/>
          <a:p>
            <a:r>
              <a:rPr lang="en-US" altLang="ja-JP" sz="1050" kern="0">
                <a:solidFill>
                  <a:schemeClr val="bg1"/>
                </a:solidFill>
                <a:latin typeface="BIZ UDPゴシック" panose="020B0400000000000000" pitchFamily="50" charset="-128"/>
                <a:ea typeface="BIZ UDPゴシック" panose="020B0400000000000000" pitchFamily="50" charset="-128"/>
              </a:rPr>
              <a:t>OK: D:\sandbox\pm1_simple_ppt_merge\simple_ppt_merge_recipe.yaml -&gt; D:\sandbox\pm1_simple_ppt_merge\simple_ppt_merged.pptx</a:t>
            </a:r>
            <a:endParaRPr kumimoji="1" lang="en-US" altLang="ja-JP" sz="1050" kern="0">
              <a:solidFill>
                <a:schemeClr val="bg1"/>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94E4A420-1A53-FCDD-AA48-33A8BB6FB5CF}"/>
              </a:ext>
            </a:extLst>
          </p:cNvPr>
          <p:cNvSpPr txBox="1"/>
          <p:nvPr/>
        </p:nvSpPr>
        <p:spPr bwMode="auto">
          <a:xfrm>
            <a:off x="706374" y="3709870"/>
            <a:ext cx="102861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400" kern="0">
                <a:latin typeface="BIZ UDPゴシック" panose="020B0400000000000000" pitchFamily="50" charset="-128"/>
                <a:ea typeface="BIZ UDPゴシック" panose="020B0400000000000000" pitchFamily="50" charset="-128"/>
              </a:rPr>
              <a:t>コマンド実行例　</a:t>
            </a:r>
            <a:r>
              <a:rPr lang="en-US" altLang="ja-JP" sz="1400" kern="0">
                <a:latin typeface="BIZ UDPゴシック" panose="020B0400000000000000" pitchFamily="50" charset="-128"/>
                <a:ea typeface="BIZ UDPゴシック" panose="020B0400000000000000" pitchFamily="50" charset="-128"/>
              </a:rPr>
              <a:t>pptmdmerge </a:t>
            </a:r>
            <a:r>
              <a:rPr lang="ja-JP" altLang="en-US" sz="1400" kern="0">
                <a:latin typeface="BIZ UDPゴシック" panose="020B0400000000000000" pitchFamily="50" charset="-128"/>
                <a:ea typeface="BIZ UDPゴシック" panose="020B0400000000000000" pitchFamily="50" charset="-128"/>
              </a:rPr>
              <a:t>インストール後に実行します。</a:t>
            </a:r>
            <a:endParaRPr lang="en-US" altLang="ja-JP" sz="1400" kern="0">
              <a:latin typeface="BIZ UDPゴシック" panose="020B0400000000000000" pitchFamily="50" charset="-128"/>
              <a:ea typeface="BIZ UDPゴシック" panose="020B0400000000000000" pitchFamily="50" charset="-128"/>
            </a:endParaRPr>
          </a:p>
          <a:p>
            <a:r>
              <a:rPr kumimoji="1" lang="ja-JP" altLang="en-US" sz="1400" kern="0">
                <a:latin typeface="BIZ UDPゴシック" panose="020B0400000000000000" pitchFamily="50" charset="-128"/>
                <a:ea typeface="BIZ UDPゴシック" panose="020B0400000000000000" pitchFamily="50" charset="-128"/>
              </a:rPr>
              <a:t>途中、一時的に</a:t>
            </a:r>
            <a:r>
              <a:rPr kumimoji="1" lang="en-US" altLang="ja-JP" sz="1400" kern="0">
                <a:latin typeface="BIZ UDPゴシック" panose="020B0400000000000000" pitchFamily="50" charset="-128"/>
                <a:ea typeface="BIZ UDPゴシック" panose="020B0400000000000000" pitchFamily="50" charset="-128"/>
              </a:rPr>
              <a:t>PowerPoint</a:t>
            </a:r>
            <a:r>
              <a:rPr kumimoji="1" lang="ja-JP" altLang="en-US" sz="1400" kern="0">
                <a:latin typeface="BIZ UDPゴシック" panose="020B0400000000000000" pitchFamily="50" charset="-128"/>
                <a:ea typeface="BIZ UDPゴシック" panose="020B0400000000000000" pitchFamily="50" charset="-128"/>
              </a:rPr>
              <a:t>が起動します。</a:t>
            </a:r>
            <a:endParaRPr kumimoji="1" lang="en-US" altLang="ja-JP" sz="1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0312D6B3-F976-AA35-A48B-FADBC7947107}"/>
              </a:ext>
            </a:extLst>
          </p:cNvPr>
          <p:cNvSpPr txBox="1"/>
          <p:nvPr/>
        </p:nvSpPr>
        <p:spPr bwMode="auto">
          <a:xfrm>
            <a:off x="706374" y="5397393"/>
            <a:ext cx="102861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400" kern="0">
                <a:latin typeface="BIZ UDPゴシック" panose="020B0400000000000000" pitchFamily="50" charset="-128"/>
                <a:ea typeface="BIZ UDPゴシック" panose="020B0400000000000000" pitchFamily="50" charset="-128"/>
              </a:rPr>
              <a:t>結果、</a:t>
            </a:r>
            <a:r>
              <a:rPr lang="en-US" altLang="ja-JP" sz="1400" kern="0">
                <a:latin typeface="BIZ UDPゴシック" panose="020B0400000000000000" pitchFamily="50" charset="-128"/>
                <a:ea typeface="BIZ UDPゴシック" panose="020B0400000000000000" pitchFamily="50" charset="-128"/>
              </a:rPr>
              <a:t> sample_ppt_merge_merged.pptx</a:t>
            </a:r>
            <a:r>
              <a:rPr lang="ja-JP" altLang="en-US" sz="1400" kern="0">
                <a:latin typeface="BIZ UDPゴシック" panose="020B0400000000000000" pitchFamily="50" charset="-128"/>
                <a:ea typeface="BIZ UDPゴシック" panose="020B0400000000000000" pitchFamily="50" charset="-128"/>
              </a:rPr>
              <a:t>が生成されれば成功です</a:t>
            </a:r>
            <a:endParaRPr kumimoji="1" lang="en-US" altLang="ja-JP" sz="1400" kern="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25377463-9192-7B3A-463F-A9BAC35351B9}"/>
              </a:ext>
            </a:extLst>
          </p:cNvPr>
          <p:cNvSpPr txBox="1"/>
          <p:nvPr/>
        </p:nvSpPr>
        <p:spPr bwMode="auto">
          <a:xfrm>
            <a:off x="744181" y="133797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E75C53A6-68B8-65C6-8C96-4CCCD3FA1979}"/>
              </a:ext>
            </a:extLst>
          </p:cNvPr>
          <p:cNvSpPr txBox="1"/>
          <p:nvPr/>
        </p:nvSpPr>
        <p:spPr bwMode="auto">
          <a:xfrm>
            <a:off x="2855640" y="1337972"/>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pm1_simple_ppt_merge</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DE179F2-F678-1CCD-00CA-C205AA9B837F}"/>
              </a:ext>
            </a:extLst>
          </p:cNvPr>
          <p:cNvSpPr txBox="1"/>
          <p:nvPr/>
        </p:nvSpPr>
        <p:spPr bwMode="auto">
          <a:xfrm>
            <a:off x="744181" y="1871200"/>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サンプルファイル</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2DA987A4-E128-961B-5A65-D7C5203465A4}"/>
              </a:ext>
            </a:extLst>
          </p:cNvPr>
          <p:cNvSpPr txBox="1"/>
          <p:nvPr/>
        </p:nvSpPr>
        <p:spPr bwMode="auto">
          <a:xfrm>
            <a:off x="923036" y="2439213"/>
            <a:ext cx="762123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simple_ppt_merge_merged.pptx</a:t>
            </a:r>
          </a:p>
          <a:p>
            <a:r>
              <a:rPr lang="en-US" altLang="ja-JP" sz="1600" kern="0">
                <a:latin typeface="BIZ UDPゴシック" panose="020B0400000000000000" pitchFamily="50" charset="-128"/>
                <a:ea typeface="BIZ UDPゴシック" panose="020B0400000000000000" pitchFamily="50" charset="-128"/>
              </a:rPr>
              <a:t>simple_ppt_merge_recipe.yaml</a:t>
            </a:r>
          </a:p>
          <a:p>
            <a:r>
              <a:rPr lang="en-US" altLang="ja-JP" sz="1600" kern="0">
                <a:latin typeface="BIZ UDPゴシック" panose="020B0400000000000000" pitchFamily="50" charset="-128"/>
                <a:ea typeface="BIZ UDPゴシック" panose="020B0400000000000000" pitchFamily="50" charset="-128"/>
              </a:rPr>
              <a:t>simple_ppt_merge_guide.pptx</a:t>
            </a:r>
          </a:p>
          <a:p>
            <a:r>
              <a:rPr lang="en-US" altLang="ja-JP" sz="1600" kern="0">
                <a:latin typeface="BIZ UDPゴシック" panose="020B0400000000000000" pitchFamily="50" charset="-128"/>
                <a:ea typeface="BIZ UDPゴシック" panose="020B0400000000000000" pitchFamily="50" charset="-128"/>
              </a:rPr>
              <a:t>second.pptx</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9768F4DF-CE6C-2161-F7F7-72EF375D9286}"/>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simple_ppt_merge_guide.pptx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85966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B6B12189-9977-1CFF-6570-828B843FE7DA}"/>
              </a:ext>
            </a:extLst>
          </p:cNvPr>
          <p:cNvSpPr/>
          <p:nvPr/>
        </p:nvSpPr>
        <p:spPr bwMode="auto">
          <a:xfrm>
            <a:off x="407368" y="1020693"/>
            <a:ext cx="11305256" cy="543264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700D903C-6597-A30F-1593-A5B8D360C3A6}"/>
              </a:ext>
            </a:extLst>
          </p:cNvPr>
          <p:cNvPicPr>
            <a:picLocks noChangeAspect="1"/>
          </p:cNvPicPr>
          <p:nvPr/>
        </p:nvPicPr>
        <p:blipFill>
          <a:blip r:embed="rId3"/>
          <a:stretch>
            <a:fillRect/>
          </a:stretch>
        </p:blipFill>
        <p:spPr>
          <a:xfrm>
            <a:off x="479376" y="1875374"/>
            <a:ext cx="11044826" cy="4505954"/>
          </a:xfrm>
          <a:prstGeom prst="rect">
            <a:avLst/>
          </a:prstGeom>
        </p:spPr>
      </p:pic>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マージ結果</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テキスト ボックス 3">
            <a:extLst>
              <a:ext uri="{FF2B5EF4-FFF2-40B4-BE49-F238E27FC236}">
                <a16:creationId xmlns:a16="http://schemas.microsoft.com/office/drawing/2014/main" id="{6B493606-BD95-738A-1691-88B06787E242}"/>
              </a:ext>
            </a:extLst>
          </p:cNvPr>
          <p:cNvSpPr txBox="1"/>
          <p:nvPr/>
        </p:nvSpPr>
        <p:spPr bwMode="auto">
          <a:xfrm>
            <a:off x="695400" y="1067642"/>
            <a:ext cx="872287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400" kern="0">
                <a:latin typeface="BIZ UDPゴシック" panose="020B0400000000000000" pitchFamily="50" charset="-128"/>
                <a:ea typeface="BIZ UDPゴシック" panose="020B0400000000000000" pitchFamily="50" charset="-128"/>
              </a:rPr>
              <a:t>実行後は </a:t>
            </a:r>
            <a:r>
              <a:rPr lang="fr-FR" altLang="ja-JP" sz="1400" kern="0">
                <a:latin typeface="BIZ UDPゴシック" panose="020B0400000000000000" pitchFamily="50" charset="-128"/>
                <a:ea typeface="BIZ UDPゴシック" panose="020B0400000000000000" pitchFamily="50" charset="-128"/>
              </a:rPr>
              <a:t>simple_ppt_merge_guide.pptx</a:t>
            </a:r>
            <a:r>
              <a:rPr lang="en-US" altLang="ja-JP" sz="1400" kern="0">
                <a:latin typeface="BIZ UDPゴシック" panose="020B0400000000000000" pitchFamily="50" charset="-128"/>
                <a:ea typeface="BIZ UDPゴシック" panose="020B0400000000000000" pitchFamily="50" charset="-128"/>
              </a:rPr>
              <a:t> </a:t>
            </a:r>
            <a:r>
              <a:rPr lang="ja-JP" altLang="en-US" sz="1400" kern="0">
                <a:latin typeface="BIZ UDPゴシック" panose="020B0400000000000000" pitchFamily="50" charset="-128"/>
                <a:ea typeface="BIZ UDPゴシック" panose="020B0400000000000000" pitchFamily="50" charset="-128"/>
              </a:rPr>
              <a:t>と </a:t>
            </a:r>
            <a:r>
              <a:rPr lang="en-US" altLang="ja-JP" sz="1400" kern="0">
                <a:latin typeface="BIZ UDPゴシック" panose="020B0400000000000000" pitchFamily="50" charset="-128"/>
                <a:ea typeface="BIZ UDPゴシック" panose="020B0400000000000000" pitchFamily="50" charset="-128"/>
              </a:rPr>
              <a:t>second.pptx </a:t>
            </a:r>
            <a:r>
              <a:rPr lang="ja-JP" altLang="en-US" sz="1400" kern="0">
                <a:latin typeface="BIZ UDPゴシック" panose="020B0400000000000000" pitchFamily="50" charset="-128"/>
                <a:ea typeface="BIZ UDPゴシック" panose="020B0400000000000000" pitchFamily="50" charset="-128"/>
              </a:rPr>
              <a:t>がマージ（結合）されています。</a:t>
            </a:r>
            <a:endParaRPr kumimoji="1" lang="en-US" altLang="ja-JP" sz="140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95517E5D-A458-9512-3DE6-324C177B2C93}"/>
              </a:ext>
            </a:extLst>
          </p:cNvPr>
          <p:cNvSpPr txBox="1"/>
          <p:nvPr/>
        </p:nvSpPr>
        <p:spPr bwMode="auto">
          <a:xfrm>
            <a:off x="5442974" y="1403597"/>
            <a:ext cx="36103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結合だけなので、章・節番号はつきません。</a:t>
            </a:r>
            <a:endParaRPr kumimoji="1" lang="en-US" altLang="ja-JP" sz="1400" kern="0">
              <a:latin typeface="BIZ UDPゴシック" panose="020B0400000000000000" pitchFamily="50" charset="-128"/>
              <a:ea typeface="BIZ UDPゴシック" panose="020B0400000000000000" pitchFamily="50" charset="-128"/>
            </a:endParaRPr>
          </a:p>
        </p:txBody>
      </p:sp>
      <p:cxnSp>
        <p:nvCxnSpPr>
          <p:cNvPr id="8" name="直線矢印コネクタ 7">
            <a:extLst>
              <a:ext uri="{FF2B5EF4-FFF2-40B4-BE49-F238E27FC236}">
                <a16:creationId xmlns:a16="http://schemas.microsoft.com/office/drawing/2014/main" id="{CDF37907-F0AF-6C8A-D447-0D3FE7E97A0A}"/>
              </a:ext>
            </a:extLst>
          </p:cNvPr>
          <p:cNvCxnSpPr>
            <a:cxnSpLocks/>
          </p:cNvCxnSpPr>
          <p:nvPr/>
        </p:nvCxnSpPr>
        <p:spPr bwMode="auto">
          <a:xfrm flipH="1">
            <a:off x="3429124" y="1340768"/>
            <a:ext cx="284172" cy="66993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cxnSp>
        <p:nvCxnSpPr>
          <p:cNvPr id="9" name="直線矢印コネクタ 8">
            <a:extLst>
              <a:ext uri="{FF2B5EF4-FFF2-40B4-BE49-F238E27FC236}">
                <a16:creationId xmlns:a16="http://schemas.microsoft.com/office/drawing/2014/main" id="{3BCEEFD3-BCA3-483F-450F-C78E4567B3DF}"/>
              </a:ext>
            </a:extLst>
          </p:cNvPr>
          <p:cNvCxnSpPr>
            <a:cxnSpLocks/>
          </p:cNvCxnSpPr>
          <p:nvPr/>
        </p:nvCxnSpPr>
        <p:spPr bwMode="auto">
          <a:xfrm>
            <a:off x="4943872" y="1461267"/>
            <a:ext cx="1944216" cy="297584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0" name="正方形/長方形 9">
            <a:extLst>
              <a:ext uri="{FF2B5EF4-FFF2-40B4-BE49-F238E27FC236}">
                <a16:creationId xmlns:a16="http://schemas.microsoft.com/office/drawing/2014/main" id="{1054A17B-90F7-51B6-CAC8-36001BC7FDF8}"/>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simple_ppt_merge_guide.pptx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7478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5" name="exportrange">
            <a:extLst>
              <a:ext uri="{FF2B5EF4-FFF2-40B4-BE49-F238E27FC236}">
                <a16:creationId xmlns:a16="http://schemas.microsoft.com/office/drawing/2014/main" id="{590F288A-3BF8-8335-7C30-BD962936A5AD}"/>
              </a:ext>
            </a:extLst>
          </p:cNvPr>
          <p:cNvSpPr/>
          <p:nvPr/>
        </p:nvSpPr>
        <p:spPr bwMode="auto">
          <a:xfrm>
            <a:off x="623392" y="1749813"/>
            <a:ext cx="10643470" cy="49195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7E72456-A560-97A2-35B8-97B38DB20E81}"/>
              </a:ext>
            </a:extLst>
          </p:cNvPr>
          <p:cNvSpPr/>
          <p:nvPr/>
        </p:nvSpPr>
        <p:spPr bwMode="auto">
          <a:xfrm>
            <a:off x="925138" y="2738172"/>
            <a:ext cx="10067406" cy="306230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altLang="ja-JP" sz="1400"/>
              <a:t># PowerPoint</a:t>
            </a:r>
            <a:r>
              <a:rPr lang="ja-JP" altLang="en-US" sz="1400"/>
              <a:t>ファイル結合指示サンプル</a:t>
            </a:r>
          </a:p>
          <a:p>
            <a:br>
              <a:rPr lang="ja-JP" altLang="en-US" sz="1400"/>
            </a:br>
            <a:r>
              <a:rPr lang="en-US" altLang="ja-JP" sz="1400"/>
              <a:t># </a:t>
            </a:r>
            <a:r>
              <a:rPr lang="ja-JP" altLang="en-US" sz="1400"/>
              <a:t>概要：単純に２つのファイルをナンバリングもせずに結合する、最もシンプルな例</a:t>
            </a:r>
          </a:p>
          <a:p>
            <a:endParaRPr lang="ja-JP" altLang="en-US" sz="1400"/>
          </a:p>
          <a:p>
            <a:r>
              <a:rPr lang="en-US" altLang="ja-JP" sz="1400"/>
              <a:t># </a:t>
            </a:r>
            <a:r>
              <a:rPr lang="ja-JP" altLang="en-US" sz="1400"/>
              <a:t>出力ファイル名</a:t>
            </a:r>
          </a:p>
          <a:p>
            <a:r>
              <a:rPr lang="en-US" altLang="ja-JP" sz="1400"/>
              <a:t>output: </a:t>
            </a:r>
          </a:p>
          <a:p>
            <a:r>
              <a:rPr lang="en-US" altLang="ja-JP" sz="1400"/>
              <a:t>  pptxfilename: simple_ppt_merge_merged.pptx        # </a:t>
            </a:r>
            <a:r>
              <a:rPr lang="ja-JP" altLang="en-US" sz="1400"/>
              <a:t>結合後の</a:t>
            </a:r>
            <a:r>
              <a:rPr lang="en-US" altLang="ja-JP" sz="1400"/>
              <a:t>pptx</a:t>
            </a:r>
            <a:r>
              <a:rPr lang="ja-JP" altLang="en-US" sz="1400"/>
              <a:t>ファイルのファイル名</a:t>
            </a:r>
          </a:p>
          <a:p>
            <a:endParaRPr lang="ja-JP" altLang="en-US" sz="1400">
              <a:latin typeface="ＭＳ ゴシック" panose="020B0609070205080204" pitchFamily="49" charset="-128"/>
              <a:ea typeface="ＭＳ ゴシック" panose="020B0609070205080204" pitchFamily="49" charset="-128"/>
            </a:endParaRPr>
          </a:p>
          <a:p>
            <a:r>
              <a:rPr lang="en-US" altLang="ja-JP" sz="1400"/>
              <a:t># </a:t>
            </a:r>
            <a:r>
              <a:rPr lang="ja-JP" altLang="en-US" sz="1400"/>
              <a:t>結合手順： </a:t>
            </a:r>
            <a:r>
              <a:rPr lang="en-US" altLang="ja-JP" sz="1400"/>
              <a:t>"operation: insertpptx" </a:t>
            </a:r>
            <a:r>
              <a:rPr lang="ja-JP" altLang="en-US" sz="1400"/>
              <a:t>で、結合したいファイルを結合順に記載する</a:t>
            </a:r>
          </a:p>
          <a:p>
            <a:r>
              <a:rPr lang="en-US" altLang="ja-JP" sz="1400"/>
              <a:t>procedure:</a:t>
            </a:r>
          </a:p>
          <a:p>
            <a:r>
              <a:rPr lang="en-US" altLang="ja-JP" sz="1400"/>
              <a:t>  - </a:t>
            </a:r>
            <a:r>
              <a:rPr lang="en-US" altLang="ja-JP" sz="1400">
                <a:solidFill>
                  <a:srgbClr val="FF0000"/>
                </a:solidFill>
              </a:rPr>
              <a:t>operation: insertpptx</a:t>
            </a:r>
          </a:p>
          <a:p>
            <a:r>
              <a:rPr lang="en-US" altLang="ja-JP" sz="1400"/>
              <a:t>    pptxfilename: </a:t>
            </a:r>
            <a:r>
              <a:rPr lang="fr-FR" altLang="ja-JP" sz="1400"/>
              <a:t>simple_ppt_merge_guide.pptx</a:t>
            </a:r>
            <a:endParaRPr lang="en-US" altLang="ja-JP" sz="1400"/>
          </a:p>
          <a:p>
            <a:r>
              <a:rPr lang="en-US" altLang="ja-JP" sz="1400"/>
              <a:t>  - operation: insertpptx</a:t>
            </a:r>
          </a:p>
          <a:p>
            <a:r>
              <a:rPr lang="en-US" altLang="ja-JP" sz="1400"/>
              <a:t>    pptxfilename: second.pptx</a:t>
            </a: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結合指示書サンプル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cxnSp>
        <p:nvCxnSpPr>
          <p:cNvPr id="8" name="直線矢印コネクタ 7">
            <a:extLst>
              <a:ext uri="{FF2B5EF4-FFF2-40B4-BE49-F238E27FC236}">
                <a16:creationId xmlns:a16="http://schemas.microsoft.com/office/drawing/2014/main" id="{105B7A23-F61B-F203-AE22-573E3D2A2931}"/>
              </a:ext>
            </a:extLst>
          </p:cNvPr>
          <p:cNvCxnSpPr>
            <a:cxnSpLocks/>
          </p:cNvCxnSpPr>
          <p:nvPr/>
        </p:nvCxnSpPr>
        <p:spPr bwMode="auto">
          <a:xfrm>
            <a:off x="2711624" y="2140417"/>
            <a:ext cx="216024" cy="185985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9" name="テキスト ボックス 8">
            <a:extLst>
              <a:ext uri="{FF2B5EF4-FFF2-40B4-BE49-F238E27FC236}">
                <a16:creationId xmlns:a16="http://schemas.microsoft.com/office/drawing/2014/main" id="{AF73FE0A-5B04-8E20-93FD-9C4B3CF04F1D}"/>
              </a:ext>
            </a:extLst>
          </p:cNvPr>
          <p:cNvSpPr txBox="1"/>
          <p:nvPr/>
        </p:nvSpPr>
        <p:spPr bwMode="auto">
          <a:xfrm>
            <a:off x="1991544" y="1749813"/>
            <a:ext cx="82809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pptmerge</a:t>
            </a:r>
            <a:r>
              <a:rPr kumimoji="1" lang="ja-JP" altLang="en-US" sz="1400" kern="0">
                <a:latin typeface="BIZ UDPゴシック" panose="020B0400000000000000" pitchFamily="50" charset="-128"/>
                <a:ea typeface="BIZ UDPゴシック" panose="020B0400000000000000" pitchFamily="50" charset="-128"/>
              </a:rPr>
              <a:t>で生成される </a:t>
            </a:r>
            <a:r>
              <a:rPr kumimoji="1" lang="en-US" altLang="ja-JP" sz="1400" kern="0">
                <a:latin typeface="BIZ UDPゴシック" panose="020B0400000000000000" pitchFamily="50" charset="-128"/>
                <a:ea typeface="BIZ UDPゴシック" panose="020B0400000000000000" pitchFamily="50" charset="-128"/>
              </a:rPr>
              <a:t>.pptx </a:t>
            </a:r>
            <a:r>
              <a:rPr kumimoji="1" lang="ja-JP" altLang="en-US" sz="1400" kern="0">
                <a:latin typeface="BIZ UDPゴシック" panose="020B0400000000000000" pitchFamily="50" charset="-128"/>
                <a:ea typeface="BIZ UDPゴシック" panose="020B0400000000000000" pitchFamily="50" charset="-128"/>
              </a:rPr>
              <a:t>ファイル（最終成果物）の名前を指定する</a:t>
            </a:r>
          </a:p>
        </p:txBody>
      </p:sp>
      <p:cxnSp>
        <p:nvCxnSpPr>
          <p:cNvPr id="11" name="直線矢印コネクタ 10">
            <a:extLst>
              <a:ext uri="{FF2B5EF4-FFF2-40B4-BE49-F238E27FC236}">
                <a16:creationId xmlns:a16="http://schemas.microsoft.com/office/drawing/2014/main" id="{D1C4582E-DE19-33B0-E5CB-C80A73D66AF2}"/>
              </a:ext>
            </a:extLst>
          </p:cNvPr>
          <p:cNvCxnSpPr>
            <a:cxnSpLocks/>
          </p:cNvCxnSpPr>
          <p:nvPr/>
        </p:nvCxnSpPr>
        <p:spPr bwMode="auto">
          <a:xfrm flipH="1">
            <a:off x="3863752" y="2448194"/>
            <a:ext cx="618752" cy="155207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F21F8D47-3F8E-C9C5-EAB9-38673A30248E}"/>
              </a:ext>
            </a:extLst>
          </p:cNvPr>
          <p:cNvSpPr txBox="1"/>
          <p:nvPr/>
        </p:nvSpPr>
        <p:spPr bwMode="auto">
          <a:xfrm>
            <a:off x="3863752" y="2140417"/>
            <a:ext cx="64087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この名前のファイルができていたら成功</a:t>
            </a:r>
          </a:p>
        </p:txBody>
      </p:sp>
      <p:cxnSp>
        <p:nvCxnSpPr>
          <p:cNvPr id="14" name="直線矢印コネクタ 13">
            <a:extLst>
              <a:ext uri="{FF2B5EF4-FFF2-40B4-BE49-F238E27FC236}">
                <a16:creationId xmlns:a16="http://schemas.microsoft.com/office/drawing/2014/main" id="{62EF488E-B825-0DAB-B8A0-2C7799B6EFD8}"/>
              </a:ext>
            </a:extLst>
          </p:cNvPr>
          <p:cNvCxnSpPr>
            <a:cxnSpLocks/>
          </p:cNvCxnSpPr>
          <p:nvPr/>
        </p:nvCxnSpPr>
        <p:spPr bwMode="auto">
          <a:xfrm flipH="1">
            <a:off x="3143672" y="4991539"/>
            <a:ext cx="1485201" cy="0"/>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E41B5F56-B338-8CEB-1969-111608E23C76}"/>
              </a:ext>
            </a:extLst>
          </p:cNvPr>
          <p:cNvSpPr txBox="1"/>
          <p:nvPr/>
        </p:nvSpPr>
        <p:spPr bwMode="auto">
          <a:xfrm>
            <a:off x="4662697" y="4813558"/>
            <a:ext cx="3240360" cy="307777"/>
          </a:xfrm>
          <a:prstGeom prst="rect">
            <a:avLst/>
          </a:prstGeom>
          <a:solidFill>
            <a:schemeClr val="bg1"/>
          </a:solidFill>
          <a:ln>
            <a:noFill/>
          </a:ln>
        </p:spPr>
        <p:txBody>
          <a:bodyPr vert="horz" wrap="square" lIns="91440" tIns="45720" rIns="91440" bIns="45720" numCol="1" rtlCol="0" anchor="t" anchorCtr="0" compatLnSpc="1">
            <a:prstTxWarp prst="textNoShape">
              <a:avLst/>
            </a:prstTxWarp>
            <a:spAutoFit/>
          </a:bodyPr>
          <a:lstStyle/>
          <a:p>
            <a:pPr algn="l"/>
            <a:r>
              <a:rPr kumimoji="1" lang="en-US" altLang="ja-JP" sz="1400" kern="0">
                <a:solidFill>
                  <a:srgbClr val="FF0000"/>
                </a:solidFill>
                <a:latin typeface="BIZ UDPゴシック" panose="020B0400000000000000" pitchFamily="50" charset="-128"/>
                <a:ea typeface="BIZ UDPゴシック" panose="020B0400000000000000" pitchFamily="50" charset="-128"/>
              </a:rPr>
              <a:t>.pptx</a:t>
            </a:r>
            <a:r>
              <a:rPr kumimoji="1" lang="ja-JP" altLang="en-US" sz="1400" kern="0">
                <a:solidFill>
                  <a:srgbClr val="FF0000"/>
                </a:solidFill>
                <a:latin typeface="BIZ UDPゴシック" panose="020B0400000000000000" pitchFamily="50" charset="-128"/>
                <a:ea typeface="BIZ UDPゴシック" panose="020B0400000000000000" pitchFamily="50" charset="-128"/>
              </a:rPr>
              <a:t>ファイルを結合しろ、という指示</a:t>
            </a:r>
          </a:p>
        </p:txBody>
      </p:sp>
      <p:cxnSp>
        <p:nvCxnSpPr>
          <p:cNvPr id="17" name="直線矢印コネクタ 16">
            <a:extLst>
              <a:ext uri="{FF2B5EF4-FFF2-40B4-BE49-F238E27FC236}">
                <a16:creationId xmlns:a16="http://schemas.microsoft.com/office/drawing/2014/main" id="{56B4FF4E-4B29-F29C-2210-5BA06C747FBF}"/>
              </a:ext>
            </a:extLst>
          </p:cNvPr>
          <p:cNvCxnSpPr>
            <a:cxnSpLocks/>
            <a:stCxn id="18" idx="1"/>
          </p:cNvCxnSpPr>
          <p:nvPr/>
        </p:nvCxnSpPr>
        <p:spPr bwMode="auto">
          <a:xfrm flipH="1" flipV="1">
            <a:off x="5086795" y="5267300"/>
            <a:ext cx="1486705" cy="254213"/>
          </a:xfrm>
          <a:prstGeom prst="straightConnector1">
            <a:avLst/>
          </a:prstGeom>
          <a:solidFill>
            <a:srgbClr val="CCFFFF"/>
          </a:solidFill>
          <a:ln w="28575" cap="flat" cmpd="sng" algn="ctr">
            <a:solidFill>
              <a:srgbClr val="00B0F0"/>
            </a:solidFill>
            <a:prstDash val="solid"/>
            <a:round/>
            <a:headEnd type="none" w="med" len="med"/>
            <a:tailEnd type="triangle"/>
          </a:ln>
          <a:effectLst/>
        </p:spPr>
      </p:cxnSp>
      <p:sp>
        <p:nvSpPr>
          <p:cNvPr id="18" name="テキスト ボックス 17">
            <a:extLst>
              <a:ext uri="{FF2B5EF4-FFF2-40B4-BE49-F238E27FC236}">
                <a16:creationId xmlns:a16="http://schemas.microsoft.com/office/drawing/2014/main" id="{7C9D534F-6CDF-8448-1B5C-32C8013D4AE3}"/>
              </a:ext>
            </a:extLst>
          </p:cNvPr>
          <p:cNvSpPr txBox="1"/>
          <p:nvPr/>
        </p:nvSpPr>
        <p:spPr bwMode="auto">
          <a:xfrm>
            <a:off x="6573500" y="5367624"/>
            <a:ext cx="3240360" cy="307777"/>
          </a:xfrm>
          <a:prstGeom prst="rect">
            <a:avLst/>
          </a:prstGeom>
          <a:solidFill>
            <a:schemeClr val="bg1"/>
          </a:solidFill>
          <a:ln>
            <a:noFill/>
          </a:ln>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結合するファイル名</a:t>
            </a:r>
          </a:p>
        </p:txBody>
      </p:sp>
      <p:sp>
        <p:nvSpPr>
          <p:cNvPr id="20" name="テキスト ボックス 19">
            <a:extLst>
              <a:ext uri="{FF2B5EF4-FFF2-40B4-BE49-F238E27FC236}">
                <a16:creationId xmlns:a16="http://schemas.microsoft.com/office/drawing/2014/main" id="{3B76220E-D2ED-927C-6FC4-1E10A57DB5F2}"/>
              </a:ext>
            </a:extLst>
          </p:cNvPr>
          <p:cNvSpPr txBox="1"/>
          <p:nvPr/>
        </p:nvSpPr>
        <p:spPr bwMode="auto">
          <a:xfrm>
            <a:off x="2927648" y="6146140"/>
            <a:ext cx="66967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デザインスタイル等は最初のファイル </a:t>
            </a:r>
            <a:r>
              <a:rPr kumimoji="1" lang="en-US" altLang="ja-JP" sz="1400" kern="0">
                <a:latin typeface="BIZ UDPゴシック" panose="020B0400000000000000" pitchFamily="50" charset="-128"/>
                <a:ea typeface="BIZ UDPゴシック" panose="020B0400000000000000" pitchFamily="50" charset="-128"/>
              </a:rPr>
              <a:t>first.pptx </a:t>
            </a:r>
            <a:r>
              <a:rPr kumimoji="1" lang="ja-JP" altLang="en-US" sz="1400" kern="0">
                <a:latin typeface="BIZ UDPゴシック" panose="020B0400000000000000" pitchFamily="50" charset="-128"/>
                <a:ea typeface="BIZ UDPゴシック" panose="020B0400000000000000" pitchFamily="50" charset="-128"/>
              </a:rPr>
              <a:t>が基準になるので、</a:t>
            </a:r>
            <a:endParaRPr kumimoji="1" lang="en-US" altLang="ja-JP" sz="1400" kern="0">
              <a:latin typeface="BIZ UDPゴシック" panose="020B0400000000000000" pitchFamily="50" charset="-128"/>
              <a:ea typeface="BIZ UDPゴシック" panose="020B0400000000000000" pitchFamily="50" charset="-128"/>
            </a:endParaRPr>
          </a:p>
          <a:p>
            <a:pPr algn="l"/>
            <a:r>
              <a:rPr kumimoji="1" lang="ja-JP" altLang="en-US" sz="1400" kern="0">
                <a:latin typeface="BIZ UDPゴシック" panose="020B0400000000000000" pitchFamily="50" charset="-128"/>
                <a:ea typeface="BIZ UDPゴシック" panose="020B0400000000000000" pitchFamily="50" charset="-128"/>
              </a:rPr>
              <a:t>残りのファイルのスタイルが違っているとレイアウト崩れ等が起きることがある</a:t>
            </a:r>
          </a:p>
        </p:txBody>
      </p:sp>
      <p:cxnSp>
        <p:nvCxnSpPr>
          <p:cNvPr id="21" name="直線矢印コネクタ 20">
            <a:extLst>
              <a:ext uri="{FF2B5EF4-FFF2-40B4-BE49-F238E27FC236}">
                <a16:creationId xmlns:a16="http://schemas.microsoft.com/office/drawing/2014/main" id="{F3330A62-0E5F-C773-3515-1EE364D77B87}"/>
              </a:ext>
            </a:extLst>
          </p:cNvPr>
          <p:cNvCxnSpPr>
            <a:cxnSpLocks/>
          </p:cNvCxnSpPr>
          <p:nvPr/>
        </p:nvCxnSpPr>
        <p:spPr bwMode="auto">
          <a:xfrm flipH="1" flipV="1">
            <a:off x="3010774" y="5737524"/>
            <a:ext cx="288032" cy="45138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4" name="テキスト ボックス 3">
            <a:extLst>
              <a:ext uri="{FF2B5EF4-FFF2-40B4-BE49-F238E27FC236}">
                <a16:creationId xmlns:a16="http://schemas.microsoft.com/office/drawing/2014/main" id="{3AE5E9DF-A8F6-D697-D01F-CCD64AEB801C}"/>
              </a:ext>
            </a:extLst>
          </p:cNvPr>
          <p:cNvSpPr txBox="1"/>
          <p:nvPr/>
        </p:nvSpPr>
        <p:spPr bwMode="auto">
          <a:xfrm>
            <a:off x="925138" y="1105580"/>
            <a:ext cx="107154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400" kern="0">
                <a:latin typeface="BIZ UDPゴシック" panose="020B0400000000000000" pitchFamily="50" charset="-128"/>
                <a:ea typeface="BIZ UDPゴシック" panose="020B0400000000000000" pitchFamily="50" charset="-128"/>
              </a:rPr>
              <a:t>結合の指示をする </a:t>
            </a:r>
            <a:r>
              <a:rPr kumimoji="1" lang="en-US" altLang="ja-JP" sz="1400" kern="0">
                <a:latin typeface="BIZ UDPゴシック" panose="020B0400000000000000" pitchFamily="50" charset="-128"/>
                <a:ea typeface="BIZ UDPゴシック" panose="020B0400000000000000" pitchFamily="50" charset="-128"/>
              </a:rPr>
              <a:t>recipe yaml </a:t>
            </a:r>
            <a:r>
              <a:rPr kumimoji="1" lang="ja-JP" altLang="en-US" sz="1400" kern="0">
                <a:latin typeface="BIZ UDPゴシック" panose="020B0400000000000000" pitchFamily="50" charset="-128"/>
                <a:ea typeface="BIZ UDPゴシック" panose="020B0400000000000000" pitchFamily="50" charset="-128"/>
              </a:rPr>
              <a:t>ファイル</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　</a:t>
            </a:r>
            <a:r>
              <a:rPr lang="fr-FR" altLang="ja-JP" sz="1400" kern="0">
                <a:latin typeface="BIZ UDPゴシック" panose="020B0400000000000000" pitchFamily="50" charset="-128"/>
                <a:ea typeface="BIZ UDPゴシック" panose="020B0400000000000000" pitchFamily="50" charset="-128"/>
              </a:rPr>
              <a:t>simple_ppt_merge_recipe.yaml </a:t>
            </a:r>
            <a:r>
              <a:rPr lang="ja-JP" altLang="en-US" sz="1400" kern="0">
                <a:latin typeface="BIZ UDPゴシック" panose="020B0400000000000000" pitchFamily="50" charset="-128"/>
                <a:ea typeface="BIZ UDPゴシック" panose="020B0400000000000000" pitchFamily="50" charset="-128"/>
              </a:rPr>
              <a:t>の記入例です。</a:t>
            </a:r>
            <a:endParaRPr lang="en-US" altLang="ja-JP" sz="1400" kern="0">
              <a:latin typeface="BIZ UDPゴシック" panose="020B0400000000000000" pitchFamily="50" charset="-128"/>
              <a:ea typeface="BIZ UDPゴシック" panose="020B0400000000000000" pitchFamily="50" charset="-128"/>
            </a:endParaRPr>
          </a:p>
          <a:p>
            <a:r>
              <a:rPr kumimoji="1" lang="ja-JP" altLang="en-US" sz="1400" kern="0">
                <a:latin typeface="BIZ UDPゴシック" panose="020B0400000000000000" pitchFamily="50" charset="-128"/>
                <a:ea typeface="BIZ UDPゴシック" panose="020B0400000000000000" pitchFamily="50" charset="-128"/>
              </a:rPr>
              <a:t>ファイル名・パス名はこの </a:t>
            </a:r>
            <a:r>
              <a:rPr lang="fr-FR" altLang="ja-JP" sz="1400" kern="0">
                <a:latin typeface="BIZ UDPゴシック" panose="020B0400000000000000" pitchFamily="50" charset="-128"/>
                <a:ea typeface="BIZ UDPゴシック" panose="020B0400000000000000" pitchFamily="50" charset="-128"/>
              </a:rPr>
              <a:t>simple_ppt_merge_recipe.yaml </a:t>
            </a:r>
            <a:r>
              <a:rPr lang="ja-JP" altLang="en-US" sz="1400" kern="0">
                <a:latin typeface="BIZ UDPゴシック" panose="020B0400000000000000" pitchFamily="50" charset="-128"/>
                <a:ea typeface="BIZ UDPゴシック" panose="020B0400000000000000" pitchFamily="50" charset="-128"/>
              </a:rPr>
              <a:t>を基準とする相対パスが基本ですが、絶対パスでも記入できます。</a:t>
            </a:r>
            <a:endParaRPr kumimoji="1" lang="ja-JP" altLang="en-US" sz="1400" kern="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35523B0C-6D86-2D20-F873-E40EE8C2D892}"/>
              </a:ext>
            </a:extLst>
          </p:cNvPr>
          <p:cNvCxnSpPr>
            <a:cxnSpLocks/>
          </p:cNvCxnSpPr>
          <p:nvPr/>
        </p:nvCxnSpPr>
        <p:spPr bwMode="auto">
          <a:xfrm flipH="1">
            <a:off x="3071664" y="5103536"/>
            <a:ext cx="1557209" cy="307777"/>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AC51575D-7E7E-D2EE-F8BA-062249D1B666}"/>
              </a:ext>
            </a:extLst>
          </p:cNvPr>
          <p:cNvCxnSpPr>
            <a:cxnSpLocks/>
            <a:stCxn id="18" idx="1"/>
          </p:cNvCxnSpPr>
          <p:nvPr/>
        </p:nvCxnSpPr>
        <p:spPr bwMode="auto">
          <a:xfrm flipH="1">
            <a:off x="3503712" y="5521513"/>
            <a:ext cx="3069788" cy="148952"/>
          </a:xfrm>
          <a:prstGeom prst="straightConnector1">
            <a:avLst/>
          </a:prstGeom>
          <a:solidFill>
            <a:srgbClr val="CCFFFF"/>
          </a:solidFill>
          <a:ln w="28575" cap="flat" cmpd="sng" algn="ctr">
            <a:solidFill>
              <a:srgbClr val="00B0F0"/>
            </a:solidFill>
            <a:prstDash val="solid"/>
            <a:round/>
            <a:headEnd type="none" w="med" len="med"/>
            <a:tailEnd type="triangle"/>
          </a:ln>
          <a:effectLst/>
        </p:spPr>
      </p:cxnSp>
      <p:sp>
        <p:nvSpPr>
          <p:cNvPr id="5" name="正方形/長方形 4">
            <a:extLst>
              <a:ext uri="{FF2B5EF4-FFF2-40B4-BE49-F238E27FC236}">
                <a16:creationId xmlns:a16="http://schemas.microsoft.com/office/drawing/2014/main" id="{B23E3694-FF27-B9FC-6099-77DD5997AAEB}"/>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simple_ppt_merge_guide.pptx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75697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2</a:t>
            </a:r>
            <a:r>
              <a:rPr lang="ja-JP" altLang="en-US"/>
              <a:t>つめの結合ファイル　</a:t>
            </a:r>
            <a:r>
              <a:rPr lang="en-US" altLang="ja-JP"/>
              <a:t>slide1</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5F8B27D5-7686-0EE0-1532-5C297DED2E6D}"/>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second.pptx </a:t>
            </a:r>
            <a:r>
              <a:rPr lang="ja-JP" altLang="en-US" sz="2400" kern="0">
                <a:latin typeface="BIZ UDPゴシック" panose="020B0400000000000000" pitchFamily="50" charset="-128"/>
                <a:ea typeface="BIZ UDPゴシック" panose="020B0400000000000000" pitchFamily="50" charset="-128"/>
              </a:rPr>
              <a:t>スライド</a:t>
            </a:r>
            <a:r>
              <a:rPr lang="en-US" altLang="ja-JP" sz="2400" kern="0">
                <a:latin typeface="BIZ UDPゴシック" panose="020B0400000000000000" pitchFamily="50" charset="-128"/>
                <a:ea typeface="BIZ UDPゴシック" panose="020B0400000000000000" pitchFamily="50" charset="-128"/>
              </a:rPr>
              <a:t>1 </a:t>
            </a:r>
            <a:r>
              <a:rPr kumimoji="1" lang="ja-JP" altLang="en-US" sz="2400" kern="0">
                <a:latin typeface="BIZ UDPゴシック" panose="020B0400000000000000" pitchFamily="50" charset="-128"/>
                <a:ea typeface="BIZ UDPゴシック" panose="020B0400000000000000" pitchFamily="50" charset="-128"/>
              </a:rPr>
              <a:t>　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697BB37C-F0D5-DFC9-148F-C38003C5F394}"/>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effectLst/>
                <a:latin typeface="BIZ UDPゴシック" panose="020B0400000000000000" pitchFamily="50" charset="-128"/>
                <a:ea typeface="BIZ UDPゴシック" panose="020B0400000000000000" pitchFamily="50" charset="-128"/>
              </a:rPr>
              <a:t>second.pptx</a:t>
            </a:r>
            <a:endParaRPr kumimoji="1" lang="ja-JP" altLang="en-US" sz="2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4501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2</a:t>
            </a:r>
            <a:r>
              <a:rPr lang="ja-JP" altLang="en-US"/>
              <a:t>つめの結合ファイル　</a:t>
            </a:r>
            <a:r>
              <a:rPr lang="en-US" altLang="ja-JP"/>
              <a:t>slide2</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5F8B27D5-7686-0EE0-1532-5C297DED2E6D}"/>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second.pptx </a:t>
            </a:r>
            <a:r>
              <a:rPr lang="ja-JP" altLang="en-US" sz="2400" kern="0">
                <a:latin typeface="BIZ UDPゴシック" panose="020B0400000000000000" pitchFamily="50" charset="-128"/>
                <a:ea typeface="BIZ UDPゴシック" panose="020B0400000000000000" pitchFamily="50" charset="-128"/>
              </a:rPr>
              <a:t>スライド</a:t>
            </a:r>
            <a:r>
              <a:rPr lang="en-US" altLang="ja-JP" sz="2400" kern="0">
                <a:latin typeface="BIZ UDPゴシック" panose="020B0400000000000000" pitchFamily="50" charset="-128"/>
                <a:ea typeface="BIZ UDPゴシック" panose="020B0400000000000000" pitchFamily="50" charset="-128"/>
              </a:rPr>
              <a:t>2 </a:t>
            </a:r>
            <a:r>
              <a:rPr kumimoji="1" lang="ja-JP" altLang="en-US" sz="2400" kern="0">
                <a:latin typeface="BIZ UDPゴシック" panose="020B0400000000000000" pitchFamily="50" charset="-128"/>
                <a:ea typeface="BIZ UDPゴシック" panose="020B0400000000000000" pitchFamily="50" charset="-128"/>
              </a:rPr>
              <a:t>　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6CAA4089-1D1F-8C03-F159-76AA1BB3FD59}"/>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effectLst/>
                <a:latin typeface="BIZ UDPゴシック" panose="020B0400000000000000" pitchFamily="50" charset="-128"/>
                <a:ea typeface="BIZ UDPゴシック" panose="020B0400000000000000" pitchFamily="50" charset="-128"/>
              </a:rPr>
              <a:t>second.pptx</a:t>
            </a:r>
            <a:endParaRPr kumimoji="1" lang="ja-JP" altLang="en-US" sz="2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1012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30537</TotalTime>
  <Words>1269</Words>
  <Application>Microsoft Office PowerPoint</Application>
  <PresentationFormat>ワイド画面</PresentationFormat>
  <Paragraphs>228</Paragraphs>
  <Slides>6</Slides>
  <Notes>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BIZ UDPゴシック</vt:lpstr>
      <vt:lpstr>FOT-UD丸ゴ_ラージ Pr6 M</vt:lpstr>
      <vt:lpstr>ＭＳ ゴシック</vt:lpstr>
      <vt:lpstr>Arial</vt:lpstr>
      <vt:lpstr>Garamond</vt:lpstr>
      <vt:lpstr>Wingdings</vt:lpstr>
      <vt:lpstr>Edge</vt:lpstr>
      <vt:lpstr>pptmerge　単純マージ</vt:lpstr>
      <vt:lpstr>pm1_simple_ppt_merge 概要</vt:lpstr>
      <vt:lpstr>マージ結果</vt:lpstr>
      <vt:lpstr>結合指示書サンプル</vt:lpstr>
      <vt:lpstr>2つめの結合ファイル　slide1</vt:lpstr>
      <vt:lpstr>2つめの結合ファイル　slide2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4109</cp:revision>
  <dcterms:modified xsi:type="dcterms:W3CDTF">2026-06-08T13:01:36Z</dcterms:modified>
</cp:coreProperties>
</file>